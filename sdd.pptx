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Spec-Driven Development records intent before implementation, constrains the work through reviewed plans and bounded tasks, and accepts the result against explicit evidence. This presentation recommends maintaining specifications alongside reviewed code. The objective is repeatable behavior and a repeatable process. Identical regenerated source and automatic productivity gains are not guaranteed.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Unrecorded intent leaves business rules, scope, and acceptance open to interpretation. Session resets can lose decisions that only exist in conversation. A specification preserves those decisions and gives review a concrete basis. Exploratory prompting is useful for discovery, but accepting an implementation requires agreed criteria. Count drafting and review overhead when assessing whether the workflow reduces total effort.</a:t>
            </a:r>
          </a:p>
          <a:p/>
          <a:p>
            <a:r>
              <a:t>Sources (checked 2 October 2026):</a:t>
            </a:r>
          </a:p>
          <a:p>
            <a:r>
              <a:t>https://martinfowler.com/articles/exploring-gen-ai/sdd-3-tools.html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specification defines desired behavior, boundaries, and acceptance criteria before implementation. Plans and tasks translate that intent into bounded execution. Tests and review establish agreement between the implemented result and the criteria. When intent changes, update the affected specification, plan, tasks, and checks together. Tools differ in how they preserve specifications; keeping them alongside reviewed code is this presentation’s recommendation. Markdown does not enforce requirements by itself.</a:t>
            </a:r>
          </a:p>
          <a:p/>
          <a:p>
            <a:r>
              <a:t>Sources (checked 2 October 2026):</a:t>
            </a:r>
          </a:p>
          <a:p>
            <a:r>
              <a:t>https://github.com/github/spec-kit/blob/main/docs/concepts/sdd.md/</a:t>
            </a:r>
          </a:p>
          <a:p>
            <a:r>
              <a:t>https://martinfowler.com/articles/exploring-gen-ai/sdd-3-tools.html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phases adapt the workflow described at specdriven.ai: shared guardrails, specification, clarification, planning, tasks, and implementation with verification and iteration. The three visual lanes group those phases for readability. Inspect existing code and conventions, review consequential decisions, and check task coverage before execution. Review each artifact before using it as the next input. Keep the process proportional to the consequence of the change.</a:t>
            </a:r>
          </a:p>
          <a:p/>
          <a:p>
            <a:r>
              <a:t>Sources (checked 2 October 2026):</a:t>
            </a:r>
          </a:p>
          <a:p>
            <a:r>
              <a:t>https://specdriven.ai/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constitution.md records concise shared rules about stack, conventions, and required checks. specification.md records behavior, scope, non-goals, and acceptance. plan.md records the technical approach, contracts, data, dependencies, and risks. tasks.md records bounded outcomes, references, dependency order, and verification. ui.md adds interaction states, transitions, layout, responsive behavior, and accessibility when relevant. These responsibilities can be sections in specs.md for small changes. Existing repository instructions can supply guardrails. Separate-file optionality is this presentation’s recommendation; tool-specific filenames vary.</a:t>
            </a:r>
          </a:p>
          <a:p/>
          <a:p>
            <a:r>
              <a:t>Sources (checked 2 October 2026):</a:t>
            </a:r>
          </a:p>
          <a:p>
            <a:r>
              <a:t>https://specdriven.ai/</a:t>
            </a:r>
          </a:p>
          <a:p>
            <a:r>
              <a:t>https://kiro.dev/docs/specs/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requirements in terms of observable behavior. Name the actor or system, the relevant preconditions, the trigger, and the expected result. Given/When/Then separates state, action, and outcome; it is a useful structure rather than a mandatory notation. Include scope and non-goals, consequential constraints, and explicit criteria for acceptance. Quantitative targets need a number, workload, and measurement method. Separate intended behavior from technical planning. Review assumptions and unresolved product decisions before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Clarification resolves decisions that change observable behavior. Define what is included and excluded, record business rules and constraints, and specify invalid states, failure outcomes, and recovery. Identify unresolved questions and distinguish confirmed decisions from assumptions. Record rejected behavior and side effects precisely where relevant. Resolve blocking decisions before dependent implementation. An agent may surface gaps; it should not silently invent product policy.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a well-implemented template project whose architecture, components, build, and checks have been reviewed and verified. Reuse its components directly where they fit, so less foundational behavior must be generated again. Give the agent access to the relevant source files and document which structure, interface contracts, conventions, and design rules it should follow. AI can reproduce established implementation patterns when that context and those constraints are explicit. This narrows the design choices and makes extensions more consistent and easier to review. Pin the template revision, dependency versions, and setup/check commands to support reproducible behavior and builds. Reuse the existing checks and add acceptance checks for changed behavior; inspect the resulting diff. Trust rests on verified reuse and evidence for the extension. Pattern reproduction supports consistency, but does not guarantee identical generated source or correctness of every new change. This rationale is a practical synthesis of context and verification guidance, rather than a measured guarantee.</a:t>
            </a:r>
          </a:p>
          <a:p/>
          <a:p>
            <a:r>
              <a:t>Sources (checked 2 October 2026):</a:t>
            </a:r>
          </a:p>
          <a:p>
            <a:r>
              <a:t>https://code.claude.com/docs/en/best-practices</a:t>
            </a:r>
          </a:p>
          <a:p>
            <a:r>
              <a:t>https://github.com/github/spec-kit/blob/main/docs/concepts/sdd.md/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uses the narrower meaning of vibe coding: accepting LLM-generated code without reading and understanding it, rather than treating every use of AI as vibe coding. Simon Willison distinguishes that practice from reviewed and tested AI-assisted programming. SDD adds an explicit behavioral contract and a structured path from requirements to implementation and verification. The SDD column describes the reviewed-code practice recommended in this deck. Vibe coding can support fast discovery; SDD introduces drafting and review costs to support deliberate acceptance. This is a comparison of practices, not measured productivity or a guarantee of correct results.</a:t>
            </a:r>
          </a:p>
          <a:p/>
          <a:p>
            <a:r>
              <a:t>Sources (checked 2 October 2026):</a:t>
            </a:r>
          </a:p>
          <a:p>
            <a:r>
              <a:t>https://simonwillison.net/2025/Mar/19/vibe-coding/</a:t>
            </a:r>
          </a:p>
          <a:p>
            <a:r>
              <a:t>https://specdriven.ai/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mechanisms are this presentation’s synthesis of the SDD workflow and the distinction between unchecked generation and reviewed AI-assisted programming. Clarification records consequential decisions so generation has fewer product rules to guess. Scope and requirement links keep changes bounded and reviewable. Reading the diff and verifying acceptance criteria prevents apparent success from being the sole basis for acceptance. Human review retains accountability for understanding the result. These controls must actually be applied: a specification document by itself does not prevent vibe coding, missed requirements, or inadequate testing.</a:t>
            </a:r>
          </a:p>
          <a:p/>
          <a:p>
            <a:r>
              <a:t>Sources (checked 2 October 2026):</a:t>
            </a:r>
          </a:p>
          <a:p>
            <a:r>
              <a:t>https://simonwillison.net/2025/Mar/19/vibe-coding/</a:t>
            </a:r>
          </a:p>
          <a:p>
            <a:r>
              <a:t>https://specdriven.ai/</a:t>
            </a:r>
          </a:p>
          <a:p>
            <a:r>
              <a:t>https://martinfowler.com/articles/exploring-gen-ai/sdd-3-tools.html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reproducible run needs controlled context: repository and specification commit, reviewed task, prompt, runtime, dependency locks, configuration, fixtures, and setup/check commands. Record agent/model settings where exposed. To assess independent generation, start fresh sessions from the same pre-implementation commit, run identical acceptance checks, and review both diffs. Repeatable behavior and process are the goals; generated source can differ. Preserve accepted source and build inputs for exact rebuilds. Keep secrets out of recorded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documentation proportional to complexity and consequence. Use a short reviewed spec, bounded tasks, and recorded evidence. Test whether work can resume in a fresh session without reconstructing prior conversation. Measure total effort including specification writing and review, implementation, and rework. Track missed criteria, defects, unrelated changes, and restart effort. Compare similar work with attention to complexity and familiarity. A local pilot informs the team’s process; it does not establish universal productivity gains.</a:t>
            </a:r>
          </a:p>
          <a:p/>
          <a:p>
            <a:r>
              <a:t>Sources (checked 2 October 2026):</a:t>
            </a:r>
          </a:p>
          <a:p>
            <a:r>
              <a:t>https://github.com/github/spec-kit/blob/main/docs/concepts/sdd.md/</a:t>
            </a:r>
          </a:p>
          <a:p>
            <a:r>
              <a:t>https://specdriven.ai/</a:t>
            </a:r>
          </a:p>
          <a:p>
            <a:r>
              <a:t>https://kiro.dev/docs/specs/</a:t>
            </a:r>
          </a:p>
          <a:p>
            <a:r>
              <a:t>https://martinfowler.com/articles/exploring-gen-ai/sdd-3-tools.html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github/spec-kit/blob/main/docs/concepts/sdd.md/" TargetMode="External"/><Relationship Id="rId3" Type="http://schemas.openxmlformats.org/officeDocument/2006/relationships/hyperlink" Target="https://specdriven.ai/" TargetMode="External"/><Relationship Id="rId4" Type="http://schemas.openxmlformats.org/officeDocument/2006/relationships/hyperlink" Target="https://kiro.dev/docs/specs/" TargetMode="External"/><Relationship Id="rId5" Type="http://schemas.openxmlformats.org/officeDocument/2006/relationships/hyperlink" Target="https://martinfowler.com/articles/exploring-gen-ai/sdd-3-tools.html" TargetMode="External"/><Relationship Id="rId6"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F35"/>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FFFFFF"/>
                </a:solidFill>
                <a:latin typeface="Arial"/>
              </a:rPr>
              <a:t>SDD</a:t>
            </a:r>
          </a:p>
        </p:txBody>
      </p:sp>
      <p:cxnSp>
        <p:nvCxnSpPr>
          <p:cNvPr id="3" name="Connector 2"/>
          <p:cNvCxnSpPr/>
          <p:nvPr/>
        </p:nvCxnSpPr>
        <p:spPr>
          <a:xfrm>
            <a:off x="1417320" y="393192"/>
            <a:ext cx="0" cy="173736"/>
          </a:xfrm>
          <a:prstGeom prst="line">
            <a:avLst/>
          </a:prstGeom>
          <a:ln w="15240">
            <a:solidFill>
              <a:srgbClr val="9FB9FF"/>
            </a:solidFill>
          </a:ln>
          <a:effectLst/>
        </p:spPr>
        <p:style>
          <a:lnRef idx="2">
            <a:schemeClr val="accent1"/>
          </a:lnRef>
          <a:fillRef idx="0">
            <a:schemeClr val="accent1"/>
          </a:fillRef>
          <a:effectRef idx="0">
            <a:schemeClr val="accent1"/>
          </a:effectRef>
          <a:fontRef idx="minor">
            <a:schemeClr val="tx1"/>
          </a:fontRef>
        </p:style>
      </p:cxnSp>
      <p:sp>
        <p:nvSpPr>
          <p:cNvPr id="4" name="Text: A PRACTICAL WORKFLOW FOR AI-ASSISTED DEVELOPMENT"/>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B8C6DC"/>
                </a:solidFill>
                <a:latin typeface="Arial"/>
              </a:rPr>
              <a:t>A PRACTICAL WORKFLOW FOR AI-ASSISTED DEVELOPMENT</a:t>
            </a:r>
          </a:p>
        </p:txBody>
      </p:sp>
      <p:sp>
        <p:nvSpPr>
          <p:cNvPr id="5" name="Text: 01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B8C6DC"/>
                </a:solidFill>
                <a:latin typeface="Arial"/>
              </a:rPr>
              <a:t>01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B8C6DC"/>
                </a:solidFill>
                <a:latin typeface="Arial"/>
              </a:rPr>
              <a:t>CONVOCARE  /  ENGINEERING</a:t>
            </a:r>
          </a:p>
        </p:txBody>
      </p:sp>
      <p:sp>
        <p:nvSpPr>
          <p:cNvPr id="7" name="Text: Spec-Driven / Development"/>
          <p:cNvSpPr txBox="1"/>
          <p:nvPr/>
        </p:nvSpPr>
        <p:spPr>
          <a:xfrm>
            <a:off x="685800" y="1508760"/>
            <a:ext cx="7406640" cy="1828800"/>
          </a:xfrm>
          <a:prstGeom prst="rect">
            <a:avLst/>
          </a:prstGeom>
          <a:noFill/>
        </p:spPr>
        <p:txBody>
          <a:bodyPr wrap="square" lIns="0" rIns="0" tIns="0" bIns="0">
            <a:spAutoFit/>
          </a:bodyPr>
          <a:lstStyle/>
          <a:p>
            <a:pPr algn="l">
              <a:lnSpc>
                <a:spcPct val="104000"/>
              </a:lnSpc>
              <a:spcBef>
                <a:spcPts val="0"/>
              </a:spcBef>
              <a:spcAft>
                <a:spcPts val="0"/>
              </a:spcAft>
            </a:pPr>
            <a:r>
              <a:rPr sz="6000" b="1">
                <a:solidFill>
                  <a:srgbClr val="FFFFFF"/>
                </a:solidFill>
                <a:latin typeface="Arial"/>
              </a:rPr>
              <a:t>Spec-Driven</a:t>
            </a:r>
          </a:p>
          <a:p>
            <a:pPr algn="l">
              <a:lnSpc>
                <a:spcPct val="104000"/>
              </a:lnSpc>
              <a:spcBef>
                <a:spcPts val="0"/>
              </a:spcBef>
              <a:spcAft>
                <a:spcPts val="0"/>
              </a:spcAft>
            </a:pPr>
            <a:r>
              <a:rPr sz="6000" b="1">
                <a:solidFill>
                  <a:srgbClr val="FFFFFF"/>
                </a:solidFill>
                <a:latin typeface="Arial"/>
              </a:rPr>
              <a:t>Development</a:t>
            </a:r>
          </a:p>
        </p:txBody>
      </p:sp>
      <p:sp>
        <p:nvSpPr>
          <p:cNvPr id="8" name="Text: Define intent. / Build with constraints. / Verify the result."/>
          <p:cNvSpPr txBox="1"/>
          <p:nvPr/>
        </p:nvSpPr>
        <p:spPr>
          <a:xfrm>
            <a:off x="722376" y="3785615"/>
            <a:ext cx="6812280" cy="1371600"/>
          </a:xfrm>
          <a:prstGeom prst="rect">
            <a:avLst/>
          </a:prstGeom>
          <a:noFill/>
        </p:spPr>
        <p:txBody>
          <a:bodyPr wrap="square" lIns="0" rIns="0" tIns="0" bIns="0">
            <a:spAutoFit/>
          </a:bodyPr>
          <a:lstStyle/>
          <a:p>
            <a:pPr algn="l">
              <a:lnSpc>
                <a:spcPct val="120000"/>
              </a:lnSpc>
              <a:spcBef>
                <a:spcPts val="0"/>
              </a:spcBef>
              <a:spcAft>
                <a:spcPts val="0"/>
              </a:spcAft>
            </a:pPr>
            <a:r>
              <a:rPr sz="2800" b="0">
                <a:solidFill>
                  <a:srgbClr val="B8C6DC"/>
                </a:solidFill>
                <a:latin typeface="Arial"/>
              </a:rPr>
              <a:t>Define intent.</a:t>
            </a:r>
          </a:p>
          <a:p>
            <a:pPr algn="l">
              <a:lnSpc>
                <a:spcPct val="120000"/>
              </a:lnSpc>
              <a:spcBef>
                <a:spcPts val="0"/>
              </a:spcBef>
              <a:spcAft>
                <a:spcPts val="0"/>
              </a:spcAft>
            </a:pPr>
            <a:r>
              <a:rPr sz="2800" b="0">
                <a:solidFill>
                  <a:srgbClr val="B8C6DC"/>
                </a:solidFill>
                <a:latin typeface="Arial"/>
              </a:rPr>
              <a:t>Build with constraints.</a:t>
            </a:r>
          </a:p>
          <a:p>
            <a:pPr algn="l">
              <a:lnSpc>
                <a:spcPct val="120000"/>
              </a:lnSpc>
              <a:spcBef>
                <a:spcPts val="0"/>
              </a:spcBef>
              <a:spcAft>
                <a:spcPts val="0"/>
              </a:spcAft>
            </a:pPr>
            <a:r>
              <a:rPr sz="2800" b="0">
                <a:solidFill>
                  <a:srgbClr val="B8C6DC"/>
                </a:solidFill>
                <a:latin typeface="Arial"/>
              </a:rPr>
              <a:t>Verify the result.</a:t>
            </a:r>
          </a:p>
        </p:txBody>
      </p:sp>
      <p:sp>
        <p:nvSpPr>
          <p:cNvPr id="9" name="Rectangle 8"/>
          <p:cNvSpPr/>
          <p:nvPr/>
        </p:nvSpPr>
        <p:spPr>
          <a:xfrm>
            <a:off x="8842248" y="1572768"/>
            <a:ext cx="2651760"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 SPEC"/>
          <p:cNvSpPr txBox="1"/>
          <p:nvPr/>
        </p:nvSpPr>
        <p:spPr>
          <a:xfrm>
            <a:off x="9784080" y="1911095"/>
            <a:ext cx="1453896" cy="301752"/>
          </a:xfrm>
          <a:prstGeom prst="rect">
            <a:avLst/>
          </a:prstGeom>
          <a:noFill/>
        </p:spPr>
        <p:txBody>
          <a:bodyPr wrap="square" lIns="0" rIns="0" tIns="0" bIns="0">
            <a:spAutoFit/>
          </a:bodyPr>
          <a:lstStyle/>
          <a:p>
            <a:pPr algn="l">
              <a:lnSpc>
                <a:spcPct val="108000"/>
              </a:lnSpc>
              <a:spcBef>
                <a:spcPts val="0"/>
              </a:spcBef>
              <a:spcAft>
                <a:spcPts val="0"/>
              </a:spcAft>
            </a:pPr>
            <a:r>
              <a:rPr sz="1800" b="1">
                <a:solidFill>
                  <a:srgbClr val="17243B"/>
                </a:solidFill>
                <a:latin typeface="Arial"/>
              </a:rPr>
              <a:t>SPEC</a:t>
            </a:r>
          </a:p>
        </p:txBody>
      </p:sp>
      <p:sp>
        <p:nvSpPr>
          <p:cNvPr id="11" name="Rectangle 10"/>
          <p:cNvSpPr/>
          <p:nvPr/>
        </p:nvSpPr>
        <p:spPr>
          <a:xfrm>
            <a:off x="9144000" y="1828800"/>
            <a:ext cx="384048" cy="502920"/>
          </a:xfrm>
          <a:prstGeom prst="rect">
            <a:avLst/>
          </a:prstGeom>
          <a:noFill/>
          <a:ln w="16510">
            <a:solidFill>
              <a:srgbClr val="305DE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9217152" y="1938528"/>
            <a:ext cx="237744" cy="0"/>
          </a:xfrm>
          <a:prstGeom prst="line">
            <a:avLst/>
          </a:prstGeom>
          <a:ln w="1397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9217152" y="2048256"/>
            <a:ext cx="237744" cy="0"/>
          </a:xfrm>
          <a:prstGeom prst="line">
            <a:avLst/>
          </a:prstGeom>
          <a:ln w="1397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9217152" y="2157984"/>
            <a:ext cx="237744" cy="0"/>
          </a:xfrm>
          <a:prstGeom prst="line">
            <a:avLst/>
          </a:prstGeom>
          <a:ln w="1397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10168128" y="2642615"/>
            <a:ext cx="0" cy="237745"/>
          </a:xfrm>
          <a:prstGeom prst="line">
            <a:avLst/>
          </a:prstGeom>
          <a:ln w="17780">
            <a:solidFill>
              <a:srgbClr val="9FB9F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8842248" y="2916936"/>
            <a:ext cx="2651760" cy="1042415"/>
          </a:xfrm>
          <a:prstGeom prst="rect">
            <a:avLst/>
          </a:prstGeom>
          <a:solidFill>
            <a:srgbClr val="1C2D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 CODE"/>
          <p:cNvSpPr txBox="1"/>
          <p:nvPr/>
        </p:nvSpPr>
        <p:spPr>
          <a:xfrm>
            <a:off x="9784080" y="3255264"/>
            <a:ext cx="1453896" cy="301752"/>
          </a:xfrm>
          <a:prstGeom prst="rect">
            <a:avLst/>
          </a:prstGeom>
          <a:noFill/>
        </p:spPr>
        <p:txBody>
          <a:bodyPr wrap="square" lIns="0" rIns="0" tIns="0" bIns="0">
            <a:spAutoFit/>
          </a:bodyPr>
          <a:lstStyle/>
          <a:p>
            <a:pPr algn="l">
              <a:lnSpc>
                <a:spcPct val="108000"/>
              </a:lnSpc>
              <a:spcBef>
                <a:spcPts val="0"/>
              </a:spcBef>
              <a:spcAft>
                <a:spcPts val="0"/>
              </a:spcAft>
            </a:pPr>
            <a:r>
              <a:rPr sz="1800" b="1">
                <a:solidFill>
                  <a:srgbClr val="FFFFFF"/>
                </a:solidFill>
                <a:latin typeface="Arial"/>
              </a:rPr>
              <a:t>CODE</a:t>
            </a:r>
          </a:p>
        </p:txBody>
      </p:sp>
      <p:sp>
        <p:nvSpPr>
          <p:cNvPr id="18" name="Text: &gt;_"/>
          <p:cNvSpPr txBox="1"/>
          <p:nvPr/>
        </p:nvSpPr>
        <p:spPr>
          <a:xfrm>
            <a:off x="9089136" y="3200400"/>
            <a:ext cx="585216" cy="457200"/>
          </a:xfrm>
          <a:prstGeom prst="rect">
            <a:avLst/>
          </a:prstGeom>
          <a:noFill/>
        </p:spPr>
        <p:txBody>
          <a:bodyPr wrap="square" lIns="0" rIns="0" tIns="0" bIns="0">
            <a:spAutoFit/>
          </a:bodyPr>
          <a:lstStyle/>
          <a:p>
            <a:pPr algn="l">
              <a:lnSpc>
                <a:spcPct val="108000"/>
              </a:lnSpc>
              <a:spcBef>
                <a:spcPts val="0"/>
              </a:spcBef>
              <a:spcAft>
                <a:spcPts val="0"/>
              </a:spcAft>
            </a:pPr>
            <a:r>
              <a:rPr sz="2600" b="0">
                <a:solidFill>
                  <a:srgbClr val="9FB9FF"/>
                </a:solidFill>
                <a:latin typeface="DejaVu Sans Mono"/>
              </a:rPr>
              <a:t>&gt;_</a:t>
            </a:r>
          </a:p>
        </p:txBody>
      </p:sp>
      <p:cxnSp>
        <p:nvCxnSpPr>
          <p:cNvPr id="19" name="Connector 18"/>
          <p:cNvCxnSpPr/>
          <p:nvPr/>
        </p:nvCxnSpPr>
        <p:spPr>
          <a:xfrm>
            <a:off x="10168128" y="3986783"/>
            <a:ext cx="0" cy="237745"/>
          </a:xfrm>
          <a:prstGeom prst="line">
            <a:avLst/>
          </a:prstGeom>
          <a:ln w="17780">
            <a:solidFill>
              <a:srgbClr val="9FB9FF"/>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8842248" y="4261104"/>
            <a:ext cx="2651760" cy="1042415"/>
          </a:xfrm>
          <a:prstGeom prst="rect">
            <a:avLst/>
          </a:prstGeom>
          <a:solidFill>
            <a:srgbClr val="305D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 PROOF"/>
          <p:cNvSpPr txBox="1"/>
          <p:nvPr/>
        </p:nvSpPr>
        <p:spPr>
          <a:xfrm>
            <a:off x="9784080" y="4599432"/>
            <a:ext cx="1453896" cy="301752"/>
          </a:xfrm>
          <a:prstGeom prst="rect">
            <a:avLst/>
          </a:prstGeom>
          <a:noFill/>
        </p:spPr>
        <p:txBody>
          <a:bodyPr wrap="square" lIns="0" rIns="0" tIns="0" bIns="0">
            <a:spAutoFit/>
          </a:bodyPr>
          <a:lstStyle/>
          <a:p>
            <a:pPr algn="l">
              <a:lnSpc>
                <a:spcPct val="108000"/>
              </a:lnSpc>
              <a:spcBef>
                <a:spcPts val="0"/>
              </a:spcBef>
              <a:spcAft>
                <a:spcPts val="0"/>
              </a:spcAft>
            </a:pPr>
            <a:r>
              <a:rPr sz="1800" b="1">
                <a:solidFill>
                  <a:srgbClr val="FFFFFF"/>
                </a:solidFill>
                <a:latin typeface="Arial"/>
              </a:rPr>
              <a:t>PROOF</a:t>
            </a:r>
          </a:p>
        </p:txBody>
      </p:sp>
      <p:cxnSp>
        <p:nvCxnSpPr>
          <p:cNvPr id="22" name="Connector 21"/>
          <p:cNvCxnSpPr/>
          <p:nvPr/>
        </p:nvCxnSpPr>
        <p:spPr>
          <a:xfrm>
            <a:off x="9144000" y="4762926"/>
            <a:ext cx="136794" cy="136794"/>
          </a:xfrm>
          <a:prstGeom prst="line">
            <a:avLst/>
          </a:prstGeom>
          <a:ln w="3175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9280794" y="4553712"/>
            <a:ext cx="265542" cy="346008"/>
          </a:xfrm>
          <a:prstGeom prst="line">
            <a:avLst/>
          </a:prstGeom>
          <a:ln w="31750">
            <a:solidFill>
              <a:srgbClr val="FFFFF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WHY IT HELPS"/>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WHY IT HELPS</a:t>
            </a:r>
          </a:p>
        </p:txBody>
      </p:sp>
      <p:sp>
        <p:nvSpPr>
          <p:cNvPr id="5" name="Text: 02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02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Loose prompts leave / important decisions open."/>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Loose prompts leave</a:t>
            </a:r>
          </a:p>
          <a:p>
            <a:pPr algn="l">
              <a:lnSpc>
                <a:spcPct val="104000"/>
              </a:lnSpc>
              <a:spcBef>
                <a:spcPts val="0"/>
              </a:spcBef>
              <a:spcAft>
                <a:spcPts val="0"/>
              </a:spcAft>
            </a:pPr>
            <a:r>
              <a:rPr sz="4100" b="1">
                <a:solidFill>
                  <a:srgbClr val="17243B"/>
                </a:solidFill>
                <a:latin typeface="Arial"/>
              </a:rPr>
              <a:t>important decisions open.</a:t>
            </a:r>
          </a:p>
        </p:txBody>
      </p:sp>
      <p:sp>
        <p:nvSpPr>
          <p:cNvPr id="8" name="Text: 01"/>
          <p:cNvSpPr txBox="1"/>
          <p:nvPr/>
        </p:nvSpPr>
        <p:spPr>
          <a:xfrm>
            <a:off x="685800" y="2770632"/>
            <a:ext cx="548640" cy="320040"/>
          </a:xfrm>
          <a:prstGeom prst="rect">
            <a:avLst/>
          </a:prstGeom>
          <a:noFill/>
        </p:spPr>
        <p:txBody>
          <a:bodyPr wrap="square" lIns="0" rIns="0" tIns="0" bIns="0">
            <a:spAutoFit/>
          </a:bodyPr>
          <a:lstStyle/>
          <a:p>
            <a:pPr algn="l">
              <a:lnSpc>
                <a:spcPct val="108000"/>
              </a:lnSpc>
              <a:spcBef>
                <a:spcPts val="0"/>
              </a:spcBef>
              <a:spcAft>
                <a:spcPts val="0"/>
              </a:spcAft>
            </a:pPr>
            <a:r>
              <a:rPr sz="1500" b="0">
                <a:solidFill>
                  <a:srgbClr val="305DE6"/>
                </a:solidFill>
                <a:latin typeface="DejaVu Sans Mono"/>
              </a:rPr>
              <a:t>01</a:t>
            </a:r>
          </a:p>
        </p:txBody>
      </p:sp>
      <p:sp>
        <p:nvSpPr>
          <p:cNvPr id="9" name="Text: Ambiguity"/>
          <p:cNvSpPr txBox="1"/>
          <p:nvPr/>
        </p:nvSpPr>
        <p:spPr>
          <a:xfrm>
            <a:off x="685800" y="3410712"/>
            <a:ext cx="3291840" cy="493776"/>
          </a:xfrm>
          <a:prstGeom prst="rect">
            <a:avLst/>
          </a:prstGeom>
          <a:noFill/>
        </p:spPr>
        <p:txBody>
          <a:bodyPr wrap="square" lIns="0" rIns="0" tIns="0" bIns="0">
            <a:spAutoFit/>
          </a:bodyPr>
          <a:lstStyle/>
          <a:p>
            <a:pPr algn="l">
              <a:lnSpc>
                <a:spcPct val="108000"/>
              </a:lnSpc>
              <a:spcBef>
                <a:spcPts val="0"/>
              </a:spcBef>
              <a:spcAft>
                <a:spcPts val="0"/>
              </a:spcAft>
            </a:pPr>
            <a:r>
              <a:rPr sz="2800" b="1">
                <a:solidFill>
                  <a:srgbClr val="17243B"/>
                </a:solidFill>
                <a:latin typeface="Arial"/>
              </a:rPr>
              <a:t>Ambiguity</a:t>
            </a:r>
          </a:p>
        </p:txBody>
      </p:sp>
      <p:sp>
        <p:nvSpPr>
          <p:cNvPr id="10" name="Text: Unwritten rules / become guesses."/>
          <p:cNvSpPr txBox="1"/>
          <p:nvPr/>
        </p:nvSpPr>
        <p:spPr>
          <a:xfrm>
            <a:off x="685800" y="4151376"/>
            <a:ext cx="3319272" cy="868680"/>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5B6980"/>
                </a:solidFill>
                <a:latin typeface="Arial"/>
              </a:rPr>
              <a:t>Unwritten rules</a:t>
            </a:r>
          </a:p>
          <a:p>
            <a:pPr algn="l">
              <a:lnSpc>
                <a:spcPct val="108000"/>
              </a:lnSpc>
              <a:spcBef>
                <a:spcPts val="0"/>
              </a:spcBef>
              <a:spcAft>
                <a:spcPts val="0"/>
              </a:spcAft>
            </a:pPr>
            <a:r>
              <a:rPr sz="2300" b="0">
                <a:solidFill>
                  <a:srgbClr val="5B6980"/>
                </a:solidFill>
                <a:latin typeface="Arial"/>
              </a:rPr>
              <a:t>become guesses.</a:t>
            </a:r>
          </a:p>
        </p:txBody>
      </p:sp>
      <p:cxnSp>
        <p:nvCxnSpPr>
          <p:cNvPr id="11" name="Connector 10"/>
          <p:cNvCxnSpPr/>
          <p:nvPr/>
        </p:nvCxnSpPr>
        <p:spPr>
          <a:xfrm>
            <a:off x="4142231" y="2770632"/>
            <a:ext cx="0" cy="230428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2" name="Text: 02"/>
          <p:cNvSpPr txBox="1"/>
          <p:nvPr/>
        </p:nvSpPr>
        <p:spPr>
          <a:xfrm>
            <a:off x="4453128" y="2770632"/>
            <a:ext cx="548640" cy="320040"/>
          </a:xfrm>
          <a:prstGeom prst="rect">
            <a:avLst/>
          </a:prstGeom>
          <a:noFill/>
        </p:spPr>
        <p:txBody>
          <a:bodyPr wrap="square" lIns="0" rIns="0" tIns="0" bIns="0">
            <a:spAutoFit/>
          </a:bodyPr>
          <a:lstStyle/>
          <a:p>
            <a:pPr algn="l">
              <a:lnSpc>
                <a:spcPct val="108000"/>
              </a:lnSpc>
              <a:spcBef>
                <a:spcPts val="0"/>
              </a:spcBef>
              <a:spcAft>
                <a:spcPts val="0"/>
              </a:spcAft>
            </a:pPr>
            <a:r>
              <a:rPr sz="1500" b="0">
                <a:solidFill>
                  <a:srgbClr val="305DE6"/>
                </a:solidFill>
                <a:latin typeface="DejaVu Sans Mono"/>
              </a:rPr>
              <a:t>02</a:t>
            </a:r>
          </a:p>
        </p:txBody>
      </p:sp>
      <p:sp>
        <p:nvSpPr>
          <p:cNvPr id="13" name="Text: Context loss"/>
          <p:cNvSpPr txBox="1"/>
          <p:nvPr/>
        </p:nvSpPr>
        <p:spPr>
          <a:xfrm>
            <a:off x="4453128" y="3410712"/>
            <a:ext cx="3291840" cy="493776"/>
          </a:xfrm>
          <a:prstGeom prst="rect">
            <a:avLst/>
          </a:prstGeom>
          <a:noFill/>
        </p:spPr>
        <p:txBody>
          <a:bodyPr wrap="square" lIns="0" rIns="0" tIns="0" bIns="0">
            <a:spAutoFit/>
          </a:bodyPr>
          <a:lstStyle/>
          <a:p>
            <a:pPr algn="l">
              <a:lnSpc>
                <a:spcPct val="108000"/>
              </a:lnSpc>
              <a:spcBef>
                <a:spcPts val="0"/>
              </a:spcBef>
              <a:spcAft>
                <a:spcPts val="0"/>
              </a:spcAft>
            </a:pPr>
            <a:r>
              <a:rPr sz="2800" b="1">
                <a:solidFill>
                  <a:srgbClr val="17243B"/>
                </a:solidFill>
                <a:latin typeface="Arial"/>
              </a:rPr>
              <a:t>Context loss</a:t>
            </a:r>
          </a:p>
        </p:txBody>
      </p:sp>
      <p:sp>
        <p:nvSpPr>
          <p:cNvPr id="14" name="Text: Decisions disappear / between sessions."/>
          <p:cNvSpPr txBox="1"/>
          <p:nvPr/>
        </p:nvSpPr>
        <p:spPr>
          <a:xfrm>
            <a:off x="4453128" y="4151376"/>
            <a:ext cx="3319272" cy="868680"/>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5B6980"/>
                </a:solidFill>
                <a:latin typeface="Arial"/>
              </a:rPr>
              <a:t>Decisions disappear</a:t>
            </a:r>
          </a:p>
          <a:p>
            <a:pPr algn="l">
              <a:lnSpc>
                <a:spcPct val="108000"/>
              </a:lnSpc>
              <a:spcBef>
                <a:spcPts val="0"/>
              </a:spcBef>
              <a:spcAft>
                <a:spcPts val="0"/>
              </a:spcAft>
            </a:pPr>
            <a:r>
              <a:rPr sz="2300" b="0">
                <a:solidFill>
                  <a:srgbClr val="5B6980"/>
                </a:solidFill>
                <a:latin typeface="Arial"/>
              </a:rPr>
              <a:t>between sessions.</a:t>
            </a:r>
          </a:p>
        </p:txBody>
      </p:sp>
      <p:cxnSp>
        <p:nvCxnSpPr>
          <p:cNvPr id="15" name="Connector 14"/>
          <p:cNvCxnSpPr/>
          <p:nvPr/>
        </p:nvCxnSpPr>
        <p:spPr>
          <a:xfrm>
            <a:off x="7909560" y="2770632"/>
            <a:ext cx="0" cy="230428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6" name="Text: 03"/>
          <p:cNvSpPr txBox="1"/>
          <p:nvPr/>
        </p:nvSpPr>
        <p:spPr>
          <a:xfrm>
            <a:off x="8220456" y="2770632"/>
            <a:ext cx="548640" cy="320040"/>
          </a:xfrm>
          <a:prstGeom prst="rect">
            <a:avLst/>
          </a:prstGeom>
          <a:noFill/>
        </p:spPr>
        <p:txBody>
          <a:bodyPr wrap="square" lIns="0" rIns="0" tIns="0" bIns="0">
            <a:spAutoFit/>
          </a:bodyPr>
          <a:lstStyle/>
          <a:p>
            <a:pPr algn="l">
              <a:lnSpc>
                <a:spcPct val="108000"/>
              </a:lnSpc>
              <a:spcBef>
                <a:spcPts val="0"/>
              </a:spcBef>
              <a:spcAft>
                <a:spcPts val="0"/>
              </a:spcAft>
            </a:pPr>
            <a:r>
              <a:rPr sz="1500" b="0">
                <a:solidFill>
                  <a:srgbClr val="305DE6"/>
                </a:solidFill>
                <a:latin typeface="DejaVu Sans Mono"/>
              </a:rPr>
              <a:t>03</a:t>
            </a:r>
          </a:p>
        </p:txBody>
      </p:sp>
      <p:sp>
        <p:nvSpPr>
          <p:cNvPr id="17" name="Text: Weak validation"/>
          <p:cNvSpPr txBox="1"/>
          <p:nvPr/>
        </p:nvSpPr>
        <p:spPr>
          <a:xfrm>
            <a:off x="8220456" y="3410712"/>
            <a:ext cx="3291840" cy="493776"/>
          </a:xfrm>
          <a:prstGeom prst="rect">
            <a:avLst/>
          </a:prstGeom>
          <a:noFill/>
        </p:spPr>
        <p:txBody>
          <a:bodyPr wrap="square" lIns="0" rIns="0" tIns="0" bIns="0">
            <a:spAutoFit/>
          </a:bodyPr>
          <a:lstStyle/>
          <a:p>
            <a:pPr algn="l">
              <a:lnSpc>
                <a:spcPct val="108000"/>
              </a:lnSpc>
              <a:spcBef>
                <a:spcPts val="0"/>
              </a:spcBef>
              <a:spcAft>
                <a:spcPts val="0"/>
              </a:spcAft>
            </a:pPr>
            <a:r>
              <a:rPr sz="2800" b="1">
                <a:solidFill>
                  <a:srgbClr val="17243B"/>
                </a:solidFill>
                <a:latin typeface="Arial"/>
              </a:rPr>
              <a:t>Weak validation</a:t>
            </a:r>
          </a:p>
        </p:txBody>
      </p:sp>
      <p:sp>
        <p:nvSpPr>
          <p:cNvPr id="18" name="Text: Output lacks clear / acceptance evidence."/>
          <p:cNvSpPr txBox="1"/>
          <p:nvPr/>
        </p:nvSpPr>
        <p:spPr>
          <a:xfrm>
            <a:off x="8220456" y="4151376"/>
            <a:ext cx="3319272" cy="868680"/>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5B6980"/>
                </a:solidFill>
                <a:latin typeface="Arial"/>
              </a:rPr>
              <a:t>Output lacks clear</a:t>
            </a:r>
          </a:p>
          <a:p>
            <a:pPr algn="l">
              <a:lnSpc>
                <a:spcPct val="108000"/>
              </a:lnSpc>
              <a:spcBef>
                <a:spcPts val="0"/>
              </a:spcBef>
              <a:spcAft>
                <a:spcPts val="0"/>
              </a:spcAft>
            </a:pPr>
            <a:r>
              <a:rPr sz="2300" b="0">
                <a:solidFill>
                  <a:srgbClr val="5B6980"/>
                </a:solidFill>
                <a:latin typeface="Arial"/>
              </a:rPr>
              <a:t>acceptance evidence.</a:t>
            </a:r>
          </a:p>
        </p:txBody>
      </p:sp>
      <p:cxnSp>
        <p:nvCxnSpPr>
          <p:cNvPr id="19" name="Connector 18"/>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0" name="Text: Record consequential decisions once. Reuse them in every session."/>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Record consequential decisions once. Reuse them in every session.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WHAT SDD MEANS"/>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WHAT SDD MEANS</a:t>
            </a:r>
          </a:p>
        </p:txBody>
      </p:sp>
      <p:sp>
        <p:nvSpPr>
          <p:cNvPr id="5" name="Text: 03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03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The spec defines / what “done” means."/>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The spec defines</a:t>
            </a:r>
          </a:p>
          <a:p>
            <a:pPr algn="l">
              <a:lnSpc>
                <a:spcPct val="104000"/>
              </a:lnSpc>
              <a:spcBef>
                <a:spcPts val="0"/>
              </a:spcBef>
              <a:spcAft>
                <a:spcPts val="0"/>
              </a:spcAft>
            </a:pPr>
            <a:r>
              <a:rPr sz="4100" b="1">
                <a:solidFill>
                  <a:srgbClr val="17243B"/>
                </a:solidFill>
                <a:latin typeface="Arial"/>
              </a:rPr>
              <a:t>what “done” means.</a:t>
            </a:r>
          </a:p>
        </p:txBody>
      </p:sp>
      <p:sp>
        <p:nvSpPr>
          <p:cNvPr id="8" name="Rectangle 7"/>
          <p:cNvSpPr/>
          <p:nvPr/>
        </p:nvSpPr>
        <p:spPr>
          <a:xfrm>
            <a:off x="685800" y="2761488"/>
            <a:ext cx="3282696" cy="1664208"/>
          </a:xfrm>
          <a:prstGeom prst="rect">
            <a:avLst/>
          </a:prstGeom>
          <a:solidFill>
            <a:srgbClr val="EDF2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 01"/>
          <p:cNvSpPr txBox="1"/>
          <p:nvPr/>
        </p:nvSpPr>
        <p:spPr>
          <a:xfrm>
            <a:off x="923544" y="2980944"/>
            <a:ext cx="548640" cy="274320"/>
          </a:xfrm>
          <a:prstGeom prst="rect">
            <a:avLst/>
          </a:prstGeom>
          <a:noFill/>
        </p:spPr>
        <p:txBody>
          <a:bodyPr wrap="square" lIns="0" rIns="0" tIns="0" bIns="0">
            <a:spAutoFit/>
          </a:bodyPr>
          <a:lstStyle/>
          <a:p>
            <a:pPr algn="l">
              <a:lnSpc>
                <a:spcPct val="108000"/>
              </a:lnSpc>
              <a:spcBef>
                <a:spcPts val="0"/>
              </a:spcBef>
              <a:spcAft>
                <a:spcPts val="0"/>
              </a:spcAft>
            </a:pPr>
            <a:r>
              <a:rPr sz="1400" b="0">
                <a:solidFill>
                  <a:srgbClr val="305DE6"/>
                </a:solidFill>
                <a:latin typeface="DejaVu Sans Mono"/>
              </a:rPr>
              <a:t>01</a:t>
            </a:r>
          </a:p>
        </p:txBody>
      </p:sp>
      <p:sp>
        <p:nvSpPr>
          <p:cNvPr id="10" name="Text: Specify"/>
          <p:cNvSpPr txBox="1"/>
          <p:nvPr/>
        </p:nvSpPr>
        <p:spPr>
          <a:xfrm>
            <a:off x="923544" y="3410712"/>
            <a:ext cx="2788920" cy="457200"/>
          </a:xfrm>
          <a:prstGeom prst="rect">
            <a:avLst/>
          </a:prstGeom>
          <a:noFill/>
        </p:spPr>
        <p:txBody>
          <a:bodyPr wrap="square" lIns="0" rIns="0" tIns="0" bIns="0">
            <a:spAutoFit/>
          </a:bodyPr>
          <a:lstStyle/>
          <a:p>
            <a:pPr algn="l">
              <a:lnSpc>
                <a:spcPct val="108000"/>
              </a:lnSpc>
              <a:spcBef>
                <a:spcPts val="0"/>
              </a:spcBef>
              <a:spcAft>
                <a:spcPts val="0"/>
              </a:spcAft>
            </a:pPr>
            <a:r>
              <a:rPr sz="2900" b="1">
                <a:solidFill>
                  <a:srgbClr val="17243B"/>
                </a:solidFill>
                <a:latin typeface="Arial"/>
              </a:rPr>
              <a:t>Specify</a:t>
            </a:r>
          </a:p>
        </p:txBody>
      </p:sp>
      <p:sp>
        <p:nvSpPr>
          <p:cNvPr id="11" name="Text: Outcome + boundaries"/>
          <p:cNvSpPr txBox="1"/>
          <p:nvPr/>
        </p:nvSpPr>
        <p:spPr>
          <a:xfrm>
            <a:off x="923544" y="3977639"/>
            <a:ext cx="2807208" cy="329184"/>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5B6980"/>
                </a:solidFill>
                <a:latin typeface="Arial"/>
              </a:rPr>
              <a:t>Outcome + boundaries</a:t>
            </a:r>
          </a:p>
        </p:txBody>
      </p:sp>
      <p:sp>
        <p:nvSpPr>
          <p:cNvPr id="12" name="Rectangle 11"/>
          <p:cNvSpPr/>
          <p:nvPr/>
        </p:nvSpPr>
        <p:spPr>
          <a:xfrm>
            <a:off x="4453128" y="2761488"/>
            <a:ext cx="3282696" cy="1664208"/>
          </a:xfrm>
          <a:prstGeom prst="rect">
            <a:avLst/>
          </a:prstGeom>
          <a:solidFill>
            <a:srgbClr val="FFFFFF"/>
          </a:solidFill>
          <a:ln w="16510">
            <a:solidFill>
              <a:srgbClr val="DCE3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 02"/>
          <p:cNvSpPr txBox="1"/>
          <p:nvPr/>
        </p:nvSpPr>
        <p:spPr>
          <a:xfrm>
            <a:off x="4690872" y="2980944"/>
            <a:ext cx="548640" cy="274320"/>
          </a:xfrm>
          <a:prstGeom prst="rect">
            <a:avLst/>
          </a:prstGeom>
          <a:noFill/>
        </p:spPr>
        <p:txBody>
          <a:bodyPr wrap="square" lIns="0" rIns="0" tIns="0" bIns="0">
            <a:spAutoFit/>
          </a:bodyPr>
          <a:lstStyle/>
          <a:p>
            <a:pPr algn="l">
              <a:lnSpc>
                <a:spcPct val="108000"/>
              </a:lnSpc>
              <a:spcBef>
                <a:spcPts val="0"/>
              </a:spcBef>
              <a:spcAft>
                <a:spcPts val="0"/>
              </a:spcAft>
            </a:pPr>
            <a:r>
              <a:rPr sz="1400" b="0">
                <a:solidFill>
                  <a:srgbClr val="305DE6"/>
                </a:solidFill>
                <a:latin typeface="DejaVu Sans Mono"/>
              </a:rPr>
              <a:t>02</a:t>
            </a:r>
          </a:p>
        </p:txBody>
      </p:sp>
      <p:sp>
        <p:nvSpPr>
          <p:cNvPr id="14" name="Text: Implement"/>
          <p:cNvSpPr txBox="1"/>
          <p:nvPr/>
        </p:nvSpPr>
        <p:spPr>
          <a:xfrm>
            <a:off x="4690872" y="3410712"/>
            <a:ext cx="2788920" cy="457200"/>
          </a:xfrm>
          <a:prstGeom prst="rect">
            <a:avLst/>
          </a:prstGeom>
          <a:noFill/>
        </p:spPr>
        <p:txBody>
          <a:bodyPr wrap="square" lIns="0" rIns="0" tIns="0" bIns="0">
            <a:spAutoFit/>
          </a:bodyPr>
          <a:lstStyle/>
          <a:p>
            <a:pPr algn="l">
              <a:lnSpc>
                <a:spcPct val="108000"/>
              </a:lnSpc>
              <a:spcBef>
                <a:spcPts val="0"/>
              </a:spcBef>
              <a:spcAft>
                <a:spcPts val="0"/>
              </a:spcAft>
            </a:pPr>
            <a:r>
              <a:rPr sz="2900" b="1">
                <a:solidFill>
                  <a:srgbClr val="17243B"/>
                </a:solidFill>
                <a:latin typeface="Arial"/>
              </a:rPr>
              <a:t>Implement</a:t>
            </a:r>
          </a:p>
        </p:txBody>
      </p:sp>
      <p:sp>
        <p:nvSpPr>
          <p:cNvPr id="15" name="Text: A bounded change"/>
          <p:cNvSpPr txBox="1"/>
          <p:nvPr/>
        </p:nvSpPr>
        <p:spPr>
          <a:xfrm>
            <a:off x="4690872" y="3977639"/>
            <a:ext cx="2807208" cy="329184"/>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5B6980"/>
                </a:solidFill>
                <a:latin typeface="Arial"/>
              </a:rPr>
              <a:t>A bounded change</a:t>
            </a:r>
          </a:p>
        </p:txBody>
      </p:sp>
      <p:sp>
        <p:nvSpPr>
          <p:cNvPr id="16" name="Rectangle 15"/>
          <p:cNvSpPr/>
          <p:nvPr/>
        </p:nvSpPr>
        <p:spPr>
          <a:xfrm>
            <a:off x="8220456" y="2761488"/>
            <a:ext cx="3282696" cy="1664208"/>
          </a:xfrm>
          <a:prstGeom prst="rect">
            <a:avLst/>
          </a:prstGeom>
          <a:solidFill>
            <a:srgbClr val="E8F5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 03"/>
          <p:cNvSpPr txBox="1"/>
          <p:nvPr/>
        </p:nvSpPr>
        <p:spPr>
          <a:xfrm>
            <a:off x="8458200" y="2980944"/>
            <a:ext cx="548640" cy="274320"/>
          </a:xfrm>
          <a:prstGeom prst="rect">
            <a:avLst/>
          </a:prstGeom>
          <a:noFill/>
        </p:spPr>
        <p:txBody>
          <a:bodyPr wrap="square" lIns="0" rIns="0" tIns="0" bIns="0">
            <a:spAutoFit/>
          </a:bodyPr>
          <a:lstStyle/>
          <a:p>
            <a:pPr algn="l">
              <a:lnSpc>
                <a:spcPct val="108000"/>
              </a:lnSpc>
              <a:spcBef>
                <a:spcPts val="0"/>
              </a:spcBef>
              <a:spcAft>
                <a:spcPts val="0"/>
              </a:spcAft>
            </a:pPr>
            <a:r>
              <a:rPr sz="1400" b="0">
                <a:solidFill>
                  <a:srgbClr val="147D72"/>
                </a:solidFill>
                <a:latin typeface="DejaVu Sans Mono"/>
              </a:rPr>
              <a:t>03</a:t>
            </a:r>
          </a:p>
        </p:txBody>
      </p:sp>
      <p:sp>
        <p:nvSpPr>
          <p:cNvPr id="18" name="Text: Verify"/>
          <p:cNvSpPr txBox="1"/>
          <p:nvPr/>
        </p:nvSpPr>
        <p:spPr>
          <a:xfrm>
            <a:off x="8458200" y="3410712"/>
            <a:ext cx="2788920" cy="457200"/>
          </a:xfrm>
          <a:prstGeom prst="rect">
            <a:avLst/>
          </a:prstGeom>
          <a:noFill/>
        </p:spPr>
        <p:txBody>
          <a:bodyPr wrap="square" lIns="0" rIns="0" tIns="0" bIns="0">
            <a:spAutoFit/>
          </a:bodyPr>
          <a:lstStyle/>
          <a:p>
            <a:pPr algn="l">
              <a:lnSpc>
                <a:spcPct val="108000"/>
              </a:lnSpc>
              <a:spcBef>
                <a:spcPts val="0"/>
              </a:spcBef>
              <a:spcAft>
                <a:spcPts val="0"/>
              </a:spcAft>
            </a:pPr>
            <a:r>
              <a:rPr sz="2900" b="1">
                <a:solidFill>
                  <a:srgbClr val="17243B"/>
                </a:solidFill>
                <a:latin typeface="Arial"/>
              </a:rPr>
              <a:t>Verify</a:t>
            </a:r>
          </a:p>
        </p:txBody>
      </p:sp>
      <p:sp>
        <p:nvSpPr>
          <p:cNvPr id="19" name="Text: Acceptance + evidence"/>
          <p:cNvSpPr txBox="1"/>
          <p:nvPr/>
        </p:nvSpPr>
        <p:spPr>
          <a:xfrm>
            <a:off x="8458200" y="3977639"/>
            <a:ext cx="2807208" cy="329184"/>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5B6980"/>
                </a:solidFill>
                <a:latin typeface="Arial"/>
              </a:rPr>
              <a:t>Acceptance + evidence</a:t>
            </a:r>
          </a:p>
        </p:txBody>
      </p:sp>
      <p:cxnSp>
        <p:nvCxnSpPr>
          <p:cNvPr id="20" name="Connector 19"/>
          <p:cNvCxnSpPr/>
          <p:nvPr/>
        </p:nvCxnSpPr>
        <p:spPr>
          <a:xfrm>
            <a:off x="4023360" y="3611880"/>
            <a:ext cx="329184" cy="0"/>
          </a:xfrm>
          <a:prstGeom prst="line">
            <a:avLst/>
          </a:prstGeom>
          <a:ln w="2032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7790688" y="3611880"/>
            <a:ext cx="329184" cy="0"/>
          </a:xfrm>
          <a:prstGeom prst="line">
            <a:avLst/>
          </a:prstGeom>
          <a:ln w="2032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9866376" y="4562856"/>
            <a:ext cx="0" cy="402336"/>
          </a:xfrm>
          <a:prstGeom prst="line">
            <a:avLst/>
          </a:prstGeom>
          <a:ln w="13970">
            <a:solidFill>
              <a:srgbClr val="5B6980"/>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2322576" y="4965192"/>
            <a:ext cx="7543800" cy="0"/>
          </a:xfrm>
          <a:prstGeom prst="line">
            <a:avLst/>
          </a:prstGeom>
          <a:ln w="13970">
            <a:solidFill>
              <a:srgbClr val="5B6980"/>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2322576" y="4562856"/>
            <a:ext cx="0" cy="402336"/>
          </a:xfrm>
          <a:prstGeom prst="line">
            <a:avLst/>
          </a:prstGeom>
          <a:ln w="13970">
            <a:solidFill>
              <a:srgbClr val="5B6980"/>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4151376" y="4782312"/>
            <a:ext cx="3776472"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 Update the spec when intent changes"/>
          <p:cNvSpPr txBox="1"/>
          <p:nvPr/>
        </p:nvSpPr>
        <p:spPr>
          <a:xfrm>
            <a:off x="4151376" y="4800600"/>
            <a:ext cx="3776472" cy="292608"/>
          </a:xfrm>
          <a:prstGeom prst="rect">
            <a:avLst/>
          </a:prstGeom>
          <a:noFill/>
        </p:spPr>
        <p:txBody>
          <a:bodyPr wrap="square" lIns="0" rIns="0" tIns="0" bIns="0">
            <a:spAutoFit/>
          </a:bodyPr>
          <a:lstStyle/>
          <a:p>
            <a:pPr algn="ctr">
              <a:lnSpc>
                <a:spcPct val="108000"/>
              </a:lnSpc>
              <a:spcBef>
                <a:spcPts val="0"/>
              </a:spcBef>
              <a:spcAft>
                <a:spcPts val="0"/>
              </a:spcAft>
            </a:pPr>
            <a:r>
              <a:rPr sz="1600" b="0">
                <a:solidFill>
                  <a:srgbClr val="5B6980"/>
                </a:solidFill>
                <a:latin typeface="Arial"/>
              </a:rPr>
              <a:t>Update the spec when intent changes</a:t>
            </a:r>
          </a:p>
        </p:txBody>
      </p:sp>
      <p:cxnSp>
        <p:nvCxnSpPr>
          <p:cNvPr id="27" name="Connector 26"/>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8" name="Text: Review the spec before code. Accept the code against the spec."/>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Review the spec before code. Accept the code against the spec.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THE WORKFLOW"/>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THE WORKFLOW</a:t>
            </a:r>
          </a:p>
        </p:txBody>
      </p:sp>
      <p:sp>
        <p:nvSpPr>
          <p:cNvPr id="5" name="Text: 04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04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solve intent before generating code."/>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Resolve intent before generating code.</a:t>
            </a:r>
          </a:p>
        </p:txBody>
      </p:sp>
      <p:sp>
        <p:nvSpPr>
          <p:cNvPr id="8" name="Text: FRAME"/>
          <p:cNvSpPr txBox="1"/>
          <p:nvPr/>
        </p:nvSpPr>
        <p:spPr>
          <a:xfrm>
            <a:off x="685800" y="2523744"/>
            <a:ext cx="3291840" cy="329184"/>
          </a:xfrm>
          <a:prstGeom prst="rect">
            <a:avLst/>
          </a:prstGeom>
          <a:noFill/>
        </p:spPr>
        <p:txBody>
          <a:bodyPr wrap="square" lIns="0" rIns="0" tIns="0" bIns="0">
            <a:spAutoFit/>
          </a:bodyPr>
          <a:lstStyle/>
          <a:p>
            <a:pPr algn="l">
              <a:lnSpc>
                <a:spcPct val="108000"/>
              </a:lnSpc>
              <a:spcBef>
                <a:spcPts val="0"/>
              </a:spcBef>
              <a:spcAft>
                <a:spcPts val="0"/>
              </a:spcAft>
            </a:pPr>
            <a:r>
              <a:rPr sz="1400" b="1">
                <a:solidFill>
                  <a:srgbClr val="305DE6"/>
                </a:solidFill>
                <a:latin typeface="Arial"/>
              </a:rPr>
              <a:t>FRAME</a:t>
            </a:r>
          </a:p>
        </p:txBody>
      </p:sp>
      <p:cxnSp>
        <p:nvCxnSpPr>
          <p:cNvPr id="9" name="Connector 8"/>
          <p:cNvCxnSpPr/>
          <p:nvPr/>
        </p:nvCxnSpPr>
        <p:spPr>
          <a:xfrm>
            <a:off x="685800" y="2999232"/>
            <a:ext cx="32735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0" name="Text: 01"/>
          <p:cNvSpPr txBox="1"/>
          <p:nvPr/>
        </p:nvSpPr>
        <p:spPr>
          <a:xfrm>
            <a:off x="685800" y="3383280"/>
            <a:ext cx="493776"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305DE6"/>
                </a:solidFill>
                <a:latin typeface="DejaVu Sans Mono"/>
              </a:rPr>
              <a:t>01</a:t>
            </a:r>
          </a:p>
        </p:txBody>
      </p:sp>
      <p:sp>
        <p:nvSpPr>
          <p:cNvPr id="11" name="Text: Guardrails"/>
          <p:cNvSpPr txBox="1"/>
          <p:nvPr/>
        </p:nvSpPr>
        <p:spPr>
          <a:xfrm>
            <a:off x="1399032" y="3346704"/>
            <a:ext cx="2578608" cy="54864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Guardrails</a:t>
            </a:r>
          </a:p>
        </p:txBody>
      </p:sp>
      <p:sp>
        <p:nvSpPr>
          <p:cNvPr id="12" name="Text: 02"/>
          <p:cNvSpPr txBox="1"/>
          <p:nvPr/>
        </p:nvSpPr>
        <p:spPr>
          <a:xfrm>
            <a:off x="685800" y="4151376"/>
            <a:ext cx="493776"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305DE6"/>
                </a:solidFill>
                <a:latin typeface="DejaVu Sans Mono"/>
              </a:rPr>
              <a:t>02</a:t>
            </a:r>
          </a:p>
        </p:txBody>
      </p:sp>
      <p:sp>
        <p:nvSpPr>
          <p:cNvPr id="13" name="Text: Specify"/>
          <p:cNvSpPr txBox="1"/>
          <p:nvPr/>
        </p:nvSpPr>
        <p:spPr>
          <a:xfrm>
            <a:off x="1399032" y="4114800"/>
            <a:ext cx="2578608" cy="54864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Specify</a:t>
            </a:r>
          </a:p>
        </p:txBody>
      </p:sp>
      <p:sp>
        <p:nvSpPr>
          <p:cNvPr id="14" name="Text: Shared rules + outcome"/>
          <p:cNvSpPr txBox="1"/>
          <p:nvPr/>
        </p:nvSpPr>
        <p:spPr>
          <a:xfrm>
            <a:off x="685800" y="4956048"/>
            <a:ext cx="3300984" cy="64008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5B6980"/>
                </a:solidFill>
                <a:latin typeface="Arial"/>
              </a:rPr>
              <a:t>Shared rules + outcome</a:t>
            </a:r>
          </a:p>
        </p:txBody>
      </p:sp>
      <p:sp>
        <p:nvSpPr>
          <p:cNvPr id="15" name="Text: RESOLVE"/>
          <p:cNvSpPr txBox="1"/>
          <p:nvPr/>
        </p:nvSpPr>
        <p:spPr>
          <a:xfrm>
            <a:off x="4453128" y="2523744"/>
            <a:ext cx="3291840" cy="329184"/>
          </a:xfrm>
          <a:prstGeom prst="rect">
            <a:avLst/>
          </a:prstGeom>
          <a:noFill/>
        </p:spPr>
        <p:txBody>
          <a:bodyPr wrap="square" lIns="0" rIns="0" tIns="0" bIns="0">
            <a:spAutoFit/>
          </a:bodyPr>
          <a:lstStyle/>
          <a:p>
            <a:pPr algn="l">
              <a:lnSpc>
                <a:spcPct val="108000"/>
              </a:lnSpc>
              <a:spcBef>
                <a:spcPts val="0"/>
              </a:spcBef>
              <a:spcAft>
                <a:spcPts val="0"/>
              </a:spcAft>
            </a:pPr>
            <a:r>
              <a:rPr sz="1400" b="1">
                <a:solidFill>
                  <a:srgbClr val="305DE6"/>
                </a:solidFill>
                <a:latin typeface="Arial"/>
              </a:rPr>
              <a:t>RESOLVE</a:t>
            </a:r>
          </a:p>
        </p:txBody>
      </p:sp>
      <p:cxnSp>
        <p:nvCxnSpPr>
          <p:cNvPr id="16" name="Connector 15"/>
          <p:cNvCxnSpPr/>
          <p:nvPr/>
        </p:nvCxnSpPr>
        <p:spPr>
          <a:xfrm>
            <a:off x="4453128" y="2999232"/>
            <a:ext cx="3273551"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7" name="Text: 03"/>
          <p:cNvSpPr txBox="1"/>
          <p:nvPr/>
        </p:nvSpPr>
        <p:spPr>
          <a:xfrm>
            <a:off x="4453128" y="3383280"/>
            <a:ext cx="493776"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305DE6"/>
                </a:solidFill>
                <a:latin typeface="DejaVu Sans Mono"/>
              </a:rPr>
              <a:t>03</a:t>
            </a:r>
          </a:p>
        </p:txBody>
      </p:sp>
      <p:sp>
        <p:nvSpPr>
          <p:cNvPr id="18" name="Text: Clarify"/>
          <p:cNvSpPr txBox="1"/>
          <p:nvPr/>
        </p:nvSpPr>
        <p:spPr>
          <a:xfrm>
            <a:off x="5166360" y="3346704"/>
            <a:ext cx="2578608" cy="54864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Clarify</a:t>
            </a:r>
          </a:p>
        </p:txBody>
      </p:sp>
      <p:sp>
        <p:nvSpPr>
          <p:cNvPr id="19" name="Text: 04"/>
          <p:cNvSpPr txBox="1"/>
          <p:nvPr/>
        </p:nvSpPr>
        <p:spPr>
          <a:xfrm>
            <a:off x="4453128" y="4151376"/>
            <a:ext cx="493776"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305DE6"/>
                </a:solidFill>
                <a:latin typeface="DejaVu Sans Mono"/>
              </a:rPr>
              <a:t>04</a:t>
            </a:r>
          </a:p>
        </p:txBody>
      </p:sp>
      <p:sp>
        <p:nvSpPr>
          <p:cNvPr id="20" name="Text: Plan"/>
          <p:cNvSpPr txBox="1"/>
          <p:nvPr/>
        </p:nvSpPr>
        <p:spPr>
          <a:xfrm>
            <a:off x="5166360" y="4114800"/>
            <a:ext cx="2578608" cy="54864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Plan</a:t>
            </a:r>
          </a:p>
        </p:txBody>
      </p:sp>
      <p:sp>
        <p:nvSpPr>
          <p:cNvPr id="21" name="Text: Decisions + approach"/>
          <p:cNvSpPr txBox="1"/>
          <p:nvPr/>
        </p:nvSpPr>
        <p:spPr>
          <a:xfrm>
            <a:off x="4453128" y="4956048"/>
            <a:ext cx="3300984" cy="64008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5B6980"/>
                </a:solidFill>
                <a:latin typeface="Arial"/>
              </a:rPr>
              <a:t>Decisions + approach</a:t>
            </a:r>
          </a:p>
        </p:txBody>
      </p:sp>
      <p:sp>
        <p:nvSpPr>
          <p:cNvPr id="22" name="Text: DELIVER"/>
          <p:cNvSpPr txBox="1"/>
          <p:nvPr/>
        </p:nvSpPr>
        <p:spPr>
          <a:xfrm>
            <a:off x="8220456" y="2523744"/>
            <a:ext cx="3291840" cy="329184"/>
          </a:xfrm>
          <a:prstGeom prst="rect">
            <a:avLst/>
          </a:prstGeom>
          <a:noFill/>
        </p:spPr>
        <p:txBody>
          <a:bodyPr wrap="square" lIns="0" rIns="0" tIns="0" bIns="0">
            <a:spAutoFit/>
          </a:bodyPr>
          <a:lstStyle/>
          <a:p>
            <a:pPr algn="l">
              <a:lnSpc>
                <a:spcPct val="108000"/>
              </a:lnSpc>
              <a:spcBef>
                <a:spcPts val="0"/>
              </a:spcBef>
              <a:spcAft>
                <a:spcPts val="0"/>
              </a:spcAft>
            </a:pPr>
            <a:r>
              <a:rPr sz="1400" b="1">
                <a:solidFill>
                  <a:srgbClr val="305DE6"/>
                </a:solidFill>
                <a:latin typeface="Arial"/>
              </a:rPr>
              <a:t>DELIVER</a:t>
            </a:r>
          </a:p>
        </p:txBody>
      </p:sp>
      <p:cxnSp>
        <p:nvCxnSpPr>
          <p:cNvPr id="23" name="Connector 22"/>
          <p:cNvCxnSpPr/>
          <p:nvPr/>
        </p:nvCxnSpPr>
        <p:spPr>
          <a:xfrm>
            <a:off x="8220456" y="2999232"/>
            <a:ext cx="32735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4" name="Text: 05"/>
          <p:cNvSpPr txBox="1"/>
          <p:nvPr/>
        </p:nvSpPr>
        <p:spPr>
          <a:xfrm>
            <a:off x="8220456" y="3383280"/>
            <a:ext cx="493776"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305DE6"/>
                </a:solidFill>
                <a:latin typeface="DejaVu Sans Mono"/>
              </a:rPr>
              <a:t>05</a:t>
            </a:r>
          </a:p>
        </p:txBody>
      </p:sp>
      <p:sp>
        <p:nvSpPr>
          <p:cNvPr id="25" name="Text: Tasks"/>
          <p:cNvSpPr txBox="1"/>
          <p:nvPr/>
        </p:nvSpPr>
        <p:spPr>
          <a:xfrm>
            <a:off x="8933688" y="3346704"/>
            <a:ext cx="2578608" cy="54864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Tasks</a:t>
            </a:r>
          </a:p>
        </p:txBody>
      </p:sp>
      <p:sp>
        <p:nvSpPr>
          <p:cNvPr id="26" name="Text: 06"/>
          <p:cNvSpPr txBox="1"/>
          <p:nvPr/>
        </p:nvSpPr>
        <p:spPr>
          <a:xfrm>
            <a:off x="8220456" y="4151376"/>
            <a:ext cx="493776"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305DE6"/>
                </a:solidFill>
                <a:latin typeface="DejaVu Sans Mono"/>
              </a:rPr>
              <a:t>06</a:t>
            </a:r>
          </a:p>
        </p:txBody>
      </p:sp>
      <p:sp>
        <p:nvSpPr>
          <p:cNvPr id="27" name="Text: Build + verify"/>
          <p:cNvSpPr txBox="1"/>
          <p:nvPr/>
        </p:nvSpPr>
        <p:spPr>
          <a:xfrm>
            <a:off x="8933688" y="4114800"/>
            <a:ext cx="2578608" cy="54864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Build + verify</a:t>
            </a:r>
          </a:p>
        </p:txBody>
      </p:sp>
      <p:sp>
        <p:nvSpPr>
          <p:cNvPr id="28" name="Text: Bounded work + evidence"/>
          <p:cNvSpPr txBox="1"/>
          <p:nvPr/>
        </p:nvSpPr>
        <p:spPr>
          <a:xfrm>
            <a:off x="8220456" y="4956048"/>
            <a:ext cx="3300984" cy="64008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5B6980"/>
                </a:solidFill>
                <a:latin typeface="Arial"/>
              </a:rPr>
              <a:t>Bounded work + evidence</a:t>
            </a:r>
          </a:p>
        </p:txBody>
      </p:sp>
      <p:cxnSp>
        <p:nvCxnSpPr>
          <p:cNvPr id="29" name="Connector 28"/>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30" name="Text: Review each artifact before using it as the next input."/>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Review each artifact before using it as the next input.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ORGANIZING THE MARKDOWN"/>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ORGANIZING THE MARKDOWN</a:t>
            </a:r>
          </a:p>
        </p:txBody>
      </p:sp>
      <p:sp>
        <p:nvSpPr>
          <p:cNvPr id="5" name="Text: 05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05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Give each file one job."/>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Give each file one job.</a:t>
            </a:r>
          </a:p>
        </p:txBody>
      </p:sp>
      <p:sp>
        <p:nvSpPr>
          <p:cNvPr id="8" name="Rectangle 7"/>
          <p:cNvSpPr/>
          <p:nvPr/>
        </p:nvSpPr>
        <p:spPr>
          <a:xfrm>
            <a:off x="685800" y="2221992"/>
            <a:ext cx="10817352" cy="630936"/>
          </a:xfrm>
          <a:prstGeom prst="rect">
            <a:avLst/>
          </a:prstGeom>
          <a:solidFill>
            <a:srgbClr val="EDF2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 constitution.md"/>
          <p:cNvSpPr txBox="1"/>
          <p:nvPr/>
        </p:nvSpPr>
        <p:spPr>
          <a:xfrm>
            <a:off x="914400" y="2423160"/>
            <a:ext cx="3090672" cy="292608"/>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305DE6"/>
                </a:solidFill>
                <a:latin typeface="DejaVu Sans Mono"/>
              </a:rPr>
              <a:t>constitution.md</a:t>
            </a:r>
          </a:p>
        </p:txBody>
      </p:sp>
      <p:sp>
        <p:nvSpPr>
          <p:cNvPr id="10" name="Text: Shared guardrails: stack, conventions, checks"/>
          <p:cNvSpPr txBox="1"/>
          <p:nvPr/>
        </p:nvSpPr>
        <p:spPr>
          <a:xfrm>
            <a:off x="4114800" y="2404872"/>
            <a:ext cx="7132320" cy="35661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17243B"/>
                </a:solidFill>
                <a:latin typeface="Arial"/>
              </a:rPr>
              <a:t>Shared guardrails: stack, conventions, checks</a:t>
            </a:r>
          </a:p>
        </p:txBody>
      </p:sp>
      <p:sp>
        <p:nvSpPr>
          <p:cNvPr id="11" name="Text: What + why"/>
          <p:cNvSpPr txBox="1"/>
          <p:nvPr/>
        </p:nvSpPr>
        <p:spPr>
          <a:xfrm>
            <a:off x="685800" y="3337560"/>
            <a:ext cx="3291840" cy="41148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What + why</a:t>
            </a:r>
          </a:p>
        </p:txBody>
      </p:sp>
      <p:sp>
        <p:nvSpPr>
          <p:cNvPr id="12" name="Text: specification.md"/>
          <p:cNvSpPr txBox="1"/>
          <p:nvPr/>
        </p:nvSpPr>
        <p:spPr>
          <a:xfrm>
            <a:off x="685800" y="3968496"/>
            <a:ext cx="3300984" cy="329184"/>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305DE6"/>
                </a:solidFill>
                <a:latin typeface="DejaVu Sans Mono"/>
              </a:rPr>
              <a:t>specification.md</a:t>
            </a:r>
          </a:p>
        </p:txBody>
      </p:sp>
      <p:sp>
        <p:nvSpPr>
          <p:cNvPr id="13" name="Text: Behavior, scope, acceptance"/>
          <p:cNvSpPr txBox="1"/>
          <p:nvPr/>
        </p:nvSpPr>
        <p:spPr>
          <a:xfrm>
            <a:off x="685800" y="4517136"/>
            <a:ext cx="3319272" cy="667512"/>
          </a:xfrm>
          <a:prstGeom prst="rect">
            <a:avLst/>
          </a:prstGeom>
          <a:noFill/>
        </p:spPr>
        <p:txBody>
          <a:bodyPr wrap="square" lIns="0" rIns="0" tIns="0" bIns="0">
            <a:spAutoFit/>
          </a:bodyPr>
          <a:lstStyle/>
          <a:p>
            <a:pPr algn="l">
              <a:lnSpc>
                <a:spcPct val="108000"/>
              </a:lnSpc>
              <a:spcBef>
                <a:spcPts val="0"/>
              </a:spcBef>
              <a:spcAft>
                <a:spcPts val="0"/>
              </a:spcAft>
            </a:pPr>
            <a:r>
              <a:rPr sz="2000" b="0">
                <a:solidFill>
                  <a:srgbClr val="5B6980"/>
                </a:solidFill>
                <a:latin typeface="Arial"/>
              </a:rPr>
              <a:t>Behavior, scope, acceptance</a:t>
            </a:r>
          </a:p>
        </p:txBody>
      </p:sp>
      <p:cxnSp>
        <p:nvCxnSpPr>
          <p:cNvPr id="14" name="Connector 13"/>
          <p:cNvCxnSpPr/>
          <p:nvPr/>
        </p:nvCxnSpPr>
        <p:spPr>
          <a:xfrm>
            <a:off x="4142231" y="3328416"/>
            <a:ext cx="0" cy="189280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5" name="Text: How"/>
          <p:cNvSpPr txBox="1"/>
          <p:nvPr/>
        </p:nvSpPr>
        <p:spPr>
          <a:xfrm>
            <a:off x="4453128" y="3337560"/>
            <a:ext cx="3291840" cy="41148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How</a:t>
            </a:r>
          </a:p>
        </p:txBody>
      </p:sp>
      <p:sp>
        <p:nvSpPr>
          <p:cNvPr id="16" name="Text: plan.md"/>
          <p:cNvSpPr txBox="1"/>
          <p:nvPr/>
        </p:nvSpPr>
        <p:spPr>
          <a:xfrm>
            <a:off x="4453128" y="3968496"/>
            <a:ext cx="3300984" cy="329184"/>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305DE6"/>
                </a:solidFill>
                <a:latin typeface="DejaVu Sans Mono"/>
              </a:rPr>
              <a:t>plan.md</a:t>
            </a:r>
          </a:p>
        </p:txBody>
      </p:sp>
      <p:sp>
        <p:nvSpPr>
          <p:cNvPr id="17" name="Text: Architecture, contracts, data"/>
          <p:cNvSpPr txBox="1"/>
          <p:nvPr/>
        </p:nvSpPr>
        <p:spPr>
          <a:xfrm>
            <a:off x="4453128" y="4517136"/>
            <a:ext cx="3319272" cy="667512"/>
          </a:xfrm>
          <a:prstGeom prst="rect">
            <a:avLst/>
          </a:prstGeom>
          <a:noFill/>
        </p:spPr>
        <p:txBody>
          <a:bodyPr wrap="square" lIns="0" rIns="0" tIns="0" bIns="0">
            <a:spAutoFit/>
          </a:bodyPr>
          <a:lstStyle/>
          <a:p>
            <a:pPr algn="l">
              <a:lnSpc>
                <a:spcPct val="108000"/>
              </a:lnSpc>
              <a:spcBef>
                <a:spcPts val="0"/>
              </a:spcBef>
              <a:spcAft>
                <a:spcPts val="0"/>
              </a:spcAft>
            </a:pPr>
            <a:r>
              <a:rPr sz="2000" b="0">
                <a:solidFill>
                  <a:srgbClr val="5B6980"/>
                </a:solidFill>
                <a:latin typeface="Arial"/>
              </a:rPr>
              <a:t>Architecture, contracts, data</a:t>
            </a:r>
          </a:p>
        </p:txBody>
      </p:sp>
      <p:cxnSp>
        <p:nvCxnSpPr>
          <p:cNvPr id="18" name="Connector 17"/>
          <p:cNvCxnSpPr/>
          <p:nvPr/>
        </p:nvCxnSpPr>
        <p:spPr>
          <a:xfrm>
            <a:off x="7909560" y="3328416"/>
            <a:ext cx="0" cy="1892808"/>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9" name="Text: What to do next"/>
          <p:cNvSpPr txBox="1"/>
          <p:nvPr/>
        </p:nvSpPr>
        <p:spPr>
          <a:xfrm>
            <a:off x="8220456" y="3337560"/>
            <a:ext cx="3291840" cy="411480"/>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17243B"/>
                </a:solidFill>
                <a:latin typeface="Arial"/>
              </a:rPr>
              <a:t>What to do next</a:t>
            </a:r>
          </a:p>
        </p:txBody>
      </p:sp>
      <p:sp>
        <p:nvSpPr>
          <p:cNvPr id="20" name="Text: tasks.md"/>
          <p:cNvSpPr txBox="1"/>
          <p:nvPr/>
        </p:nvSpPr>
        <p:spPr>
          <a:xfrm>
            <a:off x="8220456" y="3968496"/>
            <a:ext cx="3300984" cy="329184"/>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305DE6"/>
                </a:solidFill>
                <a:latin typeface="DejaVu Sans Mono"/>
              </a:rPr>
              <a:t>tasks.md</a:t>
            </a:r>
          </a:p>
        </p:txBody>
      </p:sp>
      <p:sp>
        <p:nvSpPr>
          <p:cNvPr id="21" name="Text: Order, dependencies, proof"/>
          <p:cNvSpPr txBox="1"/>
          <p:nvPr/>
        </p:nvSpPr>
        <p:spPr>
          <a:xfrm>
            <a:off x="8220456" y="4517136"/>
            <a:ext cx="3319272" cy="667512"/>
          </a:xfrm>
          <a:prstGeom prst="rect">
            <a:avLst/>
          </a:prstGeom>
          <a:noFill/>
        </p:spPr>
        <p:txBody>
          <a:bodyPr wrap="square" lIns="0" rIns="0" tIns="0" bIns="0">
            <a:spAutoFit/>
          </a:bodyPr>
          <a:lstStyle/>
          <a:p>
            <a:pPr algn="l">
              <a:lnSpc>
                <a:spcPct val="108000"/>
              </a:lnSpc>
              <a:spcBef>
                <a:spcPts val="0"/>
              </a:spcBef>
              <a:spcAft>
                <a:spcPts val="0"/>
              </a:spcAft>
            </a:pPr>
            <a:r>
              <a:rPr sz="2000" b="0">
                <a:solidFill>
                  <a:srgbClr val="5B6980"/>
                </a:solidFill>
                <a:latin typeface="Arial"/>
              </a:rPr>
              <a:t>Order, dependencies, proof</a:t>
            </a:r>
          </a:p>
        </p:txBody>
      </p:sp>
      <p:sp>
        <p:nvSpPr>
          <p:cNvPr id="22" name="Text: + ui.md for interaction states"/>
          <p:cNvSpPr txBox="1"/>
          <p:nvPr/>
        </p:nvSpPr>
        <p:spPr>
          <a:xfrm>
            <a:off x="4453128" y="5184648"/>
            <a:ext cx="6858000" cy="320040"/>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147D72"/>
                </a:solidFill>
                <a:latin typeface="Arial"/>
              </a:rPr>
              <a:t>+ ui.md for interaction states</a:t>
            </a:r>
          </a:p>
        </p:txBody>
      </p:sp>
      <p:cxnSp>
        <p:nvCxnSpPr>
          <p:cNvPr id="23" name="Connector 22"/>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4" name="Text: For small features, these can be sections in specs.md."/>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For small features, these can be sections in specs.md.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WRITING THE SPECIFICATION"/>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WRITING THE SPECIFICATION</a:t>
            </a:r>
          </a:p>
        </p:txBody>
      </p:sp>
      <p:sp>
        <p:nvSpPr>
          <p:cNvPr id="5" name="Text: 06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06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Write observable behavior."/>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Write observable behavior.</a:t>
            </a:r>
          </a:p>
        </p:txBody>
      </p:sp>
      <p:sp>
        <p:nvSpPr>
          <p:cNvPr id="8" name="Text: SPEC"/>
          <p:cNvSpPr txBox="1"/>
          <p:nvPr/>
        </p:nvSpPr>
        <p:spPr>
          <a:xfrm>
            <a:off x="685800" y="2560320"/>
            <a:ext cx="2331720" cy="1005840"/>
          </a:xfrm>
          <a:prstGeom prst="rect">
            <a:avLst/>
          </a:prstGeom>
          <a:noFill/>
        </p:spPr>
        <p:txBody>
          <a:bodyPr wrap="square" lIns="0" rIns="0" tIns="0" bIns="0">
            <a:spAutoFit/>
          </a:bodyPr>
          <a:lstStyle/>
          <a:p>
            <a:pPr algn="l">
              <a:lnSpc>
                <a:spcPct val="108000"/>
              </a:lnSpc>
              <a:spcBef>
                <a:spcPts val="0"/>
              </a:spcBef>
              <a:spcAft>
                <a:spcPts val="0"/>
              </a:spcAft>
            </a:pPr>
            <a:r>
              <a:rPr sz="5200" b="1">
                <a:solidFill>
                  <a:srgbClr val="305DE6"/>
                </a:solidFill>
                <a:latin typeface="Arial"/>
              </a:rPr>
              <a:t>SPEC</a:t>
            </a:r>
          </a:p>
        </p:txBody>
      </p:sp>
      <p:sp>
        <p:nvSpPr>
          <p:cNvPr id="9" name="Text: Acceptance / criteria"/>
          <p:cNvSpPr txBox="1"/>
          <p:nvPr/>
        </p:nvSpPr>
        <p:spPr>
          <a:xfrm>
            <a:off x="731520" y="3785615"/>
            <a:ext cx="2331720" cy="1005840"/>
          </a:xfrm>
          <a:prstGeom prst="rect">
            <a:avLst/>
          </a:prstGeom>
          <a:noFill/>
        </p:spPr>
        <p:txBody>
          <a:bodyPr wrap="square" lIns="0" rIns="0" tIns="0" bIns="0">
            <a:spAutoFit/>
          </a:bodyPr>
          <a:lstStyle/>
          <a:p>
            <a:pPr algn="l">
              <a:lnSpc>
                <a:spcPct val="108000"/>
              </a:lnSpc>
              <a:spcBef>
                <a:spcPts val="0"/>
              </a:spcBef>
              <a:spcAft>
                <a:spcPts val="0"/>
              </a:spcAft>
            </a:pPr>
            <a:r>
              <a:rPr sz="2600" b="1">
                <a:solidFill>
                  <a:srgbClr val="17243B"/>
                </a:solidFill>
                <a:latin typeface="Arial"/>
              </a:rPr>
              <a:t>Acceptance</a:t>
            </a:r>
          </a:p>
          <a:p>
            <a:pPr algn="l">
              <a:lnSpc>
                <a:spcPct val="108000"/>
              </a:lnSpc>
              <a:spcBef>
                <a:spcPts val="0"/>
              </a:spcBef>
              <a:spcAft>
                <a:spcPts val="0"/>
              </a:spcAft>
            </a:pPr>
            <a:r>
              <a:rPr sz="2600" b="1">
                <a:solidFill>
                  <a:srgbClr val="17243B"/>
                </a:solidFill>
                <a:latin typeface="Arial"/>
              </a:rPr>
              <a:t>criteria</a:t>
            </a:r>
          </a:p>
        </p:txBody>
      </p:sp>
      <p:cxnSp>
        <p:nvCxnSpPr>
          <p:cNvPr id="10" name="Connector 9"/>
          <p:cNvCxnSpPr/>
          <p:nvPr/>
        </p:nvCxnSpPr>
        <p:spPr>
          <a:xfrm>
            <a:off x="3072384" y="2487168"/>
            <a:ext cx="0" cy="2633472"/>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1" name="Text: GIVEN"/>
          <p:cNvSpPr txBox="1"/>
          <p:nvPr/>
        </p:nvSpPr>
        <p:spPr>
          <a:xfrm>
            <a:off x="3520440" y="2633472"/>
            <a:ext cx="1234440" cy="329184"/>
          </a:xfrm>
          <a:prstGeom prst="rect">
            <a:avLst/>
          </a:prstGeom>
          <a:noFill/>
        </p:spPr>
        <p:txBody>
          <a:bodyPr wrap="square" lIns="0" rIns="0" tIns="0" bIns="0">
            <a:spAutoFit/>
          </a:bodyPr>
          <a:lstStyle/>
          <a:p>
            <a:pPr algn="l">
              <a:lnSpc>
                <a:spcPct val="108000"/>
              </a:lnSpc>
              <a:spcBef>
                <a:spcPts val="0"/>
              </a:spcBef>
              <a:spcAft>
                <a:spcPts val="0"/>
              </a:spcAft>
            </a:pPr>
            <a:r>
              <a:rPr sz="1400" b="1">
                <a:solidFill>
                  <a:srgbClr val="305DE6"/>
                </a:solidFill>
                <a:latin typeface="DejaVu Sans Mono"/>
              </a:rPr>
              <a:t>GIVEN</a:t>
            </a:r>
          </a:p>
        </p:txBody>
      </p:sp>
      <p:sp>
        <p:nvSpPr>
          <p:cNvPr id="12" name="Text: Preconditions and relevant state."/>
          <p:cNvSpPr txBox="1"/>
          <p:nvPr/>
        </p:nvSpPr>
        <p:spPr>
          <a:xfrm>
            <a:off x="4937760" y="2578608"/>
            <a:ext cx="6565392" cy="804672"/>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Preconditions and relevant state.</a:t>
            </a:r>
          </a:p>
        </p:txBody>
      </p:sp>
      <p:sp>
        <p:nvSpPr>
          <p:cNvPr id="13" name="Text: WHEN"/>
          <p:cNvSpPr txBox="1"/>
          <p:nvPr/>
        </p:nvSpPr>
        <p:spPr>
          <a:xfrm>
            <a:off x="3520440" y="3712463"/>
            <a:ext cx="1234440" cy="329184"/>
          </a:xfrm>
          <a:prstGeom prst="rect">
            <a:avLst/>
          </a:prstGeom>
          <a:noFill/>
        </p:spPr>
        <p:txBody>
          <a:bodyPr wrap="square" lIns="0" rIns="0" tIns="0" bIns="0">
            <a:spAutoFit/>
          </a:bodyPr>
          <a:lstStyle/>
          <a:p>
            <a:pPr algn="l">
              <a:lnSpc>
                <a:spcPct val="108000"/>
              </a:lnSpc>
              <a:spcBef>
                <a:spcPts val="0"/>
              </a:spcBef>
              <a:spcAft>
                <a:spcPts val="0"/>
              </a:spcAft>
            </a:pPr>
            <a:r>
              <a:rPr sz="1400" b="1">
                <a:solidFill>
                  <a:srgbClr val="305DE6"/>
                </a:solidFill>
                <a:latin typeface="DejaVu Sans Mono"/>
              </a:rPr>
              <a:t>WHEN</a:t>
            </a:r>
          </a:p>
        </p:txBody>
      </p:sp>
      <p:sp>
        <p:nvSpPr>
          <p:cNvPr id="14" name="Text: The action or event that triggers behavior."/>
          <p:cNvSpPr txBox="1"/>
          <p:nvPr/>
        </p:nvSpPr>
        <p:spPr>
          <a:xfrm>
            <a:off x="4937760" y="3657600"/>
            <a:ext cx="6565392" cy="804672"/>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The action or event that triggers behavior.</a:t>
            </a:r>
          </a:p>
        </p:txBody>
      </p:sp>
      <p:sp>
        <p:nvSpPr>
          <p:cNvPr id="15" name="Text: THEN"/>
          <p:cNvSpPr txBox="1"/>
          <p:nvPr/>
        </p:nvSpPr>
        <p:spPr>
          <a:xfrm>
            <a:off x="3520440" y="4590288"/>
            <a:ext cx="1234440" cy="329184"/>
          </a:xfrm>
          <a:prstGeom prst="rect">
            <a:avLst/>
          </a:prstGeom>
          <a:noFill/>
        </p:spPr>
        <p:txBody>
          <a:bodyPr wrap="square" lIns="0" rIns="0" tIns="0" bIns="0">
            <a:spAutoFit/>
          </a:bodyPr>
          <a:lstStyle/>
          <a:p>
            <a:pPr algn="l">
              <a:lnSpc>
                <a:spcPct val="108000"/>
              </a:lnSpc>
              <a:spcBef>
                <a:spcPts val="0"/>
              </a:spcBef>
              <a:spcAft>
                <a:spcPts val="0"/>
              </a:spcAft>
            </a:pPr>
            <a:r>
              <a:rPr sz="1400" b="1">
                <a:solidFill>
                  <a:srgbClr val="305DE6"/>
                </a:solidFill>
                <a:latin typeface="DejaVu Sans Mono"/>
              </a:rPr>
              <a:t>THEN</a:t>
            </a:r>
          </a:p>
        </p:txBody>
      </p:sp>
      <p:sp>
        <p:nvSpPr>
          <p:cNvPr id="16" name="Text: The observable result and measurable checks."/>
          <p:cNvSpPr txBox="1"/>
          <p:nvPr/>
        </p:nvSpPr>
        <p:spPr>
          <a:xfrm>
            <a:off x="4937760" y="4535424"/>
            <a:ext cx="6565392" cy="804672"/>
          </a:xfrm>
          <a:prstGeom prst="rect">
            <a:avLst/>
          </a:prstGeom>
          <a:noFill/>
        </p:spPr>
        <p:txBody>
          <a:bodyPr wrap="square" lIns="0" rIns="0" tIns="0" bIns="0">
            <a:spAutoFit/>
          </a:bodyPr>
          <a:lstStyle/>
          <a:p>
            <a:pPr algn="l">
              <a:lnSpc>
                <a:spcPct val="108000"/>
              </a:lnSpc>
              <a:spcBef>
                <a:spcPts val="0"/>
              </a:spcBef>
              <a:spcAft>
                <a:spcPts val="0"/>
              </a:spcAft>
            </a:pPr>
            <a:r>
              <a:rPr sz="2300" b="1">
                <a:solidFill>
                  <a:srgbClr val="17243B"/>
                </a:solidFill>
                <a:latin typeface="Arial"/>
              </a:rPr>
              <a:t>The observable result and measurable checks.</a:t>
            </a:r>
          </a:p>
        </p:txBody>
      </p:sp>
      <p:cxnSp>
        <p:nvCxnSpPr>
          <p:cNvPr id="17" name="Connector 16"/>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8" name="Text: Include scope, non-goals, and measurable acceptance criteria."/>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Include scope, non-goals, and measurable acceptance criteria.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CLARIFYING THE REQUIREMENTS"/>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CLARIFYING THE REQUIREMENTS</a:t>
            </a:r>
          </a:p>
        </p:txBody>
      </p:sp>
      <p:sp>
        <p:nvSpPr>
          <p:cNvPr id="5" name="Text: 07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07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solve ambiguity before implementation."/>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Resolve ambiguity before implementation.</a:t>
            </a:r>
          </a:p>
        </p:txBody>
      </p:sp>
      <p:sp>
        <p:nvSpPr>
          <p:cNvPr id="8" name="Text: BOUNDARIES"/>
          <p:cNvSpPr txBox="1"/>
          <p:nvPr/>
        </p:nvSpPr>
        <p:spPr>
          <a:xfrm>
            <a:off x="685800" y="2505456"/>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BOUNDARIES</a:t>
            </a:r>
          </a:p>
        </p:txBody>
      </p:sp>
      <p:sp>
        <p:nvSpPr>
          <p:cNvPr id="9" name="Text: Scope"/>
          <p:cNvSpPr txBox="1"/>
          <p:nvPr/>
        </p:nvSpPr>
        <p:spPr>
          <a:xfrm>
            <a:off x="685800" y="3090672"/>
            <a:ext cx="3291840" cy="914400"/>
          </a:xfrm>
          <a:prstGeom prst="rect">
            <a:avLst/>
          </a:prstGeom>
          <a:noFill/>
        </p:spPr>
        <p:txBody>
          <a:bodyPr wrap="square" lIns="0" rIns="0" tIns="0" bIns="0">
            <a:spAutoFit/>
          </a:bodyPr>
          <a:lstStyle/>
          <a:p>
            <a:pPr algn="l">
              <a:lnSpc>
                <a:spcPct val="108000"/>
              </a:lnSpc>
              <a:spcBef>
                <a:spcPts val="0"/>
              </a:spcBef>
              <a:spcAft>
                <a:spcPts val="0"/>
              </a:spcAft>
            </a:pPr>
            <a:r>
              <a:rPr sz="4200" b="1">
                <a:solidFill>
                  <a:srgbClr val="17243B"/>
                </a:solidFill>
                <a:latin typeface="Arial"/>
              </a:rPr>
              <a:t>Scope</a:t>
            </a:r>
          </a:p>
        </p:txBody>
      </p:sp>
      <p:sp>
        <p:nvSpPr>
          <p:cNvPr id="10" name="Text: Define included and / excluded behavior."/>
          <p:cNvSpPr txBox="1"/>
          <p:nvPr/>
        </p:nvSpPr>
        <p:spPr>
          <a:xfrm>
            <a:off x="685800" y="4197096"/>
            <a:ext cx="3355848" cy="822960"/>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Define included and</a:t>
            </a:r>
          </a:p>
          <a:p>
            <a:pPr algn="l">
              <a:lnSpc>
                <a:spcPct val="108000"/>
              </a:lnSpc>
              <a:spcBef>
                <a:spcPts val="0"/>
              </a:spcBef>
              <a:spcAft>
                <a:spcPts val="0"/>
              </a:spcAft>
            </a:pPr>
            <a:r>
              <a:rPr sz="2300" b="0">
                <a:solidFill>
                  <a:srgbClr val="17243B"/>
                </a:solidFill>
                <a:latin typeface="Arial"/>
              </a:rPr>
              <a:t>excluded behavior.</a:t>
            </a:r>
          </a:p>
        </p:txBody>
      </p:sp>
      <p:cxnSp>
        <p:nvCxnSpPr>
          <p:cNvPr id="11" name="Connector 10"/>
          <p:cNvCxnSpPr/>
          <p:nvPr/>
        </p:nvCxnSpPr>
        <p:spPr>
          <a:xfrm>
            <a:off x="4133087" y="2487168"/>
            <a:ext cx="0" cy="2953512"/>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2" name="Text: DECISIONS"/>
          <p:cNvSpPr txBox="1"/>
          <p:nvPr/>
        </p:nvSpPr>
        <p:spPr>
          <a:xfrm>
            <a:off x="4453128" y="2505456"/>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DECISIONS</a:t>
            </a:r>
          </a:p>
        </p:txBody>
      </p:sp>
      <p:sp>
        <p:nvSpPr>
          <p:cNvPr id="13" name="Text: Rules"/>
          <p:cNvSpPr txBox="1"/>
          <p:nvPr/>
        </p:nvSpPr>
        <p:spPr>
          <a:xfrm>
            <a:off x="4453128" y="3090672"/>
            <a:ext cx="3291840" cy="914400"/>
          </a:xfrm>
          <a:prstGeom prst="rect">
            <a:avLst/>
          </a:prstGeom>
          <a:noFill/>
        </p:spPr>
        <p:txBody>
          <a:bodyPr wrap="square" lIns="0" rIns="0" tIns="0" bIns="0">
            <a:spAutoFit/>
          </a:bodyPr>
          <a:lstStyle/>
          <a:p>
            <a:pPr algn="l">
              <a:lnSpc>
                <a:spcPct val="108000"/>
              </a:lnSpc>
              <a:spcBef>
                <a:spcPts val="0"/>
              </a:spcBef>
              <a:spcAft>
                <a:spcPts val="0"/>
              </a:spcAft>
            </a:pPr>
            <a:r>
              <a:rPr sz="4200" b="1">
                <a:solidFill>
                  <a:srgbClr val="17243B"/>
                </a:solidFill>
                <a:latin typeface="Arial"/>
              </a:rPr>
              <a:t>Rules</a:t>
            </a:r>
          </a:p>
        </p:txBody>
      </p:sp>
      <p:sp>
        <p:nvSpPr>
          <p:cNvPr id="14" name="Text: Record permissions, / limits, and constraints."/>
          <p:cNvSpPr txBox="1"/>
          <p:nvPr/>
        </p:nvSpPr>
        <p:spPr>
          <a:xfrm>
            <a:off x="4453128" y="4197096"/>
            <a:ext cx="3355848" cy="822960"/>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Record permissions,</a:t>
            </a:r>
          </a:p>
          <a:p>
            <a:pPr algn="l">
              <a:lnSpc>
                <a:spcPct val="108000"/>
              </a:lnSpc>
              <a:spcBef>
                <a:spcPts val="0"/>
              </a:spcBef>
              <a:spcAft>
                <a:spcPts val="0"/>
              </a:spcAft>
            </a:pPr>
            <a:r>
              <a:rPr sz="2300" b="0">
                <a:solidFill>
                  <a:srgbClr val="17243B"/>
                </a:solidFill>
                <a:latin typeface="Arial"/>
              </a:rPr>
              <a:t>limits, and constraints.</a:t>
            </a:r>
          </a:p>
        </p:txBody>
      </p:sp>
      <p:cxnSp>
        <p:nvCxnSpPr>
          <p:cNvPr id="15" name="Connector 14"/>
          <p:cNvCxnSpPr/>
          <p:nvPr/>
        </p:nvCxnSpPr>
        <p:spPr>
          <a:xfrm>
            <a:off x="7900416" y="2487168"/>
            <a:ext cx="0" cy="2953512"/>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6" name="Text: ERROR HANDLING"/>
          <p:cNvSpPr txBox="1"/>
          <p:nvPr/>
        </p:nvSpPr>
        <p:spPr>
          <a:xfrm>
            <a:off x="8220456" y="2505456"/>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ERROR HANDLING</a:t>
            </a:r>
          </a:p>
        </p:txBody>
      </p:sp>
      <p:sp>
        <p:nvSpPr>
          <p:cNvPr id="17" name="Text: Failures"/>
          <p:cNvSpPr txBox="1"/>
          <p:nvPr/>
        </p:nvSpPr>
        <p:spPr>
          <a:xfrm>
            <a:off x="8220456" y="3090672"/>
            <a:ext cx="3291840" cy="914400"/>
          </a:xfrm>
          <a:prstGeom prst="rect">
            <a:avLst/>
          </a:prstGeom>
          <a:noFill/>
        </p:spPr>
        <p:txBody>
          <a:bodyPr wrap="square" lIns="0" rIns="0" tIns="0" bIns="0">
            <a:spAutoFit/>
          </a:bodyPr>
          <a:lstStyle/>
          <a:p>
            <a:pPr algn="l">
              <a:lnSpc>
                <a:spcPct val="108000"/>
              </a:lnSpc>
              <a:spcBef>
                <a:spcPts val="0"/>
              </a:spcBef>
              <a:spcAft>
                <a:spcPts val="0"/>
              </a:spcAft>
            </a:pPr>
            <a:r>
              <a:rPr sz="4200" b="1">
                <a:solidFill>
                  <a:srgbClr val="17243B"/>
                </a:solidFill>
                <a:latin typeface="Arial"/>
              </a:rPr>
              <a:t>Failures</a:t>
            </a:r>
          </a:p>
        </p:txBody>
      </p:sp>
      <p:sp>
        <p:nvSpPr>
          <p:cNvPr id="18" name="Text: Define invalid states / and recovery behavior."/>
          <p:cNvSpPr txBox="1"/>
          <p:nvPr/>
        </p:nvSpPr>
        <p:spPr>
          <a:xfrm>
            <a:off x="8220456" y="4197096"/>
            <a:ext cx="3355848" cy="822960"/>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Define invalid states</a:t>
            </a:r>
          </a:p>
          <a:p>
            <a:pPr algn="l">
              <a:lnSpc>
                <a:spcPct val="108000"/>
              </a:lnSpc>
              <a:spcBef>
                <a:spcPts val="0"/>
              </a:spcBef>
              <a:spcAft>
                <a:spcPts val="0"/>
              </a:spcAft>
            </a:pPr>
            <a:r>
              <a:rPr sz="2300" b="0">
                <a:solidFill>
                  <a:srgbClr val="17243B"/>
                </a:solidFill>
                <a:latin typeface="Arial"/>
              </a:rPr>
              <a:t>and recovery behavior.</a:t>
            </a:r>
          </a:p>
        </p:txBody>
      </p:sp>
      <p:cxnSp>
        <p:nvCxnSpPr>
          <p:cNvPr id="19" name="Connector 18"/>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0" name="Text: Clarify consequential unknowns. Make assumptions visible."/>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Clarify consequential unknowns. Make assumptions visible.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REUSING A PROVEN FOUNDATION"/>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REUSING A PROVEN FOUNDATION</a:t>
            </a:r>
          </a:p>
        </p:txBody>
      </p:sp>
      <p:sp>
        <p:nvSpPr>
          <p:cNvPr id="5" name="Text: 08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08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use a verified foundation."/>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Reuse a verified foundation.</a:t>
            </a:r>
          </a:p>
        </p:txBody>
      </p:sp>
      <p:sp>
        <p:nvSpPr>
          <p:cNvPr id="8" name="Text: 01 / REUSE"/>
          <p:cNvSpPr txBox="1"/>
          <p:nvPr/>
        </p:nvSpPr>
        <p:spPr>
          <a:xfrm>
            <a:off x="685800" y="2542032"/>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01 / REUSE</a:t>
            </a:r>
          </a:p>
        </p:txBody>
      </p:sp>
      <p:sp>
        <p:nvSpPr>
          <p:cNvPr id="9" name="Text: Proven template"/>
          <p:cNvSpPr txBox="1"/>
          <p:nvPr/>
        </p:nvSpPr>
        <p:spPr>
          <a:xfrm>
            <a:off x="685800" y="3163824"/>
            <a:ext cx="3291840" cy="594360"/>
          </a:xfrm>
          <a:prstGeom prst="rect">
            <a:avLst/>
          </a:prstGeom>
          <a:noFill/>
        </p:spPr>
        <p:txBody>
          <a:bodyPr wrap="square" lIns="0" rIns="0" tIns="0" bIns="0">
            <a:spAutoFit/>
          </a:bodyPr>
          <a:lstStyle/>
          <a:p>
            <a:pPr algn="l">
              <a:lnSpc>
                <a:spcPct val="108000"/>
              </a:lnSpc>
              <a:spcBef>
                <a:spcPts val="0"/>
              </a:spcBef>
              <a:spcAft>
                <a:spcPts val="0"/>
              </a:spcAft>
            </a:pPr>
            <a:r>
              <a:rPr sz="2600" b="1">
                <a:solidFill>
                  <a:srgbClr val="17243B"/>
                </a:solidFill>
                <a:latin typeface="Arial"/>
              </a:rPr>
              <a:t>Proven template</a:t>
            </a:r>
          </a:p>
        </p:txBody>
      </p:sp>
      <p:sp>
        <p:nvSpPr>
          <p:cNvPr id="10" name="Text: Reviewed architecture / and tested components."/>
          <p:cNvSpPr txBox="1"/>
          <p:nvPr/>
        </p:nvSpPr>
        <p:spPr>
          <a:xfrm>
            <a:off x="685800" y="4023360"/>
            <a:ext cx="3319272" cy="832104"/>
          </a:xfrm>
          <a:prstGeom prst="rect">
            <a:avLst/>
          </a:prstGeom>
          <a:noFill/>
        </p:spPr>
        <p:txBody>
          <a:bodyPr wrap="square" lIns="0" rIns="0" tIns="0" bIns="0">
            <a:spAutoFit/>
          </a:bodyPr>
          <a:lstStyle/>
          <a:p>
            <a:pPr algn="l">
              <a:lnSpc>
                <a:spcPct val="108000"/>
              </a:lnSpc>
              <a:spcBef>
                <a:spcPts val="0"/>
              </a:spcBef>
              <a:spcAft>
                <a:spcPts val="0"/>
              </a:spcAft>
            </a:pPr>
            <a:r>
              <a:rPr sz="2200" b="0">
                <a:solidFill>
                  <a:srgbClr val="17243B"/>
                </a:solidFill>
                <a:latin typeface="Arial"/>
              </a:rPr>
              <a:t>Reviewed architecture</a:t>
            </a:r>
          </a:p>
          <a:p>
            <a:pPr algn="l">
              <a:lnSpc>
                <a:spcPct val="108000"/>
              </a:lnSpc>
              <a:spcBef>
                <a:spcPts val="0"/>
              </a:spcBef>
              <a:spcAft>
                <a:spcPts val="0"/>
              </a:spcAft>
            </a:pPr>
            <a:r>
              <a:rPr sz="2200" b="0">
                <a:solidFill>
                  <a:srgbClr val="17243B"/>
                </a:solidFill>
                <a:latin typeface="Arial"/>
              </a:rPr>
              <a:t>and tested components.</a:t>
            </a:r>
          </a:p>
        </p:txBody>
      </p:sp>
      <p:sp>
        <p:nvSpPr>
          <p:cNvPr id="11" name="Text: Less reinvention"/>
          <p:cNvSpPr txBox="1"/>
          <p:nvPr/>
        </p:nvSpPr>
        <p:spPr>
          <a:xfrm>
            <a:off x="685800" y="5102352"/>
            <a:ext cx="3319272" cy="347472"/>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147D72"/>
                </a:solidFill>
                <a:latin typeface="Arial"/>
              </a:rPr>
              <a:t>Less reinvention</a:t>
            </a:r>
          </a:p>
        </p:txBody>
      </p:sp>
      <p:cxnSp>
        <p:nvCxnSpPr>
          <p:cNvPr id="12" name="Connector 11"/>
          <p:cNvCxnSpPr/>
          <p:nvPr/>
        </p:nvCxnSpPr>
        <p:spPr>
          <a:xfrm>
            <a:off x="4142231"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3" name="Text: 02 / REPRODUCE"/>
          <p:cNvSpPr txBox="1"/>
          <p:nvPr/>
        </p:nvSpPr>
        <p:spPr>
          <a:xfrm>
            <a:off x="4453128" y="2542032"/>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02 / REPRODUCE</a:t>
            </a:r>
          </a:p>
        </p:txBody>
      </p:sp>
      <p:sp>
        <p:nvSpPr>
          <p:cNvPr id="14" name="Text: AI repeats patterns"/>
          <p:cNvSpPr txBox="1"/>
          <p:nvPr/>
        </p:nvSpPr>
        <p:spPr>
          <a:xfrm>
            <a:off x="4453128" y="3163824"/>
            <a:ext cx="3291840" cy="594360"/>
          </a:xfrm>
          <a:prstGeom prst="rect">
            <a:avLst/>
          </a:prstGeom>
          <a:noFill/>
        </p:spPr>
        <p:txBody>
          <a:bodyPr wrap="square" lIns="0" rIns="0" tIns="0" bIns="0">
            <a:spAutoFit/>
          </a:bodyPr>
          <a:lstStyle/>
          <a:p>
            <a:pPr algn="l">
              <a:lnSpc>
                <a:spcPct val="108000"/>
              </a:lnSpc>
              <a:spcBef>
                <a:spcPts val="0"/>
              </a:spcBef>
              <a:spcAft>
                <a:spcPts val="0"/>
              </a:spcAft>
            </a:pPr>
            <a:r>
              <a:rPr sz="2600" b="1">
                <a:solidFill>
                  <a:srgbClr val="17243B"/>
                </a:solidFill>
                <a:latin typeface="Arial"/>
              </a:rPr>
              <a:t>AI repeats patterns</a:t>
            </a:r>
          </a:p>
        </p:txBody>
      </p:sp>
      <p:sp>
        <p:nvSpPr>
          <p:cNvPr id="15" name="Text: Reuse structure / and conventions."/>
          <p:cNvSpPr txBox="1"/>
          <p:nvPr/>
        </p:nvSpPr>
        <p:spPr>
          <a:xfrm>
            <a:off x="4453128" y="4023360"/>
            <a:ext cx="3319272" cy="832104"/>
          </a:xfrm>
          <a:prstGeom prst="rect">
            <a:avLst/>
          </a:prstGeom>
          <a:noFill/>
        </p:spPr>
        <p:txBody>
          <a:bodyPr wrap="square" lIns="0" rIns="0" tIns="0" bIns="0">
            <a:spAutoFit/>
          </a:bodyPr>
          <a:lstStyle/>
          <a:p>
            <a:pPr algn="l">
              <a:lnSpc>
                <a:spcPct val="108000"/>
              </a:lnSpc>
              <a:spcBef>
                <a:spcPts val="0"/>
              </a:spcBef>
              <a:spcAft>
                <a:spcPts val="0"/>
              </a:spcAft>
            </a:pPr>
            <a:r>
              <a:rPr sz="2200" b="0">
                <a:solidFill>
                  <a:srgbClr val="17243B"/>
                </a:solidFill>
                <a:latin typeface="Arial"/>
              </a:rPr>
              <a:t>Reuse structure</a:t>
            </a:r>
          </a:p>
          <a:p>
            <a:pPr algn="l">
              <a:lnSpc>
                <a:spcPct val="108000"/>
              </a:lnSpc>
              <a:spcBef>
                <a:spcPts val="0"/>
              </a:spcBef>
              <a:spcAft>
                <a:spcPts val="0"/>
              </a:spcAft>
            </a:pPr>
            <a:r>
              <a:rPr sz="2200" b="0">
                <a:solidFill>
                  <a:srgbClr val="17243B"/>
                </a:solidFill>
                <a:latin typeface="Arial"/>
              </a:rPr>
              <a:t>and conventions.</a:t>
            </a:r>
          </a:p>
        </p:txBody>
      </p:sp>
      <p:sp>
        <p:nvSpPr>
          <p:cNvPr id="16" name="Text: More consistent code"/>
          <p:cNvSpPr txBox="1"/>
          <p:nvPr/>
        </p:nvSpPr>
        <p:spPr>
          <a:xfrm>
            <a:off x="4453128" y="5102352"/>
            <a:ext cx="3319272" cy="347472"/>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147D72"/>
                </a:solidFill>
                <a:latin typeface="Arial"/>
              </a:rPr>
              <a:t>More consistent code</a:t>
            </a:r>
          </a:p>
        </p:txBody>
      </p:sp>
      <p:cxnSp>
        <p:nvCxnSpPr>
          <p:cNvPr id="17" name="Connector 16"/>
          <p:cNvCxnSpPr/>
          <p:nvPr/>
        </p:nvCxnSpPr>
        <p:spPr>
          <a:xfrm>
            <a:off x="7909560"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8" name="Text: 03 / VERIFY"/>
          <p:cNvSpPr txBox="1"/>
          <p:nvPr/>
        </p:nvSpPr>
        <p:spPr>
          <a:xfrm>
            <a:off x="8220456" y="2542032"/>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03 / VERIFY</a:t>
            </a:r>
          </a:p>
        </p:txBody>
      </p:sp>
      <p:sp>
        <p:nvSpPr>
          <p:cNvPr id="19" name="Text: Repeatable checks"/>
          <p:cNvSpPr txBox="1"/>
          <p:nvPr/>
        </p:nvSpPr>
        <p:spPr>
          <a:xfrm>
            <a:off x="8220456" y="3163824"/>
            <a:ext cx="3291840" cy="594360"/>
          </a:xfrm>
          <a:prstGeom prst="rect">
            <a:avLst/>
          </a:prstGeom>
          <a:noFill/>
        </p:spPr>
        <p:txBody>
          <a:bodyPr wrap="square" lIns="0" rIns="0" tIns="0" bIns="0">
            <a:spAutoFit/>
          </a:bodyPr>
          <a:lstStyle/>
          <a:p>
            <a:pPr algn="l">
              <a:lnSpc>
                <a:spcPct val="108000"/>
              </a:lnSpc>
              <a:spcBef>
                <a:spcPts val="0"/>
              </a:spcBef>
              <a:spcAft>
                <a:spcPts val="0"/>
              </a:spcAft>
            </a:pPr>
            <a:r>
              <a:rPr sz="2600" b="1">
                <a:solidFill>
                  <a:srgbClr val="17243B"/>
                </a:solidFill>
                <a:latin typeface="Arial"/>
              </a:rPr>
              <a:t>Repeatable checks</a:t>
            </a:r>
          </a:p>
        </p:txBody>
      </p:sp>
      <p:sp>
        <p:nvSpPr>
          <p:cNvPr id="20" name="Text: Reuse build, tests, / and review standards."/>
          <p:cNvSpPr txBox="1"/>
          <p:nvPr/>
        </p:nvSpPr>
        <p:spPr>
          <a:xfrm>
            <a:off x="8220456" y="4023360"/>
            <a:ext cx="3319272" cy="832104"/>
          </a:xfrm>
          <a:prstGeom prst="rect">
            <a:avLst/>
          </a:prstGeom>
          <a:noFill/>
        </p:spPr>
        <p:txBody>
          <a:bodyPr wrap="square" lIns="0" rIns="0" tIns="0" bIns="0">
            <a:spAutoFit/>
          </a:bodyPr>
          <a:lstStyle/>
          <a:p>
            <a:pPr algn="l">
              <a:lnSpc>
                <a:spcPct val="108000"/>
              </a:lnSpc>
              <a:spcBef>
                <a:spcPts val="0"/>
              </a:spcBef>
              <a:spcAft>
                <a:spcPts val="0"/>
              </a:spcAft>
            </a:pPr>
            <a:r>
              <a:rPr sz="2200" b="0">
                <a:solidFill>
                  <a:srgbClr val="17243B"/>
                </a:solidFill>
                <a:latin typeface="Arial"/>
              </a:rPr>
              <a:t>Reuse build, tests,</a:t>
            </a:r>
          </a:p>
          <a:p>
            <a:pPr algn="l">
              <a:lnSpc>
                <a:spcPct val="108000"/>
              </a:lnSpc>
              <a:spcBef>
                <a:spcPts val="0"/>
              </a:spcBef>
              <a:spcAft>
                <a:spcPts val="0"/>
              </a:spcAft>
            </a:pPr>
            <a:r>
              <a:rPr sz="2200" b="0">
                <a:solidFill>
                  <a:srgbClr val="17243B"/>
                </a:solidFill>
                <a:latin typeface="Arial"/>
              </a:rPr>
              <a:t>and review standards.</a:t>
            </a:r>
          </a:p>
        </p:txBody>
      </p:sp>
      <p:sp>
        <p:nvSpPr>
          <p:cNvPr id="21" name="Text: Trust backed by evidence"/>
          <p:cNvSpPr txBox="1"/>
          <p:nvPr/>
        </p:nvSpPr>
        <p:spPr>
          <a:xfrm>
            <a:off x="8220456" y="5102352"/>
            <a:ext cx="3319272" cy="347472"/>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147D72"/>
                </a:solidFill>
                <a:latin typeface="Arial"/>
              </a:rPr>
              <a:t>Trust backed by evidence</a:t>
            </a:r>
          </a:p>
        </p:txBody>
      </p:sp>
      <p:cxnSp>
        <p:nvCxnSpPr>
          <p:cNvPr id="22" name="Connector 21"/>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3" name="Text: A proven baseline reduces guesswork and supports reproducible beh"/>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A proven baseline reduces guesswork and supports reproducible behavior.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COMPARING THE APPROACHES"/>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COMPARING THE APPROACHES</a:t>
            </a:r>
          </a:p>
        </p:txBody>
      </p:sp>
      <p:sp>
        <p:nvSpPr>
          <p:cNvPr id="5" name="Text: 09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09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SDD vs. Vibe Coding"/>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SDD vs. Vibe Coding</a:t>
            </a:r>
          </a:p>
        </p:txBody>
      </p:sp>
      <p:sp>
        <p:nvSpPr>
          <p:cNvPr id="8" name="Text: Vibe Coding"/>
          <p:cNvSpPr txBox="1"/>
          <p:nvPr/>
        </p:nvSpPr>
        <p:spPr>
          <a:xfrm>
            <a:off x="2971800" y="2450592"/>
            <a:ext cx="3886200" cy="530352"/>
          </a:xfrm>
          <a:prstGeom prst="rect">
            <a:avLst/>
          </a:prstGeom>
          <a:noFill/>
        </p:spPr>
        <p:txBody>
          <a:bodyPr wrap="square" lIns="0" rIns="0" tIns="0" bIns="0">
            <a:spAutoFit/>
          </a:bodyPr>
          <a:lstStyle/>
          <a:p>
            <a:pPr algn="l">
              <a:lnSpc>
                <a:spcPct val="108000"/>
              </a:lnSpc>
              <a:spcBef>
                <a:spcPts val="0"/>
              </a:spcBef>
              <a:spcAft>
                <a:spcPts val="0"/>
              </a:spcAft>
            </a:pPr>
            <a:r>
              <a:rPr sz="2900" b="1">
                <a:solidFill>
                  <a:srgbClr val="5B6980"/>
                </a:solidFill>
                <a:latin typeface="Arial"/>
              </a:rPr>
              <a:t>Vibe Coding</a:t>
            </a:r>
          </a:p>
        </p:txBody>
      </p:sp>
      <p:sp>
        <p:nvSpPr>
          <p:cNvPr id="9" name="Text: SDD"/>
          <p:cNvSpPr txBox="1"/>
          <p:nvPr/>
        </p:nvSpPr>
        <p:spPr>
          <a:xfrm>
            <a:off x="7360920" y="2450592"/>
            <a:ext cx="4142232" cy="530352"/>
          </a:xfrm>
          <a:prstGeom prst="rect">
            <a:avLst/>
          </a:prstGeom>
          <a:noFill/>
        </p:spPr>
        <p:txBody>
          <a:bodyPr wrap="square" lIns="0" rIns="0" tIns="0" bIns="0">
            <a:spAutoFit/>
          </a:bodyPr>
          <a:lstStyle/>
          <a:p>
            <a:pPr algn="l">
              <a:lnSpc>
                <a:spcPct val="108000"/>
              </a:lnSpc>
              <a:spcBef>
                <a:spcPts val="0"/>
              </a:spcBef>
              <a:spcAft>
                <a:spcPts val="0"/>
              </a:spcAft>
            </a:pPr>
            <a:r>
              <a:rPr sz="2900" b="1">
                <a:solidFill>
                  <a:srgbClr val="305DE6"/>
                </a:solidFill>
                <a:latin typeface="Arial"/>
              </a:rPr>
              <a:t>SDD</a:t>
            </a:r>
          </a:p>
        </p:txBody>
      </p:sp>
      <p:cxnSp>
        <p:nvCxnSpPr>
          <p:cNvPr id="10" name="Connector 9"/>
          <p:cNvCxnSpPr/>
          <p:nvPr/>
        </p:nvCxnSpPr>
        <p:spPr>
          <a:xfrm>
            <a:off x="685800" y="3090672"/>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1" name="Text: Intent"/>
          <p:cNvSpPr txBox="1"/>
          <p:nvPr/>
        </p:nvSpPr>
        <p:spPr>
          <a:xfrm>
            <a:off x="685800" y="3300984"/>
            <a:ext cx="1965960" cy="365760"/>
          </a:xfrm>
          <a:prstGeom prst="rect">
            <a:avLst/>
          </a:prstGeom>
          <a:noFill/>
        </p:spPr>
        <p:txBody>
          <a:bodyPr wrap="square" lIns="0" rIns="0" tIns="0" bIns="0">
            <a:spAutoFit/>
          </a:bodyPr>
          <a:lstStyle/>
          <a:p>
            <a:pPr algn="l">
              <a:lnSpc>
                <a:spcPct val="108000"/>
              </a:lnSpc>
              <a:spcBef>
                <a:spcPts val="0"/>
              </a:spcBef>
              <a:spcAft>
                <a:spcPts val="0"/>
              </a:spcAft>
            </a:pPr>
            <a:r>
              <a:rPr sz="1800" b="1">
                <a:solidFill>
                  <a:srgbClr val="17243B"/>
                </a:solidFill>
                <a:latin typeface="Arial"/>
              </a:rPr>
              <a:t>Intent</a:t>
            </a:r>
          </a:p>
        </p:txBody>
      </p:sp>
      <p:sp>
        <p:nvSpPr>
          <p:cNvPr id="12" name="Text: Prompt-led, evolving"/>
          <p:cNvSpPr txBox="1"/>
          <p:nvPr/>
        </p:nvSpPr>
        <p:spPr>
          <a:xfrm>
            <a:off x="2971800" y="3246120"/>
            <a:ext cx="3886200" cy="694944"/>
          </a:xfrm>
          <a:prstGeom prst="rect">
            <a:avLst/>
          </a:prstGeom>
          <a:noFill/>
        </p:spPr>
        <p:txBody>
          <a:bodyPr wrap="square" lIns="0" rIns="0" tIns="0" bIns="0">
            <a:spAutoFit/>
          </a:bodyPr>
          <a:lstStyle/>
          <a:p>
            <a:pPr algn="l">
              <a:lnSpc>
                <a:spcPct val="108000"/>
              </a:lnSpc>
              <a:spcBef>
                <a:spcPts val="0"/>
              </a:spcBef>
              <a:spcAft>
                <a:spcPts val="0"/>
              </a:spcAft>
            </a:pPr>
            <a:r>
              <a:rPr sz="2200" b="0">
                <a:solidFill>
                  <a:srgbClr val="5B6980"/>
                </a:solidFill>
                <a:latin typeface="Arial"/>
              </a:rPr>
              <a:t>Prompt-led, evolving</a:t>
            </a:r>
          </a:p>
        </p:txBody>
      </p:sp>
      <p:sp>
        <p:nvSpPr>
          <p:cNvPr id="13" name="Text: Versioned requirements"/>
          <p:cNvSpPr txBox="1"/>
          <p:nvPr/>
        </p:nvSpPr>
        <p:spPr>
          <a:xfrm>
            <a:off x="7360920" y="3246120"/>
            <a:ext cx="4142232" cy="694944"/>
          </a:xfrm>
          <a:prstGeom prst="rect">
            <a:avLst/>
          </a:prstGeom>
          <a:noFill/>
        </p:spPr>
        <p:txBody>
          <a:bodyPr wrap="square" lIns="0" rIns="0" tIns="0" bIns="0">
            <a:spAutoFit/>
          </a:bodyPr>
          <a:lstStyle/>
          <a:p>
            <a:pPr algn="l">
              <a:lnSpc>
                <a:spcPct val="108000"/>
              </a:lnSpc>
              <a:spcBef>
                <a:spcPts val="0"/>
              </a:spcBef>
              <a:spcAft>
                <a:spcPts val="0"/>
              </a:spcAft>
            </a:pPr>
            <a:r>
              <a:rPr sz="2200" b="1">
                <a:solidFill>
                  <a:srgbClr val="17243B"/>
                </a:solidFill>
                <a:latin typeface="Arial"/>
              </a:rPr>
              <a:t>Versioned requirements</a:t>
            </a:r>
          </a:p>
        </p:txBody>
      </p:sp>
      <p:cxnSp>
        <p:nvCxnSpPr>
          <p:cNvPr id="14" name="Connector 13"/>
          <p:cNvCxnSpPr/>
          <p:nvPr/>
        </p:nvCxnSpPr>
        <p:spPr>
          <a:xfrm>
            <a:off x="685800" y="3877056"/>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5" name="Text: Review"/>
          <p:cNvSpPr txBox="1"/>
          <p:nvPr/>
        </p:nvSpPr>
        <p:spPr>
          <a:xfrm>
            <a:off x="685800" y="4087368"/>
            <a:ext cx="1965960" cy="365760"/>
          </a:xfrm>
          <a:prstGeom prst="rect">
            <a:avLst/>
          </a:prstGeom>
          <a:noFill/>
        </p:spPr>
        <p:txBody>
          <a:bodyPr wrap="square" lIns="0" rIns="0" tIns="0" bIns="0">
            <a:spAutoFit/>
          </a:bodyPr>
          <a:lstStyle/>
          <a:p>
            <a:pPr algn="l">
              <a:lnSpc>
                <a:spcPct val="108000"/>
              </a:lnSpc>
              <a:spcBef>
                <a:spcPts val="0"/>
              </a:spcBef>
              <a:spcAft>
                <a:spcPts val="0"/>
              </a:spcAft>
            </a:pPr>
            <a:r>
              <a:rPr sz="1800" b="1">
                <a:solidFill>
                  <a:srgbClr val="17243B"/>
                </a:solidFill>
                <a:latin typeface="Arial"/>
              </a:rPr>
              <a:t>Review</a:t>
            </a:r>
          </a:p>
        </p:txBody>
      </p:sp>
      <p:sp>
        <p:nvSpPr>
          <p:cNvPr id="16" name="Text: Code accepted unread"/>
          <p:cNvSpPr txBox="1"/>
          <p:nvPr/>
        </p:nvSpPr>
        <p:spPr>
          <a:xfrm>
            <a:off x="2971800" y="4032504"/>
            <a:ext cx="3886200" cy="694944"/>
          </a:xfrm>
          <a:prstGeom prst="rect">
            <a:avLst/>
          </a:prstGeom>
          <a:noFill/>
        </p:spPr>
        <p:txBody>
          <a:bodyPr wrap="square" lIns="0" rIns="0" tIns="0" bIns="0">
            <a:spAutoFit/>
          </a:bodyPr>
          <a:lstStyle/>
          <a:p>
            <a:pPr algn="l">
              <a:lnSpc>
                <a:spcPct val="108000"/>
              </a:lnSpc>
              <a:spcBef>
                <a:spcPts val="0"/>
              </a:spcBef>
              <a:spcAft>
                <a:spcPts val="0"/>
              </a:spcAft>
            </a:pPr>
            <a:r>
              <a:rPr sz="2200" b="0">
                <a:solidFill>
                  <a:srgbClr val="5B6980"/>
                </a:solidFill>
                <a:latin typeface="Arial"/>
              </a:rPr>
              <a:t>Code accepted unread</a:t>
            </a:r>
          </a:p>
        </p:txBody>
      </p:sp>
      <p:sp>
        <p:nvSpPr>
          <p:cNvPr id="17" name="Text: Reviewed and understood"/>
          <p:cNvSpPr txBox="1"/>
          <p:nvPr/>
        </p:nvSpPr>
        <p:spPr>
          <a:xfrm>
            <a:off x="7360920" y="4032504"/>
            <a:ext cx="4142232" cy="694944"/>
          </a:xfrm>
          <a:prstGeom prst="rect">
            <a:avLst/>
          </a:prstGeom>
          <a:noFill/>
        </p:spPr>
        <p:txBody>
          <a:bodyPr wrap="square" lIns="0" rIns="0" tIns="0" bIns="0">
            <a:spAutoFit/>
          </a:bodyPr>
          <a:lstStyle/>
          <a:p>
            <a:pPr algn="l">
              <a:lnSpc>
                <a:spcPct val="108000"/>
              </a:lnSpc>
              <a:spcBef>
                <a:spcPts val="0"/>
              </a:spcBef>
              <a:spcAft>
                <a:spcPts val="0"/>
              </a:spcAft>
            </a:pPr>
            <a:r>
              <a:rPr sz="2200" b="1">
                <a:solidFill>
                  <a:srgbClr val="17243B"/>
                </a:solidFill>
                <a:latin typeface="Arial"/>
              </a:rPr>
              <a:t>Reviewed and understood</a:t>
            </a:r>
          </a:p>
        </p:txBody>
      </p:sp>
      <p:cxnSp>
        <p:nvCxnSpPr>
          <p:cNvPr id="18" name="Connector 17"/>
          <p:cNvCxnSpPr/>
          <p:nvPr/>
        </p:nvCxnSpPr>
        <p:spPr>
          <a:xfrm>
            <a:off x="685800" y="466344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9" name="Text: Acceptance"/>
          <p:cNvSpPr txBox="1"/>
          <p:nvPr/>
        </p:nvSpPr>
        <p:spPr>
          <a:xfrm>
            <a:off x="685800" y="4873751"/>
            <a:ext cx="1965960" cy="365760"/>
          </a:xfrm>
          <a:prstGeom prst="rect">
            <a:avLst/>
          </a:prstGeom>
          <a:noFill/>
        </p:spPr>
        <p:txBody>
          <a:bodyPr wrap="square" lIns="0" rIns="0" tIns="0" bIns="0">
            <a:spAutoFit/>
          </a:bodyPr>
          <a:lstStyle/>
          <a:p>
            <a:pPr algn="l">
              <a:lnSpc>
                <a:spcPct val="108000"/>
              </a:lnSpc>
              <a:spcBef>
                <a:spcPts val="0"/>
              </a:spcBef>
              <a:spcAft>
                <a:spcPts val="0"/>
              </a:spcAft>
            </a:pPr>
            <a:r>
              <a:rPr sz="1800" b="1">
                <a:solidFill>
                  <a:srgbClr val="17243B"/>
                </a:solidFill>
                <a:latin typeface="Arial"/>
              </a:rPr>
              <a:t>Acceptance</a:t>
            </a:r>
          </a:p>
        </p:txBody>
      </p:sp>
      <p:sp>
        <p:nvSpPr>
          <p:cNvPr id="20" name="Text: Apparent behavior"/>
          <p:cNvSpPr txBox="1"/>
          <p:nvPr/>
        </p:nvSpPr>
        <p:spPr>
          <a:xfrm>
            <a:off x="2971800" y="4818888"/>
            <a:ext cx="3886200" cy="694944"/>
          </a:xfrm>
          <a:prstGeom prst="rect">
            <a:avLst/>
          </a:prstGeom>
          <a:noFill/>
        </p:spPr>
        <p:txBody>
          <a:bodyPr wrap="square" lIns="0" rIns="0" tIns="0" bIns="0">
            <a:spAutoFit/>
          </a:bodyPr>
          <a:lstStyle/>
          <a:p>
            <a:pPr algn="l">
              <a:lnSpc>
                <a:spcPct val="108000"/>
              </a:lnSpc>
              <a:spcBef>
                <a:spcPts val="0"/>
              </a:spcBef>
              <a:spcAft>
                <a:spcPts val="0"/>
              </a:spcAft>
            </a:pPr>
            <a:r>
              <a:rPr sz="2200" b="0">
                <a:solidFill>
                  <a:srgbClr val="5B6980"/>
                </a:solidFill>
                <a:latin typeface="Arial"/>
              </a:rPr>
              <a:t>Apparent behavior</a:t>
            </a:r>
          </a:p>
        </p:txBody>
      </p:sp>
      <p:sp>
        <p:nvSpPr>
          <p:cNvPr id="21" name="Text: Criteria + recorded checks"/>
          <p:cNvSpPr txBox="1"/>
          <p:nvPr/>
        </p:nvSpPr>
        <p:spPr>
          <a:xfrm>
            <a:off x="7360920" y="4818888"/>
            <a:ext cx="4142232" cy="694944"/>
          </a:xfrm>
          <a:prstGeom prst="rect">
            <a:avLst/>
          </a:prstGeom>
          <a:noFill/>
        </p:spPr>
        <p:txBody>
          <a:bodyPr wrap="square" lIns="0" rIns="0" tIns="0" bIns="0">
            <a:spAutoFit/>
          </a:bodyPr>
          <a:lstStyle/>
          <a:p>
            <a:pPr algn="l">
              <a:lnSpc>
                <a:spcPct val="108000"/>
              </a:lnSpc>
              <a:spcBef>
                <a:spcPts val="0"/>
              </a:spcBef>
              <a:spcAft>
                <a:spcPts val="0"/>
              </a:spcAft>
            </a:pPr>
            <a:r>
              <a:rPr sz="2200" b="1">
                <a:solidFill>
                  <a:srgbClr val="17243B"/>
                </a:solidFill>
                <a:latin typeface="Arial"/>
              </a:rPr>
              <a:t>Criteria + recorded checks</a:t>
            </a:r>
          </a:p>
        </p:txBody>
      </p:sp>
      <p:cxnSp>
        <p:nvCxnSpPr>
          <p:cNvPr id="22" name="Connector 21"/>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3" name="Text: Both can use AI. SDD makes intent, review, and verification expli"/>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Both can use AI. SDD makes intent, review, and verification explicit.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AVOIDING VIBE CODING"/>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AVOIDING VIBE CODING</a:t>
            </a:r>
          </a:p>
        </p:txBody>
      </p:sp>
      <p:sp>
        <p:nvSpPr>
          <p:cNvPr id="5" name="Text: 10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10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How SDD avoids vibe coding."/>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How SDD avoids vibe coding.</a:t>
            </a:r>
          </a:p>
        </p:txBody>
      </p:sp>
      <p:sp>
        <p:nvSpPr>
          <p:cNvPr id="8" name="Text: 01 / CLARIFY"/>
          <p:cNvSpPr txBox="1"/>
          <p:nvPr/>
        </p:nvSpPr>
        <p:spPr>
          <a:xfrm>
            <a:off x="685800" y="2542032"/>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01 / CLARIFY</a:t>
            </a:r>
          </a:p>
        </p:txBody>
      </p:sp>
      <p:sp>
        <p:nvSpPr>
          <p:cNvPr id="9" name="Text: Decisions"/>
          <p:cNvSpPr txBox="1"/>
          <p:nvPr/>
        </p:nvSpPr>
        <p:spPr>
          <a:xfrm>
            <a:off x="685800" y="3163824"/>
            <a:ext cx="3291840" cy="594360"/>
          </a:xfrm>
          <a:prstGeom prst="rect">
            <a:avLst/>
          </a:prstGeom>
          <a:noFill/>
        </p:spPr>
        <p:txBody>
          <a:bodyPr wrap="square" lIns="0" rIns="0" tIns="0" bIns="0">
            <a:spAutoFit/>
          </a:bodyPr>
          <a:lstStyle/>
          <a:p>
            <a:pPr algn="l">
              <a:lnSpc>
                <a:spcPct val="108000"/>
              </a:lnSpc>
              <a:spcBef>
                <a:spcPts val="0"/>
              </a:spcBef>
              <a:spcAft>
                <a:spcPts val="0"/>
              </a:spcAft>
            </a:pPr>
            <a:r>
              <a:rPr sz="3200" b="1">
                <a:solidFill>
                  <a:srgbClr val="17243B"/>
                </a:solidFill>
                <a:latin typeface="Arial"/>
              </a:rPr>
              <a:t>Decisions</a:t>
            </a:r>
          </a:p>
        </p:txBody>
      </p:sp>
      <p:sp>
        <p:nvSpPr>
          <p:cNvPr id="10" name="Text: Resolve unknowns / before generation."/>
          <p:cNvSpPr txBox="1"/>
          <p:nvPr/>
        </p:nvSpPr>
        <p:spPr>
          <a:xfrm>
            <a:off x="685800" y="4023360"/>
            <a:ext cx="3319272" cy="832104"/>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Resolve unknowns</a:t>
            </a:r>
          </a:p>
          <a:p>
            <a:pPr algn="l">
              <a:lnSpc>
                <a:spcPct val="108000"/>
              </a:lnSpc>
              <a:spcBef>
                <a:spcPts val="0"/>
              </a:spcBef>
              <a:spcAft>
                <a:spcPts val="0"/>
              </a:spcAft>
            </a:pPr>
            <a:r>
              <a:rPr sz="2300" b="0">
                <a:solidFill>
                  <a:srgbClr val="17243B"/>
                </a:solidFill>
                <a:latin typeface="Arial"/>
              </a:rPr>
              <a:t>before generation.</a:t>
            </a:r>
          </a:p>
        </p:txBody>
      </p:sp>
      <p:sp>
        <p:nvSpPr>
          <p:cNvPr id="11" name="Text: Reviewed specifications"/>
          <p:cNvSpPr txBox="1"/>
          <p:nvPr/>
        </p:nvSpPr>
        <p:spPr>
          <a:xfrm>
            <a:off x="685800" y="5102352"/>
            <a:ext cx="3319272" cy="347472"/>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147D72"/>
                </a:solidFill>
                <a:latin typeface="Arial"/>
              </a:rPr>
              <a:t>Reviewed specifications</a:t>
            </a:r>
          </a:p>
        </p:txBody>
      </p:sp>
      <p:cxnSp>
        <p:nvCxnSpPr>
          <p:cNvPr id="12" name="Connector 11"/>
          <p:cNvCxnSpPr/>
          <p:nvPr/>
        </p:nvCxnSpPr>
        <p:spPr>
          <a:xfrm>
            <a:off x="4142231"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3" name="Text: 02 / CONSTRAIN"/>
          <p:cNvSpPr txBox="1"/>
          <p:nvPr/>
        </p:nvSpPr>
        <p:spPr>
          <a:xfrm>
            <a:off x="4453128" y="2542032"/>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02 / CONSTRAIN</a:t>
            </a:r>
          </a:p>
        </p:txBody>
      </p:sp>
      <p:sp>
        <p:nvSpPr>
          <p:cNvPr id="14" name="Text: Boundaries"/>
          <p:cNvSpPr txBox="1"/>
          <p:nvPr/>
        </p:nvSpPr>
        <p:spPr>
          <a:xfrm>
            <a:off x="4453128" y="3163824"/>
            <a:ext cx="3291840" cy="594360"/>
          </a:xfrm>
          <a:prstGeom prst="rect">
            <a:avLst/>
          </a:prstGeom>
          <a:noFill/>
        </p:spPr>
        <p:txBody>
          <a:bodyPr wrap="square" lIns="0" rIns="0" tIns="0" bIns="0">
            <a:spAutoFit/>
          </a:bodyPr>
          <a:lstStyle/>
          <a:p>
            <a:pPr algn="l">
              <a:lnSpc>
                <a:spcPct val="108000"/>
              </a:lnSpc>
              <a:spcBef>
                <a:spcPts val="0"/>
              </a:spcBef>
              <a:spcAft>
                <a:spcPts val="0"/>
              </a:spcAft>
            </a:pPr>
            <a:r>
              <a:rPr sz="3200" b="1">
                <a:solidFill>
                  <a:srgbClr val="17243B"/>
                </a:solidFill>
                <a:latin typeface="Arial"/>
              </a:rPr>
              <a:t>Boundaries</a:t>
            </a:r>
          </a:p>
        </p:txBody>
      </p:sp>
      <p:sp>
        <p:nvSpPr>
          <p:cNvPr id="15" name="Text: Limit each change / to a reviewed task."/>
          <p:cNvSpPr txBox="1"/>
          <p:nvPr/>
        </p:nvSpPr>
        <p:spPr>
          <a:xfrm>
            <a:off x="4453128" y="4023360"/>
            <a:ext cx="3319272" cy="832104"/>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Limit each change</a:t>
            </a:r>
          </a:p>
          <a:p>
            <a:pPr algn="l">
              <a:lnSpc>
                <a:spcPct val="108000"/>
              </a:lnSpc>
              <a:spcBef>
                <a:spcPts val="0"/>
              </a:spcBef>
              <a:spcAft>
                <a:spcPts val="0"/>
              </a:spcAft>
            </a:pPr>
            <a:r>
              <a:rPr sz="2300" b="0">
                <a:solidFill>
                  <a:srgbClr val="17243B"/>
                </a:solidFill>
                <a:latin typeface="Arial"/>
              </a:rPr>
              <a:t>to a reviewed task.</a:t>
            </a:r>
          </a:p>
        </p:txBody>
      </p:sp>
      <p:sp>
        <p:nvSpPr>
          <p:cNvPr id="16" name="Text: Scoped plans + tasks"/>
          <p:cNvSpPr txBox="1"/>
          <p:nvPr/>
        </p:nvSpPr>
        <p:spPr>
          <a:xfrm>
            <a:off x="4453128" y="5102352"/>
            <a:ext cx="3319272" cy="347472"/>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147D72"/>
                </a:solidFill>
                <a:latin typeface="Arial"/>
              </a:rPr>
              <a:t>Scoped plans + tasks</a:t>
            </a:r>
          </a:p>
        </p:txBody>
      </p:sp>
      <p:cxnSp>
        <p:nvCxnSpPr>
          <p:cNvPr id="17" name="Connector 16"/>
          <p:cNvCxnSpPr/>
          <p:nvPr/>
        </p:nvCxnSpPr>
        <p:spPr>
          <a:xfrm>
            <a:off x="7909560" y="2542032"/>
            <a:ext cx="0" cy="2889504"/>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18" name="Text: 03 / VERIFY"/>
          <p:cNvSpPr txBox="1"/>
          <p:nvPr/>
        </p:nvSpPr>
        <p:spPr>
          <a:xfrm>
            <a:off x="8220456" y="2542032"/>
            <a:ext cx="3291840" cy="320040"/>
          </a:xfrm>
          <a:prstGeom prst="rect">
            <a:avLst/>
          </a:prstGeom>
          <a:noFill/>
        </p:spPr>
        <p:txBody>
          <a:bodyPr wrap="square" lIns="0" rIns="0" tIns="0" bIns="0">
            <a:spAutoFit/>
          </a:bodyPr>
          <a:lstStyle/>
          <a:p>
            <a:pPr algn="l">
              <a:lnSpc>
                <a:spcPct val="108000"/>
              </a:lnSpc>
              <a:spcBef>
                <a:spcPts val="0"/>
              </a:spcBef>
              <a:spcAft>
                <a:spcPts val="0"/>
              </a:spcAft>
            </a:pPr>
            <a:r>
              <a:rPr sz="1300" b="1">
                <a:solidFill>
                  <a:srgbClr val="305DE6"/>
                </a:solidFill>
                <a:latin typeface="DejaVu Sans Mono"/>
              </a:rPr>
              <a:t>03 / VERIFY</a:t>
            </a:r>
          </a:p>
        </p:txBody>
      </p:sp>
      <p:sp>
        <p:nvSpPr>
          <p:cNvPr id="19" name="Text: Evidence"/>
          <p:cNvSpPr txBox="1"/>
          <p:nvPr/>
        </p:nvSpPr>
        <p:spPr>
          <a:xfrm>
            <a:off x="8220456" y="3163824"/>
            <a:ext cx="3291840" cy="594360"/>
          </a:xfrm>
          <a:prstGeom prst="rect">
            <a:avLst/>
          </a:prstGeom>
          <a:noFill/>
        </p:spPr>
        <p:txBody>
          <a:bodyPr wrap="square" lIns="0" rIns="0" tIns="0" bIns="0">
            <a:spAutoFit/>
          </a:bodyPr>
          <a:lstStyle/>
          <a:p>
            <a:pPr algn="l">
              <a:lnSpc>
                <a:spcPct val="108000"/>
              </a:lnSpc>
              <a:spcBef>
                <a:spcPts val="0"/>
              </a:spcBef>
              <a:spcAft>
                <a:spcPts val="0"/>
              </a:spcAft>
            </a:pPr>
            <a:r>
              <a:rPr sz="3200" b="1">
                <a:solidFill>
                  <a:srgbClr val="17243B"/>
                </a:solidFill>
                <a:latin typeface="Arial"/>
              </a:rPr>
              <a:t>Evidence</a:t>
            </a:r>
          </a:p>
        </p:txBody>
      </p:sp>
      <p:sp>
        <p:nvSpPr>
          <p:cNvPr id="20" name="Text: Read the diff; verify / acceptance criteria."/>
          <p:cNvSpPr txBox="1"/>
          <p:nvPr/>
        </p:nvSpPr>
        <p:spPr>
          <a:xfrm>
            <a:off x="8220456" y="4023360"/>
            <a:ext cx="3319272" cy="832104"/>
          </a:xfrm>
          <a:prstGeom prst="rect">
            <a:avLst/>
          </a:prstGeom>
          <a:noFill/>
        </p:spPr>
        <p:txBody>
          <a:bodyPr wrap="square" lIns="0" rIns="0" tIns="0" bIns="0">
            <a:spAutoFit/>
          </a:bodyPr>
          <a:lstStyle/>
          <a:p>
            <a:pPr algn="l">
              <a:lnSpc>
                <a:spcPct val="108000"/>
              </a:lnSpc>
              <a:spcBef>
                <a:spcPts val="0"/>
              </a:spcBef>
              <a:spcAft>
                <a:spcPts val="0"/>
              </a:spcAft>
            </a:pPr>
            <a:r>
              <a:rPr sz="2300" b="0">
                <a:solidFill>
                  <a:srgbClr val="17243B"/>
                </a:solidFill>
                <a:latin typeface="Arial"/>
              </a:rPr>
              <a:t>Read the diff; verify</a:t>
            </a:r>
          </a:p>
          <a:p>
            <a:pPr algn="l">
              <a:lnSpc>
                <a:spcPct val="108000"/>
              </a:lnSpc>
              <a:spcBef>
                <a:spcPts val="0"/>
              </a:spcBef>
              <a:spcAft>
                <a:spcPts val="0"/>
              </a:spcAft>
            </a:pPr>
            <a:r>
              <a:rPr sz="2300" b="0">
                <a:solidFill>
                  <a:srgbClr val="17243B"/>
                </a:solidFill>
                <a:latin typeface="Arial"/>
              </a:rPr>
              <a:t>acceptance criteria.</a:t>
            </a:r>
          </a:p>
        </p:txBody>
      </p:sp>
      <p:sp>
        <p:nvSpPr>
          <p:cNvPr id="21" name="Text: Recorded checks + review"/>
          <p:cNvSpPr txBox="1"/>
          <p:nvPr/>
        </p:nvSpPr>
        <p:spPr>
          <a:xfrm>
            <a:off x="8220456" y="5102352"/>
            <a:ext cx="3319272" cy="347472"/>
          </a:xfrm>
          <a:prstGeom prst="rect">
            <a:avLst/>
          </a:prstGeom>
          <a:noFill/>
        </p:spPr>
        <p:txBody>
          <a:bodyPr wrap="square" lIns="0" rIns="0" tIns="0" bIns="0">
            <a:spAutoFit/>
          </a:bodyPr>
          <a:lstStyle/>
          <a:p>
            <a:pPr algn="l">
              <a:lnSpc>
                <a:spcPct val="108000"/>
              </a:lnSpc>
              <a:spcBef>
                <a:spcPts val="0"/>
              </a:spcBef>
              <a:spcAft>
                <a:spcPts val="0"/>
              </a:spcAft>
            </a:pPr>
            <a:r>
              <a:rPr sz="1800" b="0">
                <a:solidFill>
                  <a:srgbClr val="147D72"/>
                </a:solidFill>
                <a:latin typeface="Arial"/>
              </a:rPr>
              <a:t>Recorded checks + review</a:t>
            </a:r>
          </a:p>
        </p:txBody>
      </p:sp>
      <p:cxnSp>
        <p:nvCxnSpPr>
          <p:cNvPr id="22" name="Connector 21"/>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3" name="Text: A spec helps only when it guides the work and the review."/>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A spec helps only when it guides the work and the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305DE6"/>
                </a:solidFill>
                <a:latin typeface="Arial"/>
              </a:rPr>
              <a:t>SDD</a:t>
            </a:r>
          </a:p>
        </p:txBody>
      </p:sp>
      <p:cxnSp>
        <p:nvCxnSpPr>
          <p:cNvPr id="3" name="Connector 2"/>
          <p:cNvCxnSpPr/>
          <p:nvPr/>
        </p:nvCxnSpPr>
        <p:spPr>
          <a:xfrm>
            <a:off x="1417320" y="393192"/>
            <a:ext cx="0" cy="173736"/>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4" name="Text: REPRODUCIBILITY"/>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5B6980"/>
                </a:solidFill>
                <a:latin typeface="Arial"/>
              </a:rPr>
              <a:t>REPRODUCIBILITY</a:t>
            </a:r>
          </a:p>
        </p:txBody>
      </p:sp>
      <p:sp>
        <p:nvSpPr>
          <p:cNvPr id="5" name="Text: 11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5B6980"/>
                </a:solidFill>
                <a:latin typeface="Arial"/>
              </a:rPr>
              <a:t>11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5B6980"/>
                </a:solidFill>
                <a:latin typeface="Arial"/>
              </a:rPr>
              <a:t>CONVOCARE  /  ENGINEERING</a:t>
            </a:r>
          </a:p>
        </p:txBody>
      </p:sp>
      <p:sp>
        <p:nvSpPr>
          <p:cNvPr id="7" name="Text: Reproduce behavior across sessions."/>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17243B"/>
                </a:solidFill>
                <a:latin typeface="Arial"/>
              </a:rPr>
              <a:t>Reproduce behavior across sessions.</a:t>
            </a:r>
          </a:p>
        </p:txBody>
      </p:sp>
      <p:sp>
        <p:nvSpPr>
          <p:cNvPr id="8" name="Rectangle 7"/>
          <p:cNvSpPr/>
          <p:nvPr/>
        </p:nvSpPr>
        <p:spPr>
          <a:xfrm>
            <a:off x="685800" y="2560320"/>
            <a:ext cx="3319272" cy="2606040"/>
          </a:xfrm>
          <a:prstGeom prst="rect">
            <a:avLst/>
          </a:prstGeom>
          <a:solidFill>
            <a:srgbClr val="EDF2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 Same inputs"/>
          <p:cNvSpPr txBox="1"/>
          <p:nvPr/>
        </p:nvSpPr>
        <p:spPr>
          <a:xfrm>
            <a:off x="923544" y="2807208"/>
            <a:ext cx="2834640" cy="438912"/>
          </a:xfrm>
          <a:prstGeom prst="rect">
            <a:avLst/>
          </a:prstGeom>
          <a:noFill/>
        </p:spPr>
        <p:txBody>
          <a:bodyPr wrap="square" lIns="0" rIns="0" tIns="0" bIns="0">
            <a:spAutoFit/>
          </a:bodyPr>
          <a:lstStyle/>
          <a:p>
            <a:pPr algn="l">
              <a:lnSpc>
                <a:spcPct val="108000"/>
              </a:lnSpc>
              <a:spcBef>
                <a:spcPts val="0"/>
              </a:spcBef>
              <a:spcAft>
                <a:spcPts val="0"/>
              </a:spcAft>
            </a:pPr>
            <a:r>
              <a:rPr sz="2400" b="1">
                <a:solidFill>
                  <a:srgbClr val="17243B"/>
                </a:solidFill>
                <a:latin typeface="Arial"/>
              </a:rPr>
              <a:t>Same inputs</a:t>
            </a:r>
          </a:p>
        </p:txBody>
      </p:sp>
      <p:sp>
        <p:nvSpPr>
          <p:cNvPr id="10" name="Text: Repo + spec commit / Task + prompt / Runtime + lockfiles / Contro"/>
          <p:cNvSpPr txBox="1"/>
          <p:nvPr/>
        </p:nvSpPr>
        <p:spPr>
          <a:xfrm>
            <a:off x="923544" y="3474720"/>
            <a:ext cx="2843784" cy="1444752"/>
          </a:xfrm>
          <a:prstGeom prst="rect">
            <a:avLst/>
          </a:prstGeom>
          <a:noFill/>
        </p:spPr>
        <p:txBody>
          <a:bodyPr wrap="square" lIns="0" rIns="0" tIns="0" bIns="0">
            <a:spAutoFit/>
          </a:bodyPr>
          <a:lstStyle/>
          <a:p>
            <a:pPr algn="l">
              <a:lnSpc>
                <a:spcPct val="125000"/>
              </a:lnSpc>
              <a:spcBef>
                <a:spcPts val="0"/>
              </a:spcBef>
              <a:spcAft>
                <a:spcPts val="0"/>
              </a:spcAft>
            </a:pPr>
            <a:r>
              <a:rPr sz="2100" b="0">
                <a:solidFill>
                  <a:srgbClr val="5B6980"/>
                </a:solidFill>
                <a:latin typeface="Arial"/>
              </a:rPr>
              <a:t>Repo + spec commit</a:t>
            </a:r>
          </a:p>
          <a:p>
            <a:pPr algn="l">
              <a:lnSpc>
                <a:spcPct val="125000"/>
              </a:lnSpc>
              <a:spcBef>
                <a:spcPts val="0"/>
              </a:spcBef>
              <a:spcAft>
                <a:spcPts val="0"/>
              </a:spcAft>
            </a:pPr>
            <a:r>
              <a:rPr sz="2100" b="0">
                <a:solidFill>
                  <a:srgbClr val="5B6980"/>
                </a:solidFill>
                <a:latin typeface="Arial"/>
              </a:rPr>
              <a:t>Task + prompt</a:t>
            </a:r>
          </a:p>
          <a:p>
            <a:pPr algn="l">
              <a:lnSpc>
                <a:spcPct val="125000"/>
              </a:lnSpc>
              <a:spcBef>
                <a:spcPts val="0"/>
              </a:spcBef>
              <a:spcAft>
                <a:spcPts val="0"/>
              </a:spcAft>
            </a:pPr>
            <a:r>
              <a:rPr sz="2100" b="0">
                <a:solidFill>
                  <a:srgbClr val="5B6980"/>
                </a:solidFill>
                <a:latin typeface="Arial"/>
              </a:rPr>
              <a:t>Runtime + lockfiles</a:t>
            </a:r>
          </a:p>
          <a:p>
            <a:pPr algn="l">
              <a:lnSpc>
                <a:spcPct val="125000"/>
              </a:lnSpc>
              <a:spcBef>
                <a:spcPts val="0"/>
              </a:spcBef>
              <a:spcAft>
                <a:spcPts val="0"/>
              </a:spcAft>
            </a:pPr>
            <a:r>
              <a:rPr sz="2100" b="0">
                <a:solidFill>
                  <a:srgbClr val="5B6980"/>
                </a:solidFill>
                <a:latin typeface="Arial"/>
              </a:rPr>
              <a:t>Controlled fixtures</a:t>
            </a:r>
          </a:p>
        </p:txBody>
      </p:sp>
      <p:sp>
        <p:nvSpPr>
          <p:cNvPr id="11" name="Rectangle 10"/>
          <p:cNvSpPr/>
          <p:nvPr/>
        </p:nvSpPr>
        <p:spPr>
          <a:xfrm>
            <a:off x="4965192" y="2743200"/>
            <a:ext cx="2770632" cy="822960"/>
          </a:xfrm>
          <a:prstGeom prst="rect">
            <a:avLst/>
          </a:prstGeom>
          <a:solidFill>
            <a:srgbClr val="FFFFFF"/>
          </a:solidFill>
          <a:ln w="16510">
            <a:solidFill>
              <a:srgbClr val="DCE3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 Fresh session A"/>
          <p:cNvSpPr txBox="1"/>
          <p:nvPr/>
        </p:nvSpPr>
        <p:spPr>
          <a:xfrm>
            <a:off x="5138928" y="2990088"/>
            <a:ext cx="2423160" cy="393192"/>
          </a:xfrm>
          <a:prstGeom prst="rect">
            <a:avLst/>
          </a:prstGeom>
          <a:noFill/>
        </p:spPr>
        <p:txBody>
          <a:bodyPr wrap="square" lIns="0" rIns="0" tIns="0" bIns="0">
            <a:spAutoFit/>
          </a:bodyPr>
          <a:lstStyle/>
          <a:p>
            <a:pPr algn="ctr">
              <a:lnSpc>
                <a:spcPct val="108000"/>
              </a:lnSpc>
              <a:spcBef>
                <a:spcPts val="0"/>
              </a:spcBef>
              <a:spcAft>
                <a:spcPts val="0"/>
              </a:spcAft>
            </a:pPr>
            <a:r>
              <a:rPr sz="2200" b="1">
                <a:solidFill>
                  <a:srgbClr val="17243B"/>
                </a:solidFill>
                <a:latin typeface="Arial"/>
              </a:rPr>
              <a:t>Fresh session A</a:t>
            </a:r>
          </a:p>
        </p:txBody>
      </p:sp>
      <p:sp>
        <p:nvSpPr>
          <p:cNvPr id="13" name="Rectangle 12"/>
          <p:cNvSpPr/>
          <p:nvPr/>
        </p:nvSpPr>
        <p:spPr>
          <a:xfrm>
            <a:off x="4965192" y="4242816"/>
            <a:ext cx="2770632" cy="822960"/>
          </a:xfrm>
          <a:prstGeom prst="rect">
            <a:avLst/>
          </a:prstGeom>
          <a:solidFill>
            <a:srgbClr val="FFFFFF"/>
          </a:solidFill>
          <a:ln w="16510">
            <a:solidFill>
              <a:srgbClr val="DCE3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 Fresh session B"/>
          <p:cNvSpPr txBox="1"/>
          <p:nvPr/>
        </p:nvSpPr>
        <p:spPr>
          <a:xfrm>
            <a:off x="5138928" y="4489704"/>
            <a:ext cx="2423160" cy="393192"/>
          </a:xfrm>
          <a:prstGeom prst="rect">
            <a:avLst/>
          </a:prstGeom>
          <a:noFill/>
        </p:spPr>
        <p:txBody>
          <a:bodyPr wrap="square" lIns="0" rIns="0" tIns="0" bIns="0">
            <a:spAutoFit/>
          </a:bodyPr>
          <a:lstStyle/>
          <a:p>
            <a:pPr algn="ctr">
              <a:lnSpc>
                <a:spcPct val="108000"/>
              </a:lnSpc>
              <a:spcBef>
                <a:spcPts val="0"/>
              </a:spcBef>
              <a:spcAft>
                <a:spcPts val="0"/>
              </a:spcAft>
            </a:pPr>
            <a:r>
              <a:rPr sz="2200" b="1">
                <a:solidFill>
                  <a:srgbClr val="17243B"/>
                </a:solidFill>
                <a:latin typeface="Arial"/>
              </a:rPr>
              <a:t>Fresh session B</a:t>
            </a:r>
          </a:p>
        </p:txBody>
      </p:sp>
      <p:cxnSp>
        <p:nvCxnSpPr>
          <p:cNvPr id="15" name="Connector 14"/>
          <p:cNvCxnSpPr/>
          <p:nvPr/>
        </p:nvCxnSpPr>
        <p:spPr>
          <a:xfrm>
            <a:off x="4059936" y="3867912"/>
            <a:ext cx="457200" cy="0"/>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4517136" y="3154680"/>
            <a:ext cx="0" cy="1499616"/>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4517136" y="3154680"/>
            <a:ext cx="356616" cy="0"/>
          </a:xfrm>
          <a:prstGeom prst="line">
            <a:avLst/>
          </a:prstGeom>
          <a:ln w="1905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4517136" y="4654296"/>
            <a:ext cx="356616" cy="0"/>
          </a:xfrm>
          <a:prstGeom prst="line">
            <a:avLst/>
          </a:prstGeom>
          <a:ln w="1905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7799831" y="3154680"/>
            <a:ext cx="429769" cy="0"/>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7799831" y="4654296"/>
            <a:ext cx="429769" cy="0"/>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8229600" y="3154680"/>
            <a:ext cx="0" cy="1499616"/>
          </a:xfrm>
          <a:prstGeom prst="line">
            <a:avLst/>
          </a:prstGeom>
          <a:ln w="19050">
            <a:solidFill>
              <a:srgbClr val="305DE6"/>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8229600" y="3867912"/>
            <a:ext cx="384048" cy="0"/>
          </a:xfrm>
          <a:prstGeom prst="line">
            <a:avLst/>
          </a:prstGeom>
          <a:ln w="19050">
            <a:solidFill>
              <a:srgbClr val="305DE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9592056" y="3060313"/>
            <a:ext cx="183428" cy="183429"/>
          </a:xfrm>
          <a:prstGeom prst="line">
            <a:avLst/>
          </a:prstGeom>
          <a:ln w="31750">
            <a:solidFill>
              <a:srgbClr val="147D72"/>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775484" y="2779776"/>
            <a:ext cx="356068" cy="463966"/>
          </a:xfrm>
          <a:prstGeom prst="line">
            <a:avLst/>
          </a:prstGeom>
          <a:ln w="31750">
            <a:solidFill>
              <a:srgbClr val="147D72"/>
            </a:solidFill>
          </a:ln>
          <a:effectLst/>
        </p:spPr>
        <p:style>
          <a:lnRef idx="2">
            <a:schemeClr val="accent1"/>
          </a:lnRef>
          <a:fillRef idx="0">
            <a:schemeClr val="accent1"/>
          </a:fillRef>
          <a:effectRef idx="0">
            <a:schemeClr val="accent1"/>
          </a:effectRef>
          <a:fontRef idx="minor">
            <a:schemeClr val="tx1"/>
          </a:fontRef>
        </p:style>
      </p:cxnSp>
      <p:sp>
        <p:nvSpPr>
          <p:cNvPr id="25" name="Text: Same checks"/>
          <p:cNvSpPr txBox="1"/>
          <p:nvPr/>
        </p:nvSpPr>
        <p:spPr>
          <a:xfrm>
            <a:off x="8787384" y="3657600"/>
            <a:ext cx="2715768" cy="429768"/>
          </a:xfrm>
          <a:prstGeom prst="rect">
            <a:avLst/>
          </a:prstGeom>
          <a:noFill/>
        </p:spPr>
        <p:txBody>
          <a:bodyPr wrap="square" lIns="0" rIns="0" tIns="0" bIns="0">
            <a:spAutoFit/>
          </a:bodyPr>
          <a:lstStyle/>
          <a:p>
            <a:pPr algn="ctr">
              <a:lnSpc>
                <a:spcPct val="108000"/>
              </a:lnSpc>
              <a:spcBef>
                <a:spcPts val="0"/>
              </a:spcBef>
              <a:spcAft>
                <a:spcPts val="0"/>
              </a:spcAft>
            </a:pPr>
            <a:r>
              <a:rPr sz="2500" b="1">
                <a:solidFill>
                  <a:srgbClr val="17243B"/>
                </a:solidFill>
                <a:latin typeface="Arial"/>
              </a:rPr>
              <a:t>Same checks</a:t>
            </a:r>
          </a:p>
        </p:txBody>
      </p:sp>
      <p:sp>
        <p:nvSpPr>
          <p:cNvPr id="26" name="Text: Compare behavior / and review both diffs"/>
          <p:cNvSpPr txBox="1"/>
          <p:nvPr/>
        </p:nvSpPr>
        <p:spPr>
          <a:xfrm>
            <a:off x="8759952" y="4334256"/>
            <a:ext cx="2743200" cy="758952"/>
          </a:xfrm>
          <a:prstGeom prst="rect">
            <a:avLst/>
          </a:prstGeom>
          <a:noFill/>
        </p:spPr>
        <p:txBody>
          <a:bodyPr wrap="square" lIns="0" rIns="0" tIns="0" bIns="0">
            <a:spAutoFit/>
          </a:bodyPr>
          <a:lstStyle/>
          <a:p>
            <a:pPr algn="ctr">
              <a:lnSpc>
                <a:spcPct val="108000"/>
              </a:lnSpc>
              <a:spcBef>
                <a:spcPts val="0"/>
              </a:spcBef>
              <a:spcAft>
                <a:spcPts val="0"/>
              </a:spcAft>
            </a:pPr>
            <a:r>
              <a:rPr sz="2000" b="0">
                <a:solidFill>
                  <a:srgbClr val="5B6980"/>
                </a:solidFill>
                <a:latin typeface="Arial"/>
              </a:rPr>
              <a:t>Compare behavior</a:t>
            </a:r>
          </a:p>
          <a:p>
            <a:pPr algn="ctr">
              <a:lnSpc>
                <a:spcPct val="108000"/>
              </a:lnSpc>
              <a:spcBef>
                <a:spcPts val="0"/>
              </a:spcBef>
              <a:spcAft>
                <a:spcPts val="0"/>
              </a:spcAft>
            </a:pPr>
            <a:r>
              <a:rPr sz="2000" b="0">
                <a:solidFill>
                  <a:srgbClr val="5B6980"/>
                </a:solidFill>
                <a:latin typeface="Arial"/>
              </a:rPr>
              <a:t>and review both diffs</a:t>
            </a:r>
          </a:p>
        </p:txBody>
      </p:sp>
      <p:cxnSp>
        <p:nvCxnSpPr>
          <p:cNvPr id="27" name="Connector 26"/>
          <p:cNvCxnSpPr/>
          <p:nvPr/>
        </p:nvCxnSpPr>
        <p:spPr>
          <a:xfrm>
            <a:off x="685800" y="5623560"/>
            <a:ext cx="10817352" cy="0"/>
          </a:xfrm>
          <a:prstGeom prst="line">
            <a:avLst/>
          </a:prstGeom>
          <a:ln w="15240">
            <a:solidFill>
              <a:srgbClr val="DCE3EE"/>
            </a:solidFill>
          </a:ln>
          <a:effectLst/>
        </p:spPr>
        <p:style>
          <a:lnRef idx="2">
            <a:schemeClr val="accent1"/>
          </a:lnRef>
          <a:fillRef idx="0">
            <a:schemeClr val="accent1"/>
          </a:fillRef>
          <a:effectRef idx="0">
            <a:schemeClr val="accent1"/>
          </a:effectRef>
          <a:fontRef idx="minor">
            <a:schemeClr val="tx1"/>
          </a:fontRef>
        </p:style>
      </p:cxnSp>
      <p:sp>
        <p:nvSpPr>
          <p:cNvPr id="28" name="Text: Aim for repeatable behavior and process; generated source can dif"/>
          <p:cNvSpPr txBox="1"/>
          <p:nvPr/>
        </p:nvSpPr>
        <p:spPr>
          <a:xfrm>
            <a:off x="685800" y="5870448"/>
            <a:ext cx="10789920" cy="40233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5B6980"/>
                </a:solidFill>
                <a:latin typeface="Arial"/>
              </a:rPr>
              <a:t>Aim for repeatable behavior and process; generated source can differ.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F35"/>
        </a:solidFill>
        <a:effectLst/>
      </p:bgPr>
    </p:bg>
    <p:spTree>
      <p:nvGrpSpPr>
        <p:cNvPr id="1" name=""/>
        <p:cNvGrpSpPr/>
        <p:nvPr/>
      </p:nvGrpSpPr>
      <p:grpSpPr/>
      <p:sp>
        <p:nvSpPr>
          <p:cNvPr id="2" name="Text: SDD"/>
          <p:cNvSpPr txBox="1"/>
          <p:nvPr/>
        </p:nvSpPr>
        <p:spPr>
          <a:xfrm>
            <a:off x="685800" y="365760"/>
            <a:ext cx="640080" cy="228600"/>
          </a:xfrm>
          <a:prstGeom prst="rect">
            <a:avLst/>
          </a:prstGeom>
          <a:noFill/>
        </p:spPr>
        <p:txBody>
          <a:bodyPr wrap="square" lIns="0" rIns="0" tIns="0" bIns="0">
            <a:spAutoFit/>
          </a:bodyPr>
          <a:lstStyle/>
          <a:p>
            <a:pPr algn="l">
              <a:lnSpc>
                <a:spcPct val="108000"/>
              </a:lnSpc>
              <a:spcBef>
                <a:spcPts val="0"/>
              </a:spcBef>
              <a:spcAft>
                <a:spcPts val="0"/>
              </a:spcAft>
            </a:pPr>
            <a:r>
              <a:rPr sz="1200" b="1">
                <a:solidFill>
                  <a:srgbClr val="FFFFFF"/>
                </a:solidFill>
                <a:latin typeface="Arial"/>
              </a:rPr>
              <a:t>SDD</a:t>
            </a:r>
          </a:p>
        </p:txBody>
      </p:sp>
      <p:cxnSp>
        <p:nvCxnSpPr>
          <p:cNvPr id="3" name="Connector 2"/>
          <p:cNvCxnSpPr/>
          <p:nvPr/>
        </p:nvCxnSpPr>
        <p:spPr>
          <a:xfrm>
            <a:off x="1417320" y="393192"/>
            <a:ext cx="0" cy="173736"/>
          </a:xfrm>
          <a:prstGeom prst="line">
            <a:avLst/>
          </a:prstGeom>
          <a:ln w="15240">
            <a:solidFill>
              <a:srgbClr val="9FB9FF"/>
            </a:solidFill>
          </a:ln>
          <a:effectLst/>
        </p:spPr>
        <p:style>
          <a:lnRef idx="2">
            <a:schemeClr val="accent1"/>
          </a:lnRef>
          <a:fillRef idx="0">
            <a:schemeClr val="accent1"/>
          </a:fillRef>
          <a:effectRef idx="0">
            <a:schemeClr val="accent1"/>
          </a:effectRef>
          <a:fontRef idx="minor">
            <a:schemeClr val="tx1"/>
          </a:fontRef>
        </p:style>
      </p:cxnSp>
      <p:sp>
        <p:nvSpPr>
          <p:cNvPr id="4" name="Text: ADOPTING THE WORKFLOW"/>
          <p:cNvSpPr txBox="1"/>
          <p:nvPr/>
        </p:nvSpPr>
        <p:spPr>
          <a:xfrm>
            <a:off x="1600200" y="365760"/>
            <a:ext cx="8229600" cy="228600"/>
          </a:xfrm>
          <a:prstGeom prst="rect">
            <a:avLst/>
          </a:prstGeom>
          <a:noFill/>
        </p:spPr>
        <p:txBody>
          <a:bodyPr wrap="square" lIns="0" rIns="0" tIns="0" bIns="0">
            <a:spAutoFit/>
          </a:bodyPr>
          <a:lstStyle/>
          <a:p>
            <a:pPr algn="l">
              <a:lnSpc>
                <a:spcPct val="108000"/>
              </a:lnSpc>
              <a:spcBef>
                <a:spcPts val="0"/>
              </a:spcBef>
              <a:spcAft>
                <a:spcPts val="0"/>
              </a:spcAft>
            </a:pPr>
            <a:r>
              <a:rPr sz="1100" b="0">
                <a:solidFill>
                  <a:srgbClr val="B8C6DC"/>
                </a:solidFill>
                <a:latin typeface="Arial"/>
              </a:rPr>
              <a:t>ADOPTING THE WORKFLOW</a:t>
            </a:r>
          </a:p>
        </p:txBody>
      </p:sp>
      <p:sp>
        <p:nvSpPr>
          <p:cNvPr id="5" name="Text: 12 / 12"/>
          <p:cNvSpPr txBox="1"/>
          <p:nvPr/>
        </p:nvSpPr>
        <p:spPr>
          <a:xfrm>
            <a:off x="10588752" y="6473952"/>
            <a:ext cx="914400" cy="210312"/>
          </a:xfrm>
          <a:prstGeom prst="rect">
            <a:avLst/>
          </a:prstGeom>
          <a:noFill/>
        </p:spPr>
        <p:txBody>
          <a:bodyPr wrap="square" lIns="0" rIns="0" tIns="0" bIns="0">
            <a:spAutoFit/>
          </a:bodyPr>
          <a:lstStyle/>
          <a:p>
            <a:pPr algn="r">
              <a:lnSpc>
                <a:spcPct val="108000"/>
              </a:lnSpc>
              <a:spcBef>
                <a:spcPts val="0"/>
              </a:spcBef>
              <a:spcAft>
                <a:spcPts val="0"/>
              </a:spcAft>
            </a:pPr>
            <a:r>
              <a:rPr sz="1100" b="0">
                <a:solidFill>
                  <a:srgbClr val="B8C6DC"/>
                </a:solidFill>
                <a:latin typeface="Arial"/>
              </a:rPr>
              <a:t>12 / 12</a:t>
            </a:r>
          </a:p>
        </p:txBody>
      </p:sp>
      <p:sp>
        <p:nvSpPr>
          <p:cNvPr id="6" name="Text: CONVOCARE  /  ENGINEERING"/>
          <p:cNvSpPr txBox="1"/>
          <p:nvPr/>
        </p:nvSpPr>
        <p:spPr>
          <a:xfrm>
            <a:off x="685800" y="6473952"/>
            <a:ext cx="4023360" cy="201168"/>
          </a:xfrm>
          <a:prstGeom prst="rect">
            <a:avLst/>
          </a:prstGeom>
          <a:noFill/>
        </p:spPr>
        <p:txBody>
          <a:bodyPr wrap="square" lIns="0" rIns="0" tIns="0" bIns="0">
            <a:spAutoFit/>
          </a:bodyPr>
          <a:lstStyle/>
          <a:p>
            <a:pPr algn="l">
              <a:lnSpc>
                <a:spcPct val="108000"/>
              </a:lnSpc>
              <a:spcBef>
                <a:spcPts val="0"/>
              </a:spcBef>
              <a:spcAft>
                <a:spcPts val="0"/>
              </a:spcAft>
            </a:pPr>
            <a:r>
              <a:rPr sz="900" b="0">
                <a:solidFill>
                  <a:srgbClr val="B8C6DC"/>
                </a:solidFill>
                <a:latin typeface="Arial"/>
              </a:rPr>
              <a:t>CONVOCARE  /  ENGINEERING</a:t>
            </a:r>
          </a:p>
        </p:txBody>
      </p:sp>
      <p:sp>
        <p:nvSpPr>
          <p:cNvPr id="7" name="Text: Start with one real feature."/>
          <p:cNvSpPr txBox="1"/>
          <p:nvPr/>
        </p:nvSpPr>
        <p:spPr>
          <a:xfrm>
            <a:off x="685800" y="1033271"/>
            <a:ext cx="10835640" cy="1234440"/>
          </a:xfrm>
          <a:prstGeom prst="rect">
            <a:avLst/>
          </a:prstGeom>
          <a:noFill/>
        </p:spPr>
        <p:txBody>
          <a:bodyPr wrap="square" lIns="0" rIns="0" tIns="0" bIns="0">
            <a:spAutoFit/>
          </a:bodyPr>
          <a:lstStyle/>
          <a:p>
            <a:pPr algn="l">
              <a:lnSpc>
                <a:spcPct val="104000"/>
              </a:lnSpc>
              <a:spcBef>
                <a:spcPts val="0"/>
              </a:spcBef>
              <a:spcAft>
                <a:spcPts val="0"/>
              </a:spcAft>
            </a:pPr>
            <a:r>
              <a:rPr sz="4100" b="1">
                <a:solidFill>
                  <a:srgbClr val="FFFFFF"/>
                </a:solidFill>
                <a:latin typeface="Arial"/>
              </a:rPr>
              <a:t>Start with one real feature.</a:t>
            </a:r>
          </a:p>
        </p:txBody>
      </p:sp>
      <p:sp>
        <p:nvSpPr>
          <p:cNvPr id="8" name="Text: 01"/>
          <p:cNvSpPr txBox="1"/>
          <p:nvPr/>
        </p:nvSpPr>
        <p:spPr>
          <a:xfrm>
            <a:off x="685800" y="2496312"/>
            <a:ext cx="603504"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9FB9FF"/>
                </a:solidFill>
                <a:latin typeface="DejaVu Sans Mono"/>
              </a:rPr>
              <a:t>01</a:t>
            </a:r>
          </a:p>
        </p:txBody>
      </p:sp>
      <p:sp>
        <p:nvSpPr>
          <p:cNvPr id="9" name="Text: Write a short spec"/>
          <p:cNvSpPr txBox="1"/>
          <p:nvPr/>
        </p:nvSpPr>
        <p:spPr>
          <a:xfrm>
            <a:off x="1600200" y="2450592"/>
            <a:ext cx="5614416" cy="466344"/>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FFFFFF"/>
                </a:solidFill>
                <a:latin typeface="Arial"/>
              </a:rPr>
              <a:t>Write a short spec</a:t>
            </a:r>
          </a:p>
        </p:txBody>
      </p:sp>
      <p:sp>
        <p:nvSpPr>
          <p:cNvPr id="10" name="Text: Resolve the consequential unknowns."/>
          <p:cNvSpPr txBox="1"/>
          <p:nvPr/>
        </p:nvSpPr>
        <p:spPr>
          <a:xfrm>
            <a:off x="1600200" y="2971800"/>
            <a:ext cx="5614416" cy="356616"/>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B8C6DC"/>
                </a:solidFill>
                <a:latin typeface="Arial"/>
              </a:rPr>
              <a:t>Resolve the consequential unknowns.</a:t>
            </a:r>
          </a:p>
        </p:txBody>
      </p:sp>
      <p:sp>
        <p:nvSpPr>
          <p:cNvPr id="11" name="Text: 02"/>
          <p:cNvSpPr txBox="1"/>
          <p:nvPr/>
        </p:nvSpPr>
        <p:spPr>
          <a:xfrm>
            <a:off x="685800" y="3410712"/>
            <a:ext cx="603504"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9FB9FF"/>
                </a:solidFill>
                <a:latin typeface="DejaVu Sans Mono"/>
              </a:rPr>
              <a:t>02</a:t>
            </a:r>
          </a:p>
        </p:txBody>
      </p:sp>
      <p:sp>
        <p:nvSpPr>
          <p:cNvPr id="12" name="Text: Execute bounded tasks"/>
          <p:cNvSpPr txBox="1"/>
          <p:nvPr/>
        </p:nvSpPr>
        <p:spPr>
          <a:xfrm>
            <a:off x="1600200" y="3364992"/>
            <a:ext cx="5614416" cy="466344"/>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FFFFFF"/>
                </a:solidFill>
                <a:latin typeface="Arial"/>
              </a:rPr>
              <a:t>Execute bounded tasks</a:t>
            </a:r>
          </a:p>
        </p:txBody>
      </p:sp>
      <p:sp>
        <p:nvSpPr>
          <p:cNvPr id="13" name="Text: Keep requirements and checks linked."/>
          <p:cNvSpPr txBox="1"/>
          <p:nvPr/>
        </p:nvSpPr>
        <p:spPr>
          <a:xfrm>
            <a:off x="1600200" y="3886200"/>
            <a:ext cx="5614416" cy="356616"/>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B8C6DC"/>
                </a:solidFill>
                <a:latin typeface="Arial"/>
              </a:rPr>
              <a:t>Keep requirements and checks linked.</a:t>
            </a:r>
          </a:p>
        </p:txBody>
      </p:sp>
      <p:sp>
        <p:nvSpPr>
          <p:cNvPr id="14" name="Text: 03"/>
          <p:cNvSpPr txBox="1"/>
          <p:nvPr/>
        </p:nvSpPr>
        <p:spPr>
          <a:xfrm>
            <a:off x="685800" y="4325112"/>
            <a:ext cx="603504" cy="365760"/>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9FB9FF"/>
                </a:solidFill>
                <a:latin typeface="DejaVu Sans Mono"/>
              </a:rPr>
              <a:t>03</a:t>
            </a:r>
          </a:p>
        </p:txBody>
      </p:sp>
      <p:sp>
        <p:nvSpPr>
          <p:cNvPr id="15" name="Text: Review the evidence"/>
          <p:cNvSpPr txBox="1"/>
          <p:nvPr/>
        </p:nvSpPr>
        <p:spPr>
          <a:xfrm>
            <a:off x="1600200" y="4279392"/>
            <a:ext cx="5614416" cy="466344"/>
          </a:xfrm>
          <a:prstGeom prst="rect">
            <a:avLst/>
          </a:prstGeom>
          <a:noFill/>
        </p:spPr>
        <p:txBody>
          <a:bodyPr wrap="square" lIns="0" rIns="0" tIns="0" bIns="0">
            <a:spAutoFit/>
          </a:bodyPr>
          <a:lstStyle/>
          <a:p>
            <a:pPr algn="l">
              <a:lnSpc>
                <a:spcPct val="108000"/>
              </a:lnSpc>
              <a:spcBef>
                <a:spcPts val="0"/>
              </a:spcBef>
              <a:spcAft>
                <a:spcPts val="0"/>
              </a:spcAft>
            </a:pPr>
            <a:r>
              <a:rPr sz="2700" b="1">
                <a:solidFill>
                  <a:srgbClr val="FFFFFF"/>
                </a:solidFill>
                <a:latin typeface="Arial"/>
              </a:rPr>
              <a:t>Review the evidence</a:t>
            </a:r>
          </a:p>
        </p:txBody>
      </p:sp>
      <p:sp>
        <p:nvSpPr>
          <p:cNvPr id="16" name="Text: Resume once in a fresh session."/>
          <p:cNvSpPr txBox="1"/>
          <p:nvPr/>
        </p:nvSpPr>
        <p:spPr>
          <a:xfrm>
            <a:off x="1600200" y="4800600"/>
            <a:ext cx="5614416" cy="356616"/>
          </a:xfrm>
          <a:prstGeom prst="rect">
            <a:avLst/>
          </a:prstGeom>
          <a:noFill/>
        </p:spPr>
        <p:txBody>
          <a:bodyPr wrap="square" lIns="0" rIns="0" tIns="0" bIns="0">
            <a:spAutoFit/>
          </a:bodyPr>
          <a:lstStyle/>
          <a:p>
            <a:pPr algn="l">
              <a:lnSpc>
                <a:spcPct val="108000"/>
              </a:lnSpc>
              <a:spcBef>
                <a:spcPts val="0"/>
              </a:spcBef>
              <a:spcAft>
                <a:spcPts val="0"/>
              </a:spcAft>
            </a:pPr>
            <a:r>
              <a:rPr sz="1900" b="0">
                <a:solidFill>
                  <a:srgbClr val="B8C6DC"/>
                </a:solidFill>
                <a:latin typeface="Arial"/>
              </a:rPr>
              <a:t>Resume once in a fresh session.</a:t>
            </a:r>
          </a:p>
        </p:txBody>
      </p:sp>
      <p:sp>
        <p:nvSpPr>
          <p:cNvPr id="17" name="Rectangle 16"/>
          <p:cNvSpPr/>
          <p:nvPr/>
        </p:nvSpPr>
        <p:spPr>
          <a:xfrm>
            <a:off x="7973568" y="2450592"/>
            <a:ext cx="3529584" cy="2843784"/>
          </a:xfrm>
          <a:prstGeom prst="rect">
            <a:avLst/>
          </a:prstGeom>
          <a:solidFill>
            <a:srgbClr val="305D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 Measure / total effort."/>
          <p:cNvSpPr txBox="1"/>
          <p:nvPr/>
        </p:nvSpPr>
        <p:spPr>
          <a:xfrm>
            <a:off x="8257031" y="2761488"/>
            <a:ext cx="2971800" cy="1069848"/>
          </a:xfrm>
          <a:prstGeom prst="rect">
            <a:avLst/>
          </a:prstGeom>
          <a:noFill/>
        </p:spPr>
        <p:txBody>
          <a:bodyPr wrap="square" lIns="0" rIns="0" tIns="0" bIns="0">
            <a:spAutoFit/>
          </a:bodyPr>
          <a:lstStyle/>
          <a:p>
            <a:pPr algn="l">
              <a:lnSpc>
                <a:spcPct val="108000"/>
              </a:lnSpc>
              <a:spcBef>
                <a:spcPts val="0"/>
              </a:spcBef>
              <a:spcAft>
                <a:spcPts val="0"/>
              </a:spcAft>
            </a:pPr>
            <a:r>
              <a:rPr sz="3400" b="1">
                <a:solidFill>
                  <a:srgbClr val="FFFFFF"/>
                </a:solidFill>
                <a:latin typeface="Arial"/>
              </a:rPr>
              <a:t>Measure</a:t>
            </a:r>
          </a:p>
          <a:p>
            <a:pPr algn="l">
              <a:lnSpc>
                <a:spcPct val="108000"/>
              </a:lnSpc>
              <a:spcBef>
                <a:spcPts val="0"/>
              </a:spcBef>
              <a:spcAft>
                <a:spcPts val="0"/>
              </a:spcAft>
            </a:pPr>
            <a:r>
              <a:rPr sz="3400" b="1">
                <a:solidFill>
                  <a:srgbClr val="FFFFFF"/>
                </a:solidFill>
                <a:latin typeface="Arial"/>
              </a:rPr>
              <a:t>total effort.</a:t>
            </a:r>
          </a:p>
        </p:txBody>
      </p:sp>
      <p:sp>
        <p:nvSpPr>
          <p:cNvPr id="19" name="Text: Spec + review + / implementation + rework"/>
          <p:cNvSpPr txBox="1"/>
          <p:nvPr/>
        </p:nvSpPr>
        <p:spPr>
          <a:xfrm>
            <a:off x="8257031" y="4334256"/>
            <a:ext cx="2971800" cy="722376"/>
          </a:xfrm>
          <a:prstGeom prst="rect">
            <a:avLst/>
          </a:prstGeom>
          <a:noFill/>
        </p:spPr>
        <p:txBody>
          <a:bodyPr wrap="square" lIns="0" rIns="0" tIns="0" bIns="0">
            <a:spAutoFit/>
          </a:bodyPr>
          <a:lstStyle/>
          <a:p>
            <a:pPr algn="l">
              <a:lnSpc>
                <a:spcPct val="108000"/>
              </a:lnSpc>
              <a:spcBef>
                <a:spcPts val="0"/>
              </a:spcBef>
              <a:spcAft>
                <a:spcPts val="0"/>
              </a:spcAft>
            </a:pPr>
            <a:r>
              <a:rPr sz="2100" b="0">
                <a:solidFill>
                  <a:srgbClr val="FFFFFF"/>
                </a:solidFill>
                <a:latin typeface="Arial"/>
              </a:rPr>
              <a:t>Spec + review +</a:t>
            </a:r>
          </a:p>
          <a:p>
            <a:pPr algn="l">
              <a:lnSpc>
                <a:spcPct val="108000"/>
              </a:lnSpc>
              <a:spcBef>
                <a:spcPts val="0"/>
              </a:spcBef>
              <a:spcAft>
                <a:spcPts val="0"/>
              </a:spcAft>
            </a:pPr>
            <a:r>
              <a:rPr sz="2100" b="0">
                <a:solidFill>
                  <a:srgbClr val="FFFFFF"/>
                </a:solidFill>
                <a:latin typeface="Arial"/>
              </a:rPr>
              <a:t>implementation + rework</a:t>
            </a:r>
          </a:p>
        </p:txBody>
      </p:sp>
      <p:sp>
        <p:nvSpPr>
          <p:cNvPr id="20" name="Text: READ MORE"/>
          <p:cNvSpPr txBox="1"/>
          <p:nvPr/>
        </p:nvSpPr>
        <p:spPr>
          <a:xfrm>
            <a:off x="685800" y="5861304"/>
            <a:ext cx="1197864" cy="246888"/>
          </a:xfrm>
          <a:prstGeom prst="rect">
            <a:avLst/>
          </a:prstGeom>
          <a:noFill/>
        </p:spPr>
        <p:txBody>
          <a:bodyPr wrap="square" lIns="0" rIns="0" tIns="0" bIns="0">
            <a:spAutoFit/>
          </a:bodyPr>
          <a:lstStyle/>
          <a:p>
            <a:pPr algn="l">
              <a:lnSpc>
                <a:spcPct val="108000"/>
              </a:lnSpc>
              <a:spcBef>
                <a:spcPts val="0"/>
              </a:spcBef>
              <a:spcAft>
                <a:spcPts val="0"/>
              </a:spcAft>
            </a:pPr>
            <a:r>
              <a:rPr sz="1000" b="1">
                <a:solidFill>
                  <a:srgbClr val="B8C6DC"/>
                </a:solidFill>
                <a:latin typeface="Arial"/>
              </a:rPr>
              <a:t>READ MORE</a:t>
            </a:r>
          </a:p>
        </p:txBody>
      </p:sp>
      <p:sp>
        <p:nvSpPr>
          <p:cNvPr id="21" name="Text: GitHub Spec Kit"/>
          <p:cNvSpPr txBox="1"/>
          <p:nvPr/>
        </p:nvSpPr>
        <p:spPr>
          <a:xfrm>
            <a:off x="2103120" y="5833872"/>
            <a:ext cx="1655064" cy="301752"/>
          </a:xfrm>
          <a:prstGeom prst="rect">
            <a:avLst/>
          </a:prstGeom>
          <a:noFill/>
        </p:spPr>
        <p:txBody>
          <a:bodyPr wrap="square" lIns="0" rIns="0" tIns="0" bIns="0">
            <a:spAutoFit/>
          </a:bodyPr>
          <a:lstStyle/>
          <a:p>
            <a:pPr algn="l">
              <a:lnSpc>
                <a:spcPct val="108000"/>
              </a:lnSpc>
              <a:spcBef>
                <a:spcPts val="0"/>
              </a:spcBef>
              <a:spcAft>
                <a:spcPts val="0"/>
              </a:spcAft>
            </a:pPr>
            <a:r>
              <a:rPr sz="1200" b="0">
                <a:solidFill>
                  <a:srgbClr val="9FB9FF"/>
                </a:solidFill>
                <a:latin typeface="Arial"/>
                <a:hlinkClick r:id="rId2"/>
              </a:rPr>
              <a:t>GitHub Spec Kit</a:t>
            </a:r>
          </a:p>
        </p:txBody>
      </p:sp>
      <p:sp>
        <p:nvSpPr>
          <p:cNvPr id="22" name="Text: specdriven.ai"/>
          <p:cNvSpPr txBox="1"/>
          <p:nvPr/>
        </p:nvSpPr>
        <p:spPr>
          <a:xfrm>
            <a:off x="4050791" y="5833872"/>
            <a:ext cx="1563624" cy="301752"/>
          </a:xfrm>
          <a:prstGeom prst="rect">
            <a:avLst/>
          </a:prstGeom>
          <a:noFill/>
        </p:spPr>
        <p:txBody>
          <a:bodyPr wrap="square" lIns="0" rIns="0" tIns="0" bIns="0">
            <a:spAutoFit/>
          </a:bodyPr>
          <a:lstStyle/>
          <a:p>
            <a:pPr algn="l">
              <a:lnSpc>
                <a:spcPct val="108000"/>
              </a:lnSpc>
              <a:spcBef>
                <a:spcPts val="0"/>
              </a:spcBef>
              <a:spcAft>
                <a:spcPts val="0"/>
              </a:spcAft>
            </a:pPr>
            <a:r>
              <a:rPr sz="1200" b="0">
                <a:solidFill>
                  <a:srgbClr val="9FB9FF"/>
                </a:solidFill>
                <a:latin typeface="Arial"/>
                <a:hlinkClick r:id="rId3"/>
              </a:rPr>
              <a:t>specdriven.ai</a:t>
            </a:r>
          </a:p>
        </p:txBody>
      </p:sp>
      <p:sp>
        <p:nvSpPr>
          <p:cNvPr id="23" name="Text: Kiro specs"/>
          <p:cNvSpPr txBox="1"/>
          <p:nvPr/>
        </p:nvSpPr>
        <p:spPr>
          <a:xfrm>
            <a:off x="5907024" y="5833872"/>
            <a:ext cx="1207008" cy="301752"/>
          </a:xfrm>
          <a:prstGeom prst="rect">
            <a:avLst/>
          </a:prstGeom>
          <a:noFill/>
        </p:spPr>
        <p:txBody>
          <a:bodyPr wrap="square" lIns="0" rIns="0" tIns="0" bIns="0">
            <a:spAutoFit/>
          </a:bodyPr>
          <a:lstStyle/>
          <a:p>
            <a:pPr algn="l">
              <a:lnSpc>
                <a:spcPct val="108000"/>
              </a:lnSpc>
              <a:spcBef>
                <a:spcPts val="0"/>
              </a:spcBef>
              <a:spcAft>
                <a:spcPts val="0"/>
              </a:spcAft>
            </a:pPr>
            <a:r>
              <a:rPr sz="1200" b="0">
                <a:solidFill>
                  <a:srgbClr val="9FB9FF"/>
                </a:solidFill>
                <a:latin typeface="Arial"/>
                <a:hlinkClick r:id="rId4"/>
              </a:rPr>
              <a:t>Kiro specs</a:t>
            </a:r>
          </a:p>
        </p:txBody>
      </p:sp>
      <p:sp>
        <p:nvSpPr>
          <p:cNvPr id="24" name="Text: Böckeler: a firsthand exploration"/>
          <p:cNvSpPr txBox="1"/>
          <p:nvPr/>
        </p:nvSpPr>
        <p:spPr>
          <a:xfrm>
            <a:off x="7543800" y="5833872"/>
            <a:ext cx="3657600" cy="301752"/>
          </a:xfrm>
          <a:prstGeom prst="rect">
            <a:avLst/>
          </a:prstGeom>
          <a:noFill/>
        </p:spPr>
        <p:txBody>
          <a:bodyPr wrap="square" lIns="0" rIns="0" tIns="0" bIns="0">
            <a:spAutoFit/>
          </a:bodyPr>
          <a:lstStyle/>
          <a:p>
            <a:pPr algn="l">
              <a:lnSpc>
                <a:spcPct val="108000"/>
              </a:lnSpc>
              <a:spcBef>
                <a:spcPts val="0"/>
              </a:spcBef>
              <a:spcAft>
                <a:spcPts val="0"/>
              </a:spcAft>
            </a:pPr>
            <a:r>
              <a:rPr sz="1200" b="0">
                <a:solidFill>
                  <a:srgbClr val="9FB9FF"/>
                </a:solidFill>
                <a:latin typeface="Arial"/>
                <a:hlinkClick r:id="rId5"/>
              </a:rPr>
              <a:t>Böckeler: a firsthand exploration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FB9FF"/>
      </a:hlink>
      <a:folHlink>
        <a:srgbClr val="9FB9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Spec-Driven Development</dc:title>
  <dc:subject>From explicit intent to verified implementation</dc:subject>
  <dc:creator>ConvoCare</dc:creator>
  <cp:keywords>SDD, requirements, acceptance, AI, reproducibility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