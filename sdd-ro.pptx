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C47911-55AE-4245-A66C-E38C5844D844}" type="datetimeFigureOut">
              <a:rPr lang="en-US" smtClean="0"/>
              <a:t>10/2/2026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3AC4F0-00CC-7F4E-AF0B-1589E9193591}" type="slidenum">
              <a:rPr lang="en-US" smtClean="0"/>
              <a:t>‹#›</a:t>
            </a:fld>
            <a:endParaRPr lang="en-US"/>
          </a:p>
        </p:txBody>
      </p:sp>
    </p:spTree>
    <p:extLst>
      <p:ext uri="{BB962C8B-B14F-4D97-AF65-F5344CB8AC3E}">
        <p14:creationId xmlns:p14="http://schemas.microsoft.com/office/powerpoint/2010/main" val="1650998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Spec-Driven Development înregistrează intenția înainte de implementare, constrânge lucrul prin planuri revizuite și task-uri delimitate și acceptă rezultatul pe baza unor dovezi explicite. Această prezentare recomandă menținerea specificațiilor alături de codul revizuit. Obiectivul este un comportament repetabil și un proces repetabil. Nu sunt garantate nici cod sursă identic la regenerare, nici câștiguri automate de productivitate.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Intenția neînregistrată lasă regulile de business, scope-ul și acceptarea deschise interpretării. La resetarea sesiunii se pot pierde decizii care există doar în conversație. O specificație păstrează aceste decizii și oferă review-ului o bază concretă. Prompting-ul exploratoriu este util pentru descoperire, dar acceptarea unei implementări necesită criterii agreate. Ia în calcul overhead-ul de redactare și review atunci când evaluezi dacă fluxul de lucru reduce efortul total.</a:t>
            </a:r>
          </a:p>
          <a:p>
            <a:endParaRPr/>
          </a:p>
          <a:p>
            <a:r>
              <a:t>Surse (verificate pe 2 octombrie 2026):</a:t>
            </a:r>
          </a:p>
          <a:p>
            <a:r>
              <a:t>https://martinfowler.com/articles/exploring-gen-ai/sdd-3-tools.html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specificație definește comportamentul dorit, limitele și criteriile de acceptare înainte de implementare. Planurile și task-urile traduc această intenție într-o execuție delimitată. Testele și review-ul stabilesc concordanța dintre rezultatul implementat și criterii. Când intenția se schimbă, actualizează împreună specificația, planul, task-urile și verificările afectate. Tool-urile diferă în modul în care păstrează specificațiile; păstrarea lor alături de codul revizuit este recomandarea acestei prezentări. Markdown nu impune cerințe prin el însuși.</a:t>
            </a:r>
          </a:p>
          <a:p>
            <a:endParaRPr/>
          </a:p>
          <a:p>
            <a:r>
              <a:t>Surse (verificate pe 2 octombrie 2026):</a:t>
            </a:r>
          </a:p>
          <a:p>
            <a:r>
              <a:t>https://github.com/github/spec-kit/blob/main/docs/concepts/sdd.md/</a:t>
            </a:r>
          </a:p>
          <a:p>
            <a:r>
              <a:t>https://martinfowler.com/articles/exploring-gen-ai/sdd-3-tools.html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Cele șase faze adaptează fluxul de lucru descris pe specdriven.ai: guardrails comune, specificare, clarificare, planificare, task-uri și implementare cu verificare și iterație. Cele trei coloane vizuale grupează aceste faze pentru lizibilitate. Inspectează codul și convențiile existente, revizuiește deciziile importante și verifică acoperirea task-urilor înainte de execuție. Revizuiește fiecare artefact înainte de a-l folosi ca input pentru pasul următor. Păstrează procesul proporțional cu impactul modificării.</a:t>
            </a:r>
          </a:p>
          <a:p>
            <a:endParaRPr/>
          </a:p>
          <a:p>
            <a:r>
              <a:t>Surse (verificate pe 2 octombrie 2026):</a:t>
            </a:r>
          </a:p>
          <a:p>
            <a:r>
              <a:t>https://specdriven.ai/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constitution.md înregistrează reguli comune concise despre stack, convenții și verificările obligatorii. specification.md înregistrează comportamentul, scope-ul, non-goals și acceptarea. plan.md înregistrează abordarea tehnică, contractele, datele, dependențele și riscurile. tasks.md înregistrează rezultate delimitate, referințe, ordinea dependențelor și verificarea. ui.md adaugă stările de interacțiune, tranzițiile, layout-ul, comportamentul responsive și accesibilitatea, atunci când sunt relevante. Pentru modificări mici, aceste responsabilități pot fi secțiuni în specs.md. Instrucțiunile existente din repository pot furniza guardrails. Opționalitatea fișierelor separate este recomandarea acestei prezentări; denumirile fișierelor diferă de la un tool la altul.</a:t>
            </a:r>
          </a:p>
          <a:p>
            <a:endParaRPr/>
          </a:p>
          <a:p>
            <a:r>
              <a:t>Surse (verificate pe 2 octombrie 2026):</a:t>
            </a:r>
          </a:p>
          <a:p>
            <a:r>
              <a:t>https://specdriven.ai/</a:t>
            </a:r>
          </a:p>
          <a:p>
            <a:r>
              <a:t>https://kiro.dev/docs/specs/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Scrie cerințele în termeni de comportament observabil. Numește actorul sau sistemul, precondițiile relevante, trigger-ul și rezultatul așteptat. Given/When/Then separă starea, acțiunea și rezultatul; este o structură utilă, nu o notație obligatorie. Include scope-ul și non-goals, constrângerile importante și criterii explicite de acceptare. Țintele cantitative au nevoie de o valoare, un workload și o metodă de măsurare. Separă comportamentul dorit de planificarea tehnică. Revizuiește presupunerile și deciziile de produs nerezolvate înainte de implementare.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Clarificarea rezolvă deciziile care schimbă comportamentul observabil. Definește ce este inclus și ce este exclus, înregistrează regulile de business și constrângerile și specifică stările invalide, rezultatele în caz de eșec și recuperarea. Identifică întrebările nerezolvate și separă deciziile confirmate de presupuneri. Înregistrează precis comportamentul respins și efectele secundare, acolo unde este relevant. Rezolvă deciziile blocante înainte de implementarea care depinde de ele. Un agent poate semnala lipsuri; nu ar trebui să inventeze în tăcere politici de produs.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Pornește de la un proiect template bine implementat, ale cărui arhitectură, componente, build și verificări au fost revizuite și validate. Refolosește direct componentele acolo unde se potrivesc, astfel încât să fie nevoie de mai puțin comportament de bază generat din nou. Oferă agentului acces la fișierele sursă relevante și documentează ce structură, contracte de interfață, convenții și reguli de design trebuie să urmeze. AI-ul poate reproduce pattern-urile de implementare stabilite atunci când contextul și constrângerile sunt explicite. Asta restrânge opțiunile de design și face extensiile mai consecvente și mai ușor de revizuit. Fixează (pin) revizia template-ului, versiunile dependențelor și comenzile de setup/verificare pentru a susține un comportament și build-uri reproductibile. Refolosește verificările existente și adaugă verificări de acceptare pentru comportamentul modificat; inspectează diff-ul rezultat. Încrederea se bazează pe refolosirea verificată și pe dovezile pentru extensie. Reproducerea pattern-urilor susține consecvența, dar nu garantează cod sursă generat identic sau corectitudinea fiecărei modificări noi. Această argumentație este o sinteză practică a recomandărilor despre context și verificare, nu o garanție măsurată.</a:t>
            </a:r>
          </a:p>
          <a:p>
            <a:endParaRPr/>
          </a:p>
          <a:p>
            <a:r>
              <a:t>Surse (verificate pe 2 octombrie 2026):</a:t>
            </a:r>
          </a:p>
          <a:p>
            <a:r>
              <a:t>https://code.claude.com/docs/en/best-practices</a:t>
            </a:r>
          </a:p>
          <a:p>
            <a:r>
              <a:t>https://github.com/github/spec-kit/blob/main/docs/concepts/sdd.md/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Această comparație folosește sensul mai restrâns al termenului vibe coding: acceptarea codului generat de un LLM fără a-l citi și înțelege, nu tratarea oricărei utilizări a AI-ului drept vibe coding. Simon Willison distinge această practică de programarea asistată de AI revizuită și testată. SDD adaugă un contract comportamental explicit și un drum structurat de la cerințe la implementare și verificare. Coloana SDD descrie practica de cod revizuit recomandată în această prezentare. Vibe coding-ul poate susține descoperirea rapidă; SDD introduce costuri de redactare și review pentru a susține o acceptare deliberată. Aceasta este o comparație de practici, nu o măsurătoare a productivității sau o garanție a unor rezultate corecte.</a:t>
            </a:r>
          </a:p>
          <a:p>
            <a:endParaRPr/>
          </a:p>
          <a:p>
            <a:r>
              <a:t>Surse (verificate pe 2 octombrie 2026):</a:t>
            </a:r>
          </a:p>
          <a:p>
            <a:r>
              <a:t>https://simonwillison.net/2025/Mar/19/vibe-coding/</a:t>
            </a:r>
          </a:p>
          <a:p>
            <a:r>
              <a:t>https://specdriven.ai/</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Mecanismele reprezintă sinteza acestei prezentări asupra fluxului de lucru SDD și a distincției dintre generarea neverificată și programarea asistată de AI revizuită. Clarificarea înregistrează deciziile importante, astfel încât generarea să aibă mai puține reguli de produs de ghicit. Scope-ul și legăturile cu cerințele mențin modificările delimitate și ușor de revizuit. Citirea diff-ului și verificarea criteriilor de acceptare împiedică succesul aparent să devină singura bază pentru acceptare. Review-ul uman păstrează responsabilitatea pentru înțelegerea rezultatului. Aceste controale trebuie aplicate efectiv: un document de specificație, prin el însuși, nu previne vibe coding-ul, cerințele omise sau testarea insuficientă.</a:t>
            </a:r>
          </a:p>
          <a:p>
            <a:endParaRPr/>
          </a:p>
          <a:p>
            <a:r>
              <a:t>Surse (verificate pe 2 octombrie 2026):</a:t>
            </a:r>
          </a:p>
          <a:p>
            <a:r>
              <a:t>https://simonwillison.net/2025/Mar/19/vibe-coding/</a:t>
            </a:r>
          </a:p>
          <a:p>
            <a:r>
              <a:t>https://specdriven.ai/</a:t>
            </a:r>
          </a:p>
          <a:p>
            <a:r>
              <a:t>https://martinfowler.com/articles/exploring-gen-ai/sdd-3-tools.html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rulare reproductibilă necesită context controlat: commit-ul de repository și de specificație, task-ul revizuit, prompt-ul, runtime-ul, lock-urile de dependențe, configurația, fixtures și comenzile de setup/verificare. Înregistrează setările agentului/modelului acolo unde sunt expuse. Pentru a evalua generarea independentă, pornește sesiuni noi din același commit de dinaintea implementării, rulează aceleași verificări de acceptare și revizuiește ambele diff-uri. Obiectivele sunt comportamentul și procesul repetabile; codul sursă generat poate diferi. Păstrează codul sursă acceptat și input-urile de build pentru rebuild-uri exacte. Ține secretele în afara configurației înregistrate.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Păstrează documentația proporțională cu complexitatea și impactul. Folosește un spec scurt și revizuit, task-uri delimitate și dovezi înregistrate. Testează dacă lucrul poate fi reluat într-o sesiune nouă fără a reconstrui conversația anterioară. Măsoară efortul total, incluzând scrierea specificației și review-ul, implementarea și rework-ul. Urmărește criteriile ratate, defectele, modificările fără legătură și efortul de reluare. Compară lucrări similare, ținând cont de complexitate și familiaritate. Un pilot local informează procesul echipei; nu demonstrează câștiguri universale de productivitate.</a:t>
            </a:r>
          </a:p>
          <a:p>
            <a:endParaRPr/>
          </a:p>
          <a:p>
            <a:r>
              <a:t>Surse (verificate pe 2 octombrie 2026):</a:t>
            </a:r>
          </a:p>
          <a:p>
            <a:r>
              <a:t>https://github.com/github/spec-kit/blob/main/docs/concepts/sdd.md/</a:t>
            </a:r>
          </a:p>
          <a:p>
            <a:r>
              <a:t>https://specdriven.ai/</a:t>
            </a:r>
          </a:p>
          <a:p>
            <a:r>
              <a:t>https://kiro.dev/docs/specs/</a:t>
            </a:r>
          </a:p>
          <a:p>
            <a:r>
              <a:t>https://martinfowler.com/articles/exploring-gen-ai/sdd-3-tools.html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github/spec-kit/blob/main/docs/concepts/sdd.md/" TargetMode="External" /><Relationship Id="rId2" Type="http://schemas.openxmlformats.org/officeDocument/2006/relationships/notesSlide" Target="../notesSlides/notesSlide12.xml" /><Relationship Id="rId1" Type="http://schemas.openxmlformats.org/officeDocument/2006/relationships/slideLayout" Target="../slideLayouts/slideLayout7.xml" /><Relationship Id="rId6" Type="http://schemas.openxmlformats.org/officeDocument/2006/relationships/hyperlink" Target="https://martinfowler.com/articles/exploring-gen-ai/sdd-3-tools.html" TargetMode="External" /><Relationship Id="rId5" Type="http://schemas.openxmlformats.org/officeDocument/2006/relationships/hyperlink" Target="https://kiro.dev/docs/specs/" TargetMode="External" /><Relationship Id="rId4" Type="http://schemas.openxmlformats.org/officeDocument/2006/relationships/hyperlink" Target="https://specdriven.ai/"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F35"/>
        </a:solidFill>
        <a:effectLst/>
      </p:bgPr>
    </p:bg>
    <p:spTree>
      <p:nvGrpSpPr>
        <p:cNvPr id="1" name=""/>
        <p:cNvGrpSpPr/>
        <p:nvPr/>
      </p:nvGrpSpPr>
      <p:grpSpPr>
        <a:xfrm>
          <a:off x="0" y="0"/>
          <a:ext cx="0" cy="0"/>
          <a:chOff x="0" y="0"/>
          <a:chExt cx="0" cy="0"/>
        </a:xfrm>
      </p:grpSpPr>
      <p:sp>
        <p:nvSpPr>
          <p:cNvPr id="2" name="Text: SDD"/>
          <p:cNvSpPr txBox="1"/>
          <p:nvPr/>
        </p:nvSpPr>
        <p:spPr>
          <a:xfrm>
            <a:off x="685800" y="365760"/>
            <a:ext cx="640080" cy="228600"/>
          </a:xfrm>
          <a:prstGeom prst="rect">
            <a:avLst/>
          </a:prstGeom>
          <a:noFill/>
        </p:spPr>
        <p:txBody>
          <a:bodyPr wrap="square" lIns="0" tIns="0" rIns="0" bIns="0">
            <a:spAutoFit/>
          </a:bodyPr>
          <a:lstStyle/>
          <a:p>
            <a:pPr algn="l">
              <a:lnSpc>
                <a:spcPct val="108000"/>
              </a:lnSpc>
              <a:spcBef>
                <a:spcPts val="0"/>
              </a:spcBef>
              <a:spcAft>
                <a:spcPts val="0"/>
              </a:spcAft>
            </a:pPr>
            <a:r>
              <a:rPr sz="1200" b="1">
                <a:solidFill>
                  <a:srgbClr val="FFFFFF"/>
                </a:solidFill>
                <a:latin typeface="Arial"/>
              </a:rPr>
              <a:t>SDD</a:t>
            </a:r>
          </a:p>
        </p:txBody>
      </p:sp>
      <p:cxnSp>
        <p:nvCxnSpPr>
          <p:cNvPr id="3" name="Connector 2"/>
          <p:cNvCxnSpPr/>
          <p:nvPr/>
        </p:nvCxnSpPr>
        <p:spPr>
          <a:xfrm>
            <a:off x="1417320" y="393192"/>
            <a:ext cx="0" cy="173736"/>
          </a:xfrm>
          <a:prstGeom prst="line">
            <a:avLst/>
          </a:prstGeom>
          <a:ln w="15240">
            <a:solidFill>
              <a:srgbClr val="9FB9FF"/>
            </a:solidFill>
          </a:ln>
          <a:effectLst/>
        </p:spPr>
        <p:style>
          <a:lnRef idx="2">
            <a:schemeClr val="accent1"/>
          </a:lnRef>
          <a:fillRef idx="0">
            <a:schemeClr val="accent1"/>
          </a:fillRef>
          <a:effectRef idx="0">
            <a:schemeClr val="accent1"/>
          </a:effectRef>
          <a:fontRef idx="minor">
            <a:schemeClr val="tx1"/>
          </a:fontRef>
        </p:style>
      </p:cxnSp>
      <p:sp>
        <p:nvSpPr>
          <p:cNvPr id="4" name="Text: A PRACTICAL WORKFLOW FOR AI-ASSISTED DEVELOPMENT"/>
          <p:cNvSpPr txBox="1"/>
          <p:nvPr/>
        </p:nvSpPr>
        <p:spPr>
          <a:xfrm>
            <a:off x="1600200" y="365760"/>
            <a:ext cx="8229600" cy="228600"/>
          </a:xfrm>
          <a:prstGeom prst="rect">
            <a:avLst/>
          </a:prstGeom>
          <a:noFill/>
        </p:spPr>
        <p:txBody>
          <a:bodyPr wrap="square" lIns="0" tIns="0" rIns="0" bIns="0">
            <a:spAutoFit/>
          </a:bodyPr>
          <a:lstStyle/>
          <a:p>
            <a:pPr algn="l">
              <a:lnSpc>
                <a:spcPct val="108000"/>
              </a:lnSpc>
              <a:spcBef>
                <a:spcPts val="0"/>
              </a:spcBef>
              <a:spcAft>
                <a:spcPts val="0"/>
              </a:spcAft>
            </a:pPr>
            <a:r>
              <a:rPr sz="1100" b="0">
                <a:solidFill>
                  <a:srgbClr val="B8C6DC"/>
                </a:solidFill>
                <a:latin typeface="Arial"/>
              </a:rPr>
              <a:t>UN FLUX DE LUCRU PRACTIC PENTRU DEZVOLTAREA ASISTATĂ DE AI</a:t>
            </a:r>
          </a:p>
        </p:txBody>
      </p:sp>
      <p:sp>
        <p:nvSpPr>
          <p:cNvPr id="5" name="Text: 01 / 12"/>
          <p:cNvSpPr txBox="1"/>
          <p:nvPr/>
        </p:nvSpPr>
        <p:spPr>
          <a:xfrm>
            <a:off x="10588752" y="6473952"/>
            <a:ext cx="914400" cy="210312"/>
          </a:xfrm>
          <a:prstGeom prst="rect">
            <a:avLst/>
          </a:prstGeom>
          <a:noFill/>
        </p:spPr>
        <p:txBody>
          <a:bodyPr wrap="square" lIns="0" tIns="0" rIns="0" bIns="0">
            <a:spAutoFit/>
          </a:bodyPr>
          <a:lstStyle/>
          <a:p>
            <a:pPr algn="r">
              <a:lnSpc>
                <a:spcPct val="108000"/>
              </a:lnSpc>
              <a:spcBef>
                <a:spcPts val="0"/>
              </a:spcBef>
              <a:spcAft>
                <a:spcPts val="0"/>
              </a:spcAft>
            </a:pPr>
            <a:r>
              <a:rPr sz="1100" b="0">
                <a:solidFill>
                  <a:srgbClr val="B8C6DC"/>
                </a:solidFill>
                <a:latin typeface="Arial"/>
              </a:rPr>
              <a:t>01 / 12</a:t>
            </a:r>
          </a:p>
        </p:txBody>
      </p:sp>
      <p:sp>
        <p:nvSpPr>
          <p:cNvPr id="6" name="Text: CONVOCARE  /  ENGINEERING"/>
          <p:cNvSpPr txBox="1"/>
          <p:nvPr/>
        </p:nvSpPr>
        <p:spPr>
          <a:xfrm>
            <a:off x="685800" y="6473952"/>
            <a:ext cx="4023360" cy="201168"/>
          </a:xfrm>
          <a:prstGeom prst="rect">
            <a:avLst/>
          </a:prstGeom>
          <a:noFill/>
        </p:spPr>
        <p:txBody>
          <a:bodyPr wrap="square" lIns="0" tIns="0" rIns="0" bIns="0">
            <a:spAutoFit/>
          </a:bodyPr>
          <a:lstStyle/>
          <a:p>
            <a:pPr algn="l">
              <a:lnSpc>
                <a:spcPct val="108000"/>
              </a:lnSpc>
              <a:spcBef>
                <a:spcPts val="0"/>
              </a:spcBef>
              <a:spcAft>
                <a:spcPts val="0"/>
              </a:spcAft>
            </a:pPr>
            <a:r>
              <a:rPr sz="900" b="0">
                <a:solidFill>
                  <a:srgbClr val="B8C6DC"/>
                </a:solidFill>
                <a:latin typeface="Arial"/>
              </a:rPr>
              <a:t>CONVOCARE  /  ENGINEERING</a:t>
            </a:r>
          </a:p>
        </p:txBody>
      </p:sp>
      <p:sp>
        <p:nvSpPr>
          <p:cNvPr id="7" name="Text: Spec-Driven / Development"/>
          <p:cNvSpPr txBox="1"/>
          <p:nvPr/>
        </p:nvSpPr>
        <p:spPr>
          <a:xfrm>
            <a:off x="685800" y="1508760"/>
            <a:ext cx="7406640" cy="1828800"/>
          </a:xfrm>
          <a:prstGeom prst="rect">
            <a:avLst/>
          </a:prstGeom>
          <a:noFill/>
        </p:spPr>
        <p:txBody>
          <a:bodyPr wrap="square" lIns="0" tIns="0" rIns="0" bIns="0">
            <a:spAutoFit/>
          </a:bodyPr>
          <a:lstStyle/>
          <a:p>
            <a:pPr algn="l">
              <a:lnSpc>
                <a:spcPct val="104000"/>
              </a:lnSpc>
              <a:spcBef>
                <a:spcPts val="0"/>
              </a:spcBef>
              <a:spcAft>
                <a:spcPts val="0"/>
              </a:spcAft>
            </a:pPr>
            <a:r>
              <a:rPr sz="6000" b="1">
                <a:solidFill>
                  <a:srgbClr val="FFFFFF"/>
                </a:solidFill>
                <a:latin typeface="Arial"/>
              </a:rPr>
              <a:t>Spec-Driven</a:t>
            </a:r>
          </a:p>
          <a:p>
            <a:pPr algn="l">
              <a:lnSpc>
                <a:spcPct val="104000"/>
              </a:lnSpc>
              <a:spcBef>
                <a:spcPts val="0"/>
              </a:spcBef>
              <a:spcAft>
                <a:spcPts val="0"/>
              </a:spcAft>
            </a:pPr>
            <a:r>
              <a:rPr sz="6000" b="1">
                <a:solidFill>
                  <a:srgbClr val="FFFFFF"/>
                </a:solidFill>
                <a:latin typeface="Arial"/>
              </a:rPr>
              <a:t>Development</a:t>
            </a:r>
          </a:p>
        </p:txBody>
      </p:sp>
      <p:sp>
        <p:nvSpPr>
          <p:cNvPr id="8" name="Text: Define intent. / Build with constraints. / Verify the result."/>
          <p:cNvSpPr txBox="1"/>
          <p:nvPr/>
        </p:nvSpPr>
        <p:spPr>
          <a:xfrm>
            <a:off x="722376" y="3785615"/>
            <a:ext cx="6812280" cy="1371600"/>
          </a:xfrm>
          <a:prstGeom prst="rect">
            <a:avLst/>
          </a:prstGeom>
          <a:noFill/>
        </p:spPr>
        <p:txBody>
          <a:bodyPr wrap="square" lIns="0" tIns="0" rIns="0" bIns="0">
            <a:spAutoFit/>
          </a:bodyPr>
          <a:lstStyle/>
          <a:p>
            <a:pPr algn="l">
              <a:lnSpc>
                <a:spcPct val="120000"/>
              </a:lnSpc>
              <a:spcBef>
                <a:spcPts val="0"/>
              </a:spcBef>
              <a:spcAft>
                <a:spcPts val="0"/>
              </a:spcAft>
            </a:pPr>
            <a:r>
              <a:rPr sz="2800" b="0">
                <a:solidFill>
                  <a:srgbClr val="B8C6DC"/>
                </a:solidFill>
                <a:latin typeface="Arial"/>
              </a:rPr>
              <a:t>Definește intenția.</a:t>
            </a:r>
          </a:p>
          <a:p>
            <a:pPr algn="l">
              <a:lnSpc>
                <a:spcPct val="120000"/>
              </a:lnSpc>
              <a:spcBef>
                <a:spcPts val="0"/>
              </a:spcBef>
              <a:spcAft>
                <a:spcPts val="0"/>
              </a:spcAft>
            </a:pPr>
            <a:r>
              <a:rPr sz="2800" b="0">
                <a:solidFill>
                  <a:srgbClr val="B8C6DC"/>
                </a:solidFill>
                <a:latin typeface="Arial"/>
              </a:rPr>
              <a:t>Construiește cu constrângeri.</a:t>
            </a:r>
          </a:p>
          <a:p>
            <a:pPr algn="l">
              <a:lnSpc>
                <a:spcPct val="120000"/>
              </a:lnSpc>
              <a:spcBef>
                <a:spcPts val="0"/>
              </a:spcBef>
              <a:spcAft>
                <a:spcPts val="0"/>
              </a:spcAft>
            </a:pPr>
            <a:r>
              <a:rPr sz="2800" b="0">
                <a:solidFill>
                  <a:srgbClr val="B8C6DC"/>
                </a:solidFill>
                <a:latin typeface="Arial"/>
              </a:rPr>
              <a:t>Verifică rezultatul.</a:t>
            </a:r>
          </a:p>
        </p:txBody>
      </p:sp>
      <p:sp>
        <p:nvSpPr>
          <p:cNvPr id="9" name="Rectangle 8"/>
          <p:cNvSpPr/>
          <p:nvPr/>
        </p:nvSpPr>
        <p:spPr>
          <a:xfrm>
            <a:off x="8842248" y="1572768"/>
            <a:ext cx="2651760" cy="104241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 SPEC"/>
          <p:cNvSpPr txBox="1"/>
          <p:nvPr/>
        </p:nvSpPr>
        <p:spPr>
          <a:xfrm>
            <a:off x="9784080" y="1911095"/>
            <a:ext cx="1453896" cy="301752"/>
          </a:xfrm>
          <a:prstGeom prst="rect">
            <a:avLst/>
          </a:prstGeom>
          <a:noFill/>
        </p:spPr>
        <p:txBody>
          <a:bodyPr wrap="square" lIns="0" tIns="0" rIns="0" bIns="0">
            <a:spAutoFit/>
          </a:bodyPr>
          <a:lstStyle/>
          <a:p>
            <a:pPr algn="l">
              <a:lnSpc>
                <a:spcPct val="108000"/>
              </a:lnSpc>
              <a:spcBef>
                <a:spcPts val="0"/>
              </a:spcBef>
              <a:spcAft>
                <a:spcPts val="0"/>
              </a:spcAft>
            </a:pPr>
            <a:r>
              <a:rPr sz="1800" b="1">
                <a:solidFill>
                  <a:srgbClr val="17243B"/>
                </a:solidFill>
                <a:latin typeface="Arial"/>
              </a:rPr>
              <a:t>SPEC</a:t>
            </a:r>
          </a:p>
        </p:txBody>
      </p:sp>
      <p:sp>
        <p:nvSpPr>
          <p:cNvPr id="11" name="Rectangle 10"/>
          <p:cNvSpPr/>
          <p:nvPr/>
        </p:nvSpPr>
        <p:spPr>
          <a:xfrm>
            <a:off x="9144000" y="1828800"/>
            <a:ext cx="384048" cy="502920"/>
          </a:xfrm>
          <a:prstGeom prst="rect">
            <a:avLst/>
          </a:prstGeom>
          <a:noFill/>
          <a:ln w="16510">
            <a:solidFill>
              <a:srgbClr val="305DE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 name="Connector 11"/>
          <p:cNvCxnSpPr/>
          <p:nvPr/>
        </p:nvCxnSpPr>
        <p:spPr>
          <a:xfrm>
            <a:off x="9217152" y="1938528"/>
            <a:ext cx="237744" cy="0"/>
          </a:xfrm>
          <a:prstGeom prst="line">
            <a:avLst/>
          </a:prstGeom>
          <a:ln w="1397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9217152" y="2048256"/>
            <a:ext cx="237744" cy="0"/>
          </a:xfrm>
          <a:prstGeom prst="line">
            <a:avLst/>
          </a:prstGeom>
          <a:ln w="1397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9217152" y="2157984"/>
            <a:ext cx="237744" cy="0"/>
          </a:xfrm>
          <a:prstGeom prst="line">
            <a:avLst/>
          </a:prstGeom>
          <a:ln w="1397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10168128" y="2642615"/>
            <a:ext cx="0" cy="237745"/>
          </a:xfrm>
          <a:prstGeom prst="line">
            <a:avLst/>
          </a:prstGeom>
          <a:ln w="17780">
            <a:solidFill>
              <a:srgbClr val="9FB9F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 name="Rectangle 15"/>
          <p:cNvSpPr/>
          <p:nvPr/>
        </p:nvSpPr>
        <p:spPr>
          <a:xfrm>
            <a:off x="8842248" y="2916936"/>
            <a:ext cx="2651760" cy="1042415"/>
          </a:xfrm>
          <a:prstGeom prst="rect">
            <a:avLst/>
          </a:prstGeom>
          <a:solidFill>
            <a:srgbClr val="1C2D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 CODE"/>
          <p:cNvSpPr txBox="1"/>
          <p:nvPr/>
        </p:nvSpPr>
        <p:spPr>
          <a:xfrm>
            <a:off x="9784080" y="3255264"/>
            <a:ext cx="1453896" cy="301752"/>
          </a:xfrm>
          <a:prstGeom prst="rect">
            <a:avLst/>
          </a:prstGeom>
          <a:noFill/>
        </p:spPr>
        <p:txBody>
          <a:bodyPr wrap="square" lIns="0" tIns="0" rIns="0" bIns="0">
            <a:spAutoFit/>
          </a:bodyPr>
          <a:lstStyle/>
          <a:p>
            <a:pPr algn="l">
              <a:lnSpc>
                <a:spcPct val="108000"/>
              </a:lnSpc>
              <a:spcBef>
                <a:spcPts val="0"/>
              </a:spcBef>
              <a:spcAft>
                <a:spcPts val="0"/>
              </a:spcAft>
            </a:pPr>
            <a:r>
              <a:rPr sz="1800" b="1">
                <a:solidFill>
                  <a:srgbClr val="FFFFFF"/>
                </a:solidFill>
                <a:latin typeface="Arial"/>
              </a:rPr>
              <a:t>COD</a:t>
            </a:r>
          </a:p>
        </p:txBody>
      </p:sp>
      <p:sp>
        <p:nvSpPr>
          <p:cNvPr id="18" name="Text: &gt;_"/>
          <p:cNvSpPr txBox="1"/>
          <p:nvPr/>
        </p:nvSpPr>
        <p:spPr>
          <a:xfrm>
            <a:off x="9089136" y="3200400"/>
            <a:ext cx="585216" cy="457200"/>
          </a:xfrm>
          <a:prstGeom prst="rect">
            <a:avLst/>
          </a:prstGeom>
          <a:noFill/>
        </p:spPr>
        <p:txBody>
          <a:bodyPr wrap="square" lIns="0" tIns="0" rIns="0" bIns="0">
            <a:spAutoFit/>
          </a:bodyPr>
          <a:lstStyle/>
          <a:p>
            <a:pPr algn="l">
              <a:lnSpc>
                <a:spcPct val="108000"/>
              </a:lnSpc>
              <a:spcBef>
                <a:spcPts val="0"/>
              </a:spcBef>
              <a:spcAft>
                <a:spcPts val="0"/>
              </a:spcAft>
            </a:pPr>
            <a:r>
              <a:rPr sz="2600" b="0">
                <a:solidFill>
                  <a:srgbClr val="9FB9FF"/>
                </a:solidFill>
                <a:latin typeface="DejaVu Sans Mono"/>
              </a:rPr>
              <a:t>&gt;_</a:t>
            </a:r>
          </a:p>
        </p:txBody>
      </p:sp>
      <p:cxnSp>
        <p:nvCxnSpPr>
          <p:cNvPr id="19" name="Connector 18"/>
          <p:cNvCxnSpPr/>
          <p:nvPr/>
        </p:nvCxnSpPr>
        <p:spPr>
          <a:xfrm>
            <a:off x="10168128" y="3986783"/>
            <a:ext cx="0" cy="237745"/>
          </a:xfrm>
          <a:prstGeom prst="line">
            <a:avLst/>
          </a:prstGeom>
          <a:ln w="17780">
            <a:solidFill>
              <a:srgbClr val="9FB9F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0" name="Rectangle 19"/>
          <p:cNvSpPr/>
          <p:nvPr/>
        </p:nvSpPr>
        <p:spPr>
          <a:xfrm>
            <a:off x="8842248" y="4261104"/>
            <a:ext cx="2651760" cy="1042415"/>
          </a:xfrm>
          <a:prstGeom prst="rect">
            <a:avLst/>
          </a:prstGeom>
          <a:solidFill>
            <a:srgbClr val="305D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 PROOF"/>
          <p:cNvSpPr txBox="1"/>
          <p:nvPr/>
        </p:nvSpPr>
        <p:spPr>
          <a:xfrm>
            <a:off x="9784080" y="4599432"/>
            <a:ext cx="1453896" cy="301752"/>
          </a:xfrm>
          <a:prstGeom prst="rect">
            <a:avLst/>
          </a:prstGeom>
          <a:noFill/>
        </p:spPr>
        <p:txBody>
          <a:bodyPr wrap="square" lIns="0" tIns="0" rIns="0" bIns="0">
            <a:spAutoFit/>
          </a:bodyPr>
          <a:lstStyle/>
          <a:p>
            <a:pPr algn="l">
              <a:lnSpc>
                <a:spcPct val="108000"/>
              </a:lnSpc>
              <a:spcBef>
                <a:spcPts val="0"/>
              </a:spcBef>
              <a:spcAft>
                <a:spcPts val="0"/>
              </a:spcAft>
            </a:pPr>
            <a:r>
              <a:rPr sz="1800" b="1">
                <a:solidFill>
                  <a:srgbClr val="FFFFFF"/>
                </a:solidFill>
                <a:latin typeface="Arial"/>
              </a:rPr>
              <a:t>DOVADĂ</a:t>
            </a:r>
          </a:p>
        </p:txBody>
      </p:sp>
      <p:cxnSp>
        <p:nvCxnSpPr>
          <p:cNvPr id="22" name="Connector 21"/>
          <p:cNvCxnSpPr/>
          <p:nvPr/>
        </p:nvCxnSpPr>
        <p:spPr>
          <a:xfrm>
            <a:off x="9144000" y="4762926"/>
            <a:ext cx="136794" cy="136794"/>
          </a:xfrm>
          <a:prstGeom prst="line">
            <a:avLst/>
          </a:prstGeom>
          <a:ln w="31750">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9280794" y="4553712"/>
            <a:ext cx="265542" cy="346008"/>
          </a:xfrm>
          <a:prstGeom prst="line">
            <a:avLst/>
          </a:prstGeom>
          <a:ln w="31750">
            <a:solidFill>
              <a:srgbClr val="FFFFF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SDD"/>
          <p:cNvSpPr txBox="1"/>
          <p:nvPr/>
        </p:nvSpPr>
        <p:spPr>
          <a:xfrm>
            <a:off x="685800" y="365760"/>
            <a:ext cx="640080" cy="228600"/>
          </a:xfrm>
          <a:prstGeom prst="rect">
            <a:avLst/>
          </a:prstGeom>
          <a:noFill/>
        </p:spPr>
        <p:txBody>
          <a:bodyPr wrap="square" lIns="0" tIns="0" r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WHY IT HELPS"/>
          <p:cNvSpPr txBox="1"/>
          <p:nvPr/>
        </p:nvSpPr>
        <p:spPr>
          <a:xfrm>
            <a:off x="1600200" y="365760"/>
            <a:ext cx="8229600" cy="228600"/>
          </a:xfrm>
          <a:prstGeom prst="rect">
            <a:avLst/>
          </a:prstGeom>
          <a:noFill/>
        </p:spPr>
        <p:txBody>
          <a:bodyPr wrap="square" lIns="0" tIns="0" rIns="0" bIns="0">
            <a:spAutoFit/>
          </a:bodyPr>
          <a:lstStyle/>
          <a:p>
            <a:pPr algn="l">
              <a:lnSpc>
                <a:spcPct val="108000"/>
              </a:lnSpc>
              <a:spcBef>
                <a:spcPts val="0"/>
              </a:spcBef>
              <a:spcAft>
                <a:spcPts val="0"/>
              </a:spcAft>
            </a:pPr>
            <a:r>
              <a:rPr sz="1100" b="0">
                <a:solidFill>
                  <a:srgbClr val="5B6980"/>
                </a:solidFill>
                <a:latin typeface="Arial"/>
              </a:rPr>
              <a:t>DE CE AJUTĂ</a:t>
            </a:r>
          </a:p>
        </p:txBody>
      </p:sp>
      <p:sp>
        <p:nvSpPr>
          <p:cNvPr id="5" name="Text: 02 / 12"/>
          <p:cNvSpPr txBox="1"/>
          <p:nvPr/>
        </p:nvSpPr>
        <p:spPr>
          <a:xfrm>
            <a:off x="10588752" y="6473952"/>
            <a:ext cx="914400" cy="210312"/>
          </a:xfrm>
          <a:prstGeom prst="rect">
            <a:avLst/>
          </a:prstGeom>
          <a:noFill/>
        </p:spPr>
        <p:txBody>
          <a:bodyPr wrap="square" lIns="0" tIns="0" rIns="0" bIns="0">
            <a:spAutoFit/>
          </a:bodyPr>
          <a:lstStyle/>
          <a:p>
            <a:pPr algn="r">
              <a:lnSpc>
                <a:spcPct val="108000"/>
              </a:lnSpc>
              <a:spcBef>
                <a:spcPts val="0"/>
              </a:spcBef>
              <a:spcAft>
                <a:spcPts val="0"/>
              </a:spcAft>
            </a:pPr>
            <a:r>
              <a:rPr sz="1100" b="0">
                <a:solidFill>
                  <a:srgbClr val="5B6980"/>
                </a:solidFill>
                <a:latin typeface="Arial"/>
              </a:rPr>
              <a:t>02 / 12</a:t>
            </a:r>
          </a:p>
        </p:txBody>
      </p:sp>
      <p:sp>
        <p:nvSpPr>
          <p:cNvPr id="6" name="Text: CONVOCARE  /  ENGINEERING"/>
          <p:cNvSpPr txBox="1"/>
          <p:nvPr/>
        </p:nvSpPr>
        <p:spPr>
          <a:xfrm>
            <a:off x="685800" y="6473952"/>
            <a:ext cx="4023360" cy="201168"/>
          </a:xfrm>
          <a:prstGeom prst="rect">
            <a:avLst/>
          </a:prstGeom>
          <a:noFill/>
        </p:spPr>
        <p:txBody>
          <a:bodyPr wrap="square" lIns="0" tIns="0" r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Loose prompts leave / important decisions open."/>
          <p:cNvSpPr txBox="1"/>
          <p:nvPr/>
        </p:nvSpPr>
        <p:spPr>
          <a:xfrm>
            <a:off x="685800" y="1033271"/>
            <a:ext cx="10835640" cy="1234440"/>
          </a:xfrm>
          <a:prstGeom prst="rect">
            <a:avLst/>
          </a:prstGeom>
          <a:noFill/>
        </p:spPr>
        <p:txBody>
          <a:bodyPr wrap="square" lIns="0" tIns="0" rIns="0" bIns="0">
            <a:spAutoFit/>
          </a:bodyPr>
          <a:lstStyle/>
          <a:p>
            <a:pPr algn="l">
              <a:lnSpc>
                <a:spcPct val="104000"/>
              </a:lnSpc>
              <a:spcBef>
                <a:spcPts val="0"/>
              </a:spcBef>
              <a:spcAft>
                <a:spcPts val="0"/>
              </a:spcAft>
            </a:pPr>
            <a:r>
              <a:rPr sz="4100" b="1">
                <a:solidFill>
                  <a:srgbClr val="17243B"/>
                </a:solidFill>
                <a:latin typeface="Arial"/>
              </a:rPr>
              <a:t>Prompt-urile vagi lasă</a:t>
            </a:r>
          </a:p>
          <a:p>
            <a:pPr algn="l">
              <a:lnSpc>
                <a:spcPct val="104000"/>
              </a:lnSpc>
              <a:spcBef>
                <a:spcPts val="0"/>
              </a:spcBef>
              <a:spcAft>
                <a:spcPts val="0"/>
              </a:spcAft>
            </a:pPr>
            <a:r>
              <a:rPr sz="4100" b="1">
                <a:solidFill>
                  <a:srgbClr val="17243B"/>
                </a:solidFill>
                <a:latin typeface="Arial"/>
              </a:rPr>
              <a:t>decizii importante nerezolvate.</a:t>
            </a:r>
          </a:p>
        </p:txBody>
      </p:sp>
      <p:sp>
        <p:nvSpPr>
          <p:cNvPr id="8" name="Text: 01"/>
          <p:cNvSpPr txBox="1"/>
          <p:nvPr/>
        </p:nvSpPr>
        <p:spPr>
          <a:xfrm>
            <a:off x="685800" y="2770632"/>
            <a:ext cx="548640" cy="320040"/>
          </a:xfrm>
          <a:prstGeom prst="rect">
            <a:avLst/>
          </a:prstGeom>
          <a:noFill/>
        </p:spPr>
        <p:txBody>
          <a:bodyPr wrap="square" lIns="0" tIns="0" rIns="0" bIns="0">
            <a:spAutoFit/>
          </a:bodyPr>
          <a:lstStyle/>
          <a:p>
            <a:pPr algn="l">
              <a:lnSpc>
                <a:spcPct val="108000"/>
              </a:lnSpc>
              <a:spcBef>
                <a:spcPts val="0"/>
              </a:spcBef>
              <a:spcAft>
                <a:spcPts val="0"/>
              </a:spcAft>
            </a:pPr>
            <a:r>
              <a:rPr sz="1500" b="0">
                <a:solidFill>
                  <a:srgbClr val="305DE6"/>
                </a:solidFill>
                <a:latin typeface="DejaVu Sans Mono"/>
              </a:rPr>
              <a:t>01</a:t>
            </a:r>
          </a:p>
        </p:txBody>
      </p:sp>
      <p:sp>
        <p:nvSpPr>
          <p:cNvPr id="9" name="Text: Ambiguity"/>
          <p:cNvSpPr txBox="1"/>
          <p:nvPr/>
        </p:nvSpPr>
        <p:spPr>
          <a:xfrm>
            <a:off x="685800" y="3410712"/>
            <a:ext cx="3291840" cy="493776"/>
          </a:xfrm>
          <a:prstGeom prst="rect">
            <a:avLst/>
          </a:prstGeom>
          <a:noFill/>
        </p:spPr>
        <p:txBody>
          <a:bodyPr wrap="square" lIns="0" tIns="0" rIns="0" bIns="0">
            <a:spAutoFit/>
          </a:bodyPr>
          <a:lstStyle/>
          <a:p>
            <a:pPr algn="l">
              <a:lnSpc>
                <a:spcPct val="108000"/>
              </a:lnSpc>
              <a:spcBef>
                <a:spcPts val="0"/>
              </a:spcBef>
              <a:spcAft>
                <a:spcPts val="0"/>
              </a:spcAft>
            </a:pPr>
            <a:r>
              <a:rPr sz="2800" b="1">
                <a:solidFill>
                  <a:srgbClr val="17243B"/>
                </a:solidFill>
                <a:latin typeface="Arial"/>
              </a:rPr>
              <a:t>Ambiguitate</a:t>
            </a:r>
          </a:p>
        </p:txBody>
      </p:sp>
      <p:sp>
        <p:nvSpPr>
          <p:cNvPr id="10" name="Text: Unwritten rules / become guesses."/>
          <p:cNvSpPr txBox="1"/>
          <p:nvPr/>
        </p:nvSpPr>
        <p:spPr>
          <a:xfrm>
            <a:off x="685800" y="4151376"/>
            <a:ext cx="3319272" cy="868680"/>
          </a:xfrm>
          <a:prstGeom prst="rect">
            <a:avLst/>
          </a:prstGeom>
          <a:noFill/>
        </p:spPr>
        <p:txBody>
          <a:bodyPr wrap="square" lIns="0" tIns="0" rIns="0" bIns="0">
            <a:spAutoFit/>
          </a:bodyPr>
          <a:lstStyle/>
          <a:p>
            <a:pPr algn="l">
              <a:lnSpc>
                <a:spcPct val="108000"/>
              </a:lnSpc>
              <a:spcBef>
                <a:spcPts val="0"/>
              </a:spcBef>
              <a:spcAft>
                <a:spcPts val="0"/>
              </a:spcAft>
            </a:pPr>
            <a:r>
              <a:rPr sz="2300" b="0">
                <a:solidFill>
                  <a:srgbClr val="5B6980"/>
                </a:solidFill>
                <a:latin typeface="Arial"/>
              </a:rPr>
              <a:t>Regulile nescrise</a:t>
            </a:r>
          </a:p>
          <a:p>
            <a:pPr algn="l">
              <a:lnSpc>
                <a:spcPct val="108000"/>
              </a:lnSpc>
              <a:spcBef>
                <a:spcPts val="0"/>
              </a:spcBef>
              <a:spcAft>
                <a:spcPts val="0"/>
              </a:spcAft>
            </a:pPr>
            <a:r>
              <a:rPr sz="2300" b="0">
                <a:solidFill>
                  <a:srgbClr val="5B6980"/>
                </a:solidFill>
                <a:latin typeface="Arial"/>
              </a:rPr>
              <a:t>devin presupuneri.</a:t>
            </a:r>
          </a:p>
        </p:txBody>
      </p:sp>
      <p:cxnSp>
        <p:nvCxnSpPr>
          <p:cNvPr id="11" name="Connector 10"/>
          <p:cNvCxnSpPr/>
          <p:nvPr/>
        </p:nvCxnSpPr>
        <p:spPr>
          <a:xfrm>
            <a:off x="4142231" y="2770632"/>
            <a:ext cx="0" cy="2304288"/>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2" name="Text: 02"/>
          <p:cNvSpPr txBox="1"/>
          <p:nvPr/>
        </p:nvSpPr>
        <p:spPr>
          <a:xfrm>
            <a:off x="4453128" y="2770632"/>
            <a:ext cx="548640" cy="320040"/>
          </a:xfrm>
          <a:prstGeom prst="rect">
            <a:avLst/>
          </a:prstGeom>
          <a:noFill/>
        </p:spPr>
        <p:txBody>
          <a:bodyPr wrap="square" lIns="0" tIns="0" rIns="0" bIns="0">
            <a:spAutoFit/>
          </a:bodyPr>
          <a:lstStyle/>
          <a:p>
            <a:pPr algn="l">
              <a:lnSpc>
                <a:spcPct val="108000"/>
              </a:lnSpc>
              <a:spcBef>
                <a:spcPts val="0"/>
              </a:spcBef>
              <a:spcAft>
                <a:spcPts val="0"/>
              </a:spcAft>
            </a:pPr>
            <a:r>
              <a:rPr sz="1500" b="0">
                <a:solidFill>
                  <a:srgbClr val="305DE6"/>
                </a:solidFill>
                <a:latin typeface="DejaVu Sans Mono"/>
              </a:rPr>
              <a:t>02</a:t>
            </a:r>
          </a:p>
        </p:txBody>
      </p:sp>
      <p:sp>
        <p:nvSpPr>
          <p:cNvPr id="13" name="Text: Context loss"/>
          <p:cNvSpPr txBox="1"/>
          <p:nvPr/>
        </p:nvSpPr>
        <p:spPr>
          <a:xfrm>
            <a:off x="4453128" y="3410712"/>
            <a:ext cx="3291840" cy="493776"/>
          </a:xfrm>
          <a:prstGeom prst="rect">
            <a:avLst/>
          </a:prstGeom>
          <a:noFill/>
        </p:spPr>
        <p:txBody>
          <a:bodyPr wrap="square" lIns="0" tIns="0" rIns="0" bIns="0">
            <a:spAutoFit/>
          </a:bodyPr>
          <a:lstStyle/>
          <a:p>
            <a:pPr algn="l">
              <a:lnSpc>
                <a:spcPct val="108000"/>
              </a:lnSpc>
              <a:spcBef>
                <a:spcPts val="0"/>
              </a:spcBef>
              <a:spcAft>
                <a:spcPts val="0"/>
              </a:spcAft>
            </a:pPr>
            <a:r>
              <a:rPr sz="2800" b="1">
                <a:solidFill>
                  <a:srgbClr val="17243B"/>
                </a:solidFill>
                <a:latin typeface="Arial"/>
              </a:rPr>
              <a:t>Context pierdut</a:t>
            </a:r>
          </a:p>
        </p:txBody>
      </p:sp>
      <p:sp>
        <p:nvSpPr>
          <p:cNvPr id="14" name="Text: Decisions disappear / between sessions."/>
          <p:cNvSpPr txBox="1"/>
          <p:nvPr/>
        </p:nvSpPr>
        <p:spPr>
          <a:xfrm>
            <a:off x="4453128" y="4151376"/>
            <a:ext cx="3319272" cy="868680"/>
          </a:xfrm>
          <a:prstGeom prst="rect">
            <a:avLst/>
          </a:prstGeom>
          <a:noFill/>
        </p:spPr>
        <p:txBody>
          <a:bodyPr wrap="square" lIns="0" tIns="0" rIns="0" bIns="0">
            <a:spAutoFit/>
          </a:bodyPr>
          <a:lstStyle/>
          <a:p>
            <a:pPr algn="l">
              <a:lnSpc>
                <a:spcPct val="108000"/>
              </a:lnSpc>
              <a:spcBef>
                <a:spcPts val="0"/>
              </a:spcBef>
              <a:spcAft>
                <a:spcPts val="0"/>
              </a:spcAft>
            </a:pPr>
            <a:r>
              <a:rPr sz="2300" b="0">
                <a:solidFill>
                  <a:srgbClr val="5B6980"/>
                </a:solidFill>
                <a:latin typeface="Arial"/>
              </a:rPr>
              <a:t>Deciziile se pierd</a:t>
            </a:r>
          </a:p>
          <a:p>
            <a:pPr algn="l">
              <a:lnSpc>
                <a:spcPct val="108000"/>
              </a:lnSpc>
              <a:spcBef>
                <a:spcPts val="0"/>
              </a:spcBef>
              <a:spcAft>
                <a:spcPts val="0"/>
              </a:spcAft>
            </a:pPr>
            <a:r>
              <a:rPr sz="2300" b="0">
                <a:solidFill>
                  <a:srgbClr val="5B6980"/>
                </a:solidFill>
                <a:latin typeface="Arial"/>
              </a:rPr>
              <a:t>între sesiuni.</a:t>
            </a:r>
          </a:p>
        </p:txBody>
      </p:sp>
      <p:cxnSp>
        <p:nvCxnSpPr>
          <p:cNvPr id="15" name="Connector 14"/>
          <p:cNvCxnSpPr/>
          <p:nvPr/>
        </p:nvCxnSpPr>
        <p:spPr>
          <a:xfrm>
            <a:off x="7909560" y="2770632"/>
            <a:ext cx="0" cy="2304288"/>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6" name="Text: 03"/>
          <p:cNvSpPr txBox="1"/>
          <p:nvPr/>
        </p:nvSpPr>
        <p:spPr>
          <a:xfrm>
            <a:off x="8220456" y="2770632"/>
            <a:ext cx="548640" cy="320040"/>
          </a:xfrm>
          <a:prstGeom prst="rect">
            <a:avLst/>
          </a:prstGeom>
          <a:noFill/>
        </p:spPr>
        <p:txBody>
          <a:bodyPr wrap="square" lIns="0" tIns="0" rIns="0" bIns="0">
            <a:spAutoFit/>
          </a:bodyPr>
          <a:lstStyle/>
          <a:p>
            <a:pPr algn="l">
              <a:lnSpc>
                <a:spcPct val="108000"/>
              </a:lnSpc>
              <a:spcBef>
                <a:spcPts val="0"/>
              </a:spcBef>
              <a:spcAft>
                <a:spcPts val="0"/>
              </a:spcAft>
            </a:pPr>
            <a:r>
              <a:rPr sz="1500" b="0">
                <a:solidFill>
                  <a:srgbClr val="305DE6"/>
                </a:solidFill>
                <a:latin typeface="DejaVu Sans Mono"/>
              </a:rPr>
              <a:t>03</a:t>
            </a:r>
          </a:p>
        </p:txBody>
      </p:sp>
      <p:sp>
        <p:nvSpPr>
          <p:cNvPr id="17" name="Text: Weak validation"/>
          <p:cNvSpPr txBox="1"/>
          <p:nvPr/>
        </p:nvSpPr>
        <p:spPr>
          <a:xfrm>
            <a:off x="8220456" y="3410712"/>
            <a:ext cx="3291840" cy="493776"/>
          </a:xfrm>
          <a:prstGeom prst="rect">
            <a:avLst/>
          </a:prstGeom>
          <a:noFill/>
        </p:spPr>
        <p:txBody>
          <a:bodyPr wrap="square" lIns="0" tIns="0" rIns="0" bIns="0">
            <a:spAutoFit/>
          </a:bodyPr>
          <a:lstStyle/>
          <a:p>
            <a:pPr algn="l">
              <a:lnSpc>
                <a:spcPct val="108000"/>
              </a:lnSpc>
              <a:spcBef>
                <a:spcPts val="0"/>
              </a:spcBef>
              <a:spcAft>
                <a:spcPts val="0"/>
              </a:spcAft>
            </a:pPr>
            <a:r>
              <a:rPr sz="2800" b="1">
                <a:solidFill>
                  <a:srgbClr val="17243B"/>
                </a:solidFill>
                <a:latin typeface="Arial"/>
              </a:rPr>
              <a:t>Validare slabă</a:t>
            </a:r>
          </a:p>
        </p:txBody>
      </p:sp>
      <p:sp>
        <p:nvSpPr>
          <p:cNvPr id="18" name="Text: Output lacks clear / acceptance evidence."/>
          <p:cNvSpPr txBox="1"/>
          <p:nvPr/>
        </p:nvSpPr>
        <p:spPr>
          <a:xfrm>
            <a:off x="8220456" y="4151376"/>
            <a:ext cx="3319272" cy="868680"/>
          </a:xfrm>
          <a:prstGeom prst="rect">
            <a:avLst/>
          </a:prstGeom>
          <a:noFill/>
        </p:spPr>
        <p:txBody>
          <a:bodyPr wrap="square" lIns="0" tIns="0" rIns="0" bIns="0">
            <a:spAutoFit/>
          </a:bodyPr>
          <a:lstStyle/>
          <a:p>
            <a:pPr algn="l">
              <a:lnSpc>
                <a:spcPct val="108000"/>
              </a:lnSpc>
              <a:spcBef>
                <a:spcPts val="0"/>
              </a:spcBef>
              <a:spcAft>
                <a:spcPts val="0"/>
              </a:spcAft>
            </a:pPr>
            <a:r>
              <a:rPr sz="2300" b="0">
                <a:solidFill>
                  <a:srgbClr val="5B6980"/>
                </a:solidFill>
                <a:latin typeface="Arial"/>
              </a:rPr>
              <a:t>Output-ul nu are dovezi</a:t>
            </a:r>
          </a:p>
          <a:p>
            <a:pPr algn="l">
              <a:lnSpc>
                <a:spcPct val="108000"/>
              </a:lnSpc>
              <a:spcBef>
                <a:spcPts val="0"/>
              </a:spcBef>
              <a:spcAft>
                <a:spcPts val="0"/>
              </a:spcAft>
            </a:pPr>
            <a:r>
              <a:rPr sz="2300" b="0">
                <a:solidFill>
                  <a:srgbClr val="5B6980"/>
                </a:solidFill>
                <a:latin typeface="Arial"/>
              </a:rPr>
              <a:t>clare de acceptare.</a:t>
            </a:r>
          </a:p>
        </p:txBody>
      </p:sp>
      <p:cxnSp>
        <p:nvCxnSpPr>
          <p:cNvPr id="19" name="Connector 18"/>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0" name="Text: Record consequential decisions once. Reuse them in every session."/>
          <p:cNvSpPr txBox="1"/>
          <p:nvPr/>
        </p:nvSpPr>
        <p:spPr>
          <a:xfrm>
            <a:off x="685800" y="5870448"/>
            <a:ext cx="10789920" cy="402336"/>
          </a:xfrm>
          <a:prstGeom prst="rect">
            <a:avLst/>
          </a:prstGeom>
          <a:noFill/>
        </p:spPr>
        <p:txBody>
          <a:bodyPr wrap="square" lIns="0" tIns="0" rIns="0" bIns="0">
            <a:spAutoFit/>
          </a:bodyPr>
          <a:lstStyle/>
          <a:p>
            <a:pPr algn="l">
              <a:lnSpc>
                <a:spcPct val="108000"/>
              </a:lnSpc>
              <a:spcBef>
                <a:spcPts val="0"/>
              </a:spcBef>
              <a:spcAft>
                <a:spcPts val="0"/>
              </a:spcAft>
            </a:pPr>
            <a:r>
              <a:rPr sz="2100" b="0">
                <a:solidFill>
                  <a:srgbClr val="5B6980"/>
                </a:solidFill>
                <a:latin typeface="Arial"/>
              </a:rPr>
              <a:t>Notează deciziile importante o singură dată. Refolosește-le în fiecare sesiune.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SDD"/>
          <p:cNvSpPr txBox="1"/>
          <p:nvPr/>
        </p:nvSpPr>
        <p:spPr>
          <a:xfrm>
            <a:off x="685800" y="365760"/>
            <a:ext cx="640080" cy="228600"/>
          </a:xfrm>
          <a:prstGeom prst="rect">
            <a:avLst/>
          </a:prstGeom>
          <a:noFill/>
        </p:spPr>
        <p:txBody>
          <a:bodyPr wrap="square" lIns="0" tIns="0" r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WHAT SDD MEANS"/>
          <p:cNvSpPr txBox="1"/>
          <p:nvPr/>
        </p:nvSpPr>
        <p:spPr>
          <a:xfrm>
            <a:off x="1600200" y="365760"/>
            <a:ext cx="8229600" cy="228600"/>
          </a:xfrm>
          <a:prstGeom prst="rect">
            <a:avLst/>
          </a:prstGeom>
          <a:noFill/>
        </p:spPr>
        <p:txBody>
          <a:bodyPr wrap="square" lIns="0" tIns="0" rIns="0" bIns="0">
            <a:spAutoFit/>
          </a:bodyPr>
          <a:lstStyle/>
          <a:p>
            <a:pPr algn="l">
              <a:lnSpc>
                <a:spcPct val="108000"/>
              </a:lnSpc>
              <a:spcBef>
                <a:spcPts val="0"/>
              </a:spcBef>
              <a:spcAft>
                <a:spcPts val="0"/>
              </a:spcAft>
            </a:pPr>
            <a:r>
              <a:rPr sz="1100" b="0">
                <a:solidFill>
                  <a:srgbClr val="5B6980"/>
                </a:solidFill>
                <a:latin typeface="Arial"/>
              </a:rPr>
              <a:t>CE ÎNSEAMNĂ SDD</a:t>
            </a:r>
          </a:p>
        </p:txBody>
      </p:sp>
      <p:sp>
        <p:nvSpPr>
          <p:cNvPr id="5" name="Text: 03 / 12"/>
          <p:cNvSpPr txBox="1"/>
          <p:nvPr/>
        </p:nvSpPr>
        <p:spPr>
          <a:xfrm>
            <a:off x="10588752" y="6473952"/>
            <a:ext cx="914400" cy="210312"/>
          </a:xfrm>
          <a:prstGeom prst="rect">
            <a:avLst/>
          </a:prstGeom>
          <a:noFill/>
        </p:spPr>
        <p:txBody>
          <a:bodyPr wrap="square" lIns="0" tIns="0" rIns="0" bIns="0">
            <a:spAutoFit/>
          </a:bodyPr>
          <a:lstStyle/>
          <a:p>
            <a:pPr algn="r">
              <a:lnSpc>
                <a:spcPct val="108000"/>
              </a:lnSpc>
              <a:spcBef>
                <a:spcPts val="0"/>
              </a:spcBef>
              <a:spcAft>
                <a:spcPts val="0"/>
              </a:spcAft>
            </a:pPr>
            <a:r>
              <a:rPr sz="1100" b="0">
                <a:solidFill>
                  <a:srgbClr val="5B6980"/>
                </a:solidFill>
                <a:latin typeface="Arial"/>
              </a:rPr>
              <a:t>03 / 12</a:t>
            </a:r>
          </a:p>
        </p:txBody>
      </p:sp>
      <p:sp>
        <p:nvSpPr>
          <p:cNvPr id="6" name="Text: CONVOCARE  /  ENGINEERING"/>
          <p:cNvSpPr txBox="1"/>
          <p:nvPr/>
        </p:nvSpPr>
        <p:spPr>
          <a:xfrm>
            <a:off x="685800" y="6473952"/>
            <a:ext cx="4023360" cy="201168"/>
          </a:xfrm>
          <a:prstGeom prst="rect">
            <a:avLst/>
          </a:prstGeom>
          <a:noFill/>
        </p:spPr>
        <p:txBody>
          <a:bodyPr wrap="square" lIns="0" tIns="0" r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The spec defines / what “done” means."/>
          <p:cNvSpPr txBox="1"/>
          <p:nvPr/>
        </p:nvSpPr>
        <p:spPr>
          <a:xfrm>
            <a:off x="685800" y="1033271"/>
            <a:ext cx="10835640" cy="1234440"/>
          </a:xfrm>
          <a:prstGeom prst="rect">
            <a:avLst/>
          </a:prstGeom>
          <a:noFill/>
        </p:spPr>
        <p:txBody>
          <a:bodyPr wrap="square" lIns="0" tIns="0" rIns="0" bIns="0">
            <a:spAutoFit/>
          </a:bodyPr>
          <a:lstStyle/>
          <a:p>
            <a:pPr algn="l">
              <a:lnSpc>
                <a:spcPct val="104000"/>
              </a:lnSpc>
              <a:spcBef>
                <a:spcPts val="0"/>
              </a:spcBef>
              <a:spcAft>
                <a:spcPts val="0"/>
              </a:spcAft>
            </a:pPr>
            <a:r>
              <a:rPr sz="4100" b="1">
                <a:solidFill>
                  <a:srgbClr val="17243B"/>
                </a:solidFill>
                <a:latin typeface="Arial"/>
              </a:rPr>
              <a:t>Spec-ul definește</a:t>
            </a:r>
          </a:p>
          <a:p>
            <a:pPr algn="l">
              <a:lnSpc>
                <a:spcPct val="104000"/>
              </a:lnSpc>
              <a:spcBef>
                <a:spcPts val="0"/>
              </a:spcBef>
              <a:spcAft>
                <a:spcPts val="0"/>
              </a:spcAft>
            </a:pPr>
            <a:r>
              <a:rPr sz="4100" b="1">
                <a:solidFill>
                  <a:srgbClr val="17243B"/>
                </a:solidFill>
                <a:latin typeface="Arial"/>
              </a:rPr>
              <a:t>ce înseamnă „done”.</a:t>
            </a:r>
          </a:p>
        </p:txBody>
      </p:sp>
      <p:sp>
        <p:nvSpPr>
          <p:cNvPr id="8" name="Rectangle 7"/>
          <p:cNvSpPr/>
          <p:nvPr/>
        </p:nvSpPr>
        <p:spPr>
          <a:xfrm>
            <a:off x="685800" y="2761488"/>
            <a:ext cx="3282696" cy="1664208"/>
          </a:xfrm>
          <a:prstGeom prst="rect">
            <a:avLst/>
          </a:prstGeom>
          <a:solidFill>
            <a:srgbClr val="EDF2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 01"/>
          <p:cNvSpPr txBox="1"/>
          <p:nvPr/>
        </p:nvSpPr>
        <p:spPr>
          <a:xfrm>
            <a:off x="923544" y="2980944"/>
            <a:ext cx="548640" cy="274320"/>
          </a:xfrm>
          <a:prstGeom prst="rect">
            <a:avLst/>
          </a:prstGeom>
          <a:noFill/>
        </p:spPr>
        <p:txBody>
          <a:bodyPr wrap="square" lIns="0" tIns="0" rIns="0" bIns="0">
            <a:spAutoFit/>
          </a:bodyPr>
          <a:lstStyle/>
          <a:p>
            <a:pPr algn="l">
              <a:lnSpc>
                <a:spcPct val="108000"/>
              </a:lnSpc>
              <a:spcBef>
                <a:spcPts val="0"/>
              </a:spcBef>
              <a:spcAft>
                <a:spcPts val="0"/>
              </a:spcAft>
            </a:pPr>
            <a:r>
              <a:rPr sz="1400" b="0">
                <a:solidFill>
                  <a:srgbClr val="305DE6"/>
                </a:solidFill>
                <a:latin typeface="DejaVu Sans Mono"/>
              </a:rPr>
              <a:t>01</a:t>
            </a:r>
          </a:p>
        </p:txBody>
      </p:sp>
      <p:sp>
        <p:nvSpPr>
          <p:cNvPr id="10" name="Text: Specify"/>
          <p:cNvSpPr txBox="1"/>
          <p:nvPr/>
        </p:nvSpPr>
        <p:spPr>
          <a:xfrm>
            <a:off x="923544" y="3410712"/>
            <a:ext cx="2788920" cy="457200"/>
          </a:xfrm>
          <a:prstGeom prst="rect">
            <a:avLst/>
          </a:prstGeom>
          <a:noFill/>
        </p:spPr>
        <p:txBody>
          <a:bodyPr wrap="square" lIns="0" tIns="0" rIns="0" bIns="0">
            <a:spAutoFit/>
          </a:bodyPr>
          <a:lstStyle/>
          <a:p>
            <a:pPr algn="l">
              <a:lnSpc>
                <a:spcPct val="108000"/>
              </a:lnSpc>
              <a:spcBef>
                <a:spcPts val="0"/>
              </a:spcBef>
              <a:spcAft>
                <a:spcPts val="0"/>
              </a:spcAft>
            </a:pPr>
            <a:r>
              <a:rPr sz="2900" b="1">
                <a:solidFill>
                  <a:srgbClr val="17243B"/>
                </a:solidFill>
                <a:latin typeface="Arial"/>
              </a:rPr>
              <a:t>Specifică</a:t>
            </a:r>
          </a:p>
        </p:txBody>
      </p:sp>
      <p:sp>
        <p:nvSpPr>
          <p:cNvPr id="11" name="Text: Outcome + boundaries"/>
          <p:cNvSpPr txBox="1"/>
          <p:nvPr/>
        </p:nvSpPr>
        <p:spPr>
          <a:xfrm>
            <a:off x="923544" y="3977639"/>
            <a:ext cx="2807208" cy="329184"/>
          </a:xfrm>
          <a:prstGeom prst="rect">
            <a:avLst/>
          </a:prstGeom>
          <a:noFill/>
        </p:spPr>
        <p:txBody>
          <a:bodyPr wrap="square" lIns="0" tIns="0" rIns="0" bIns="0">
            <a:spAutoFit/>
          </a:bodyPr>
          <a:lstStyle/>
          <a:p>
            <a:pPr algn="l">
              <a:lnSpc>
                <a:spcPct val="108000"/>
              </a:lnSpc>
              <a:spcBef>
                <a:spcPts val="0"/>
              </a:spcBef>
              <a:spcAft>
                <a:spcPts val="0"/>
              </a:spcAft>
            </a:pPr>
            <a:r>
              <a:rPr sz="1800" b="0">
                <a:solidFill>
                  <a:srgbClr val="5B6980"/>
                </a:solidFill>
                <a:latin typeface="Arial"/>
              </a:rPr>
              <a:t>Rezultat + limite</a:t>
            </a:r>
          </a:p>
        </p:txBody>
      </p:sp>
      <p:sp>
        <p:nvSpPr>
          <p:cNvPr id="12" name="Rectangle 11"/>
          <p:cNvSpPr/>
          <p:nvPr/>
        </p:nvSpPr>
        <p:spPr>
          <a:xfrm>
            <a:off x="4453128" y="2761488"/>
            <a:ext cx="3282696" cy="1664208"/>
          </a:xfrm>
          <a:prstGeom prst="rect">
            <a:avLst/>
          </a:prstGeom>
          <a:solidFill>
            <a:srgbClr val="FFFFFF"/>
          </a:solidFill>
          <a:ln w="16510">
            <a:solidFill>
              <a:srgbClr val="DCE3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 02"/>
          <p:cNvSpPr txBox="1"/>
          <p:nvPr/>
        </p:nvSpPr>
        <p:spPr>
          <a:xfrm>
            <a:off x="4690872" y="2980944"/>
            <a:ext cx="548640" cy="274320"/>
          </a:xfrm>
          <a:prstGeom prst="rect">
            <a:avLst/>
          </a:prstGeom>
          <a:noFill/>
        </p:spPr>
        <p:txBody>
          <a:bodyPr wrap="square" lIns="0" tIns="0" rIns="0" bIns="0">
            <a:spAutoFit/>
          </a:bodyPr>
          <a:lstStyle/>
          <a:p>
            <a:pPr algn="l">
              <a:lnSpc>
                <a:spcPct val="108000"/>
              </a:lnSpc>
              <a:spcBef>
                <a:spcPts val="0"/>
              </a:spcBef>
              <a:spcAft>
                <a:spcPts val="0"/>
              </a:spcAft>
            </a:pPr>
            <a:r>
              <a:rPr sz="1400" b="0">
                <a:solidFill>
                  <a:srgbClr val="305DE6"/>
                </a:solidFill>
                <a:latin typeface="DejaVu Sans Mono"/>
              </a:rPr>
              <a:t>02</a:t>
            </a:r>
          </a:p>
        </p:txBody>
      </p:sp>
      <p:sp>
        <p:nvSpPr>
          <p:cNvPr id="14" name="Text: Implement"/>
          <p:cNvSpPr txBox="1"/>
          <p:nvPr/>
        </p:nvSpPr>
        <p:spPr>
          <a:xfrm>
            <a:off x="4690872" y="3410712"/>
            <a:ext cx="2788920" cy="457200"/>
          </a:xfrm>
          <a:prstGeom prst="rect">
            <a:avLst/>
          </a:prstGeom>
          <a:noFill/>
        </p:spPr>
        <p:txBody>
          <a:bodyPr wrap="square" lIns="0" tIns="0" rIns="0" bIns="0">
            <a:spAutoFit/>
          </a:bodyPr>
          <a:lstStyle/>
          <a:p>
            <a:pPr algn="l">
              <a:lnSpc>
                <a:spcPct val="108000"/>
              </a:lnSpc>
              <a:spcBef>
                <a:spcPts val="0"/>
              </a:spcBef>
              <a:spcAft>
                <a:spcPts val="0"/>
              </a:spcAft>
            </a:pPr>
            <a:r>
              <a:rPr sz="2900" b="1">
                <a:solidFill>
                  <a:srgbClr val="17243B"/>
                </a:solidFill>
                <a:latin typeface="Arial"/>
              </a:rPr>
              <a:t>Implementează</a:t>
            </a:r>
          </a:p>
        </p:txBody>
      </p:sp>
      <p:sp>
        <p:nvSpPr>
          <p:cNvPr id="15" name="Text: A bounded change"/>
          <p:cNvSpPr txBox="1"/>
          <p:nvPr/>
        </p:nvSpPr>
        <p:spPr>
          <a:xfrm>
            <a:off x="4690872" y="3977639"/>
            <a:ext cx="2807208" cy="329184"/>
          </a:xfrm>
          <a:prstGeom prst="rect">
            <a:avLst/>
          </a:prstGeom>
          <a:noFill/>
        </p:spPr>
        <p:txBody>
          <a:bodyPr wrap="square" lIns="0" tIns="0" rIns="0" bIns="0">
            <a:spAutoFit/>
          </a:bodyPr>
          <a:lstStyle/>
          <a:p>
            <a:pPr algn="l">
              <a:lnSpc>
                <a:spcPct val="108000"/>
              </a:lnSpc>
              <a:spcBef>
                <a:spcPts val="0"/>
              </a:spcBef>
              <a:spcAft>
                <a:spcPts val="0"/>
              </a:spcAft>
            </a:pPr>
            <a:r>
              <a:rPr sz="1800" b="0">
                <a:solidFill>
                  <a:srgbClr val="5B6980"/>
                </a:solidFill>
                <a:latin typeface="Arial"/>
              </a:rPr>
              <a:t>O modificare delimitată</a:t>
            </a:r>
          </a:p>
        </p:txBody>
      </p:sp>
      <p:sp>
        <p:nvSpPr>
          <p:cNvPr id="16" name="Rectangle 15"/>
          <p:cNvSpPr/>
          <p:nvPr/>
        </p:nvSpPr>
        <p:spPr>
          <a:xfrm>
            <a:off x="8220456" y="2761488"/>
            <a:ext cx="3282696" cy="1664208"/>
          </a:xfrm>
          <a:prstGeom prst="rect">
            <a:avLst/>
          </a:prstGeom>
          <a:solidFill>
            <a:srgbClr val="E8F5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 03"/>
          <p:cNvSpPr txBox="1"/>
          <p:nvPr/>
        </p:nvSpPr>
        <p:spPr>
          <a:xfrm>
            <a:off x="8458200" y="2980944"/>
            <a:ext cx="548640" cy="274320"/>
          </a:xfrm>
          <a:prstGeom prst="rect">
            <a:avLst/>
          </a:prstGeom>
          <a:noFill/>
        </p:spPr>
        <p:txBody>
          <a:bodyPr wrap="square" lIns="0" tIns="0" rIns="0" bIns="0">
            <a:spAutoFit/>
          </a:bodyPr>
          <a:lstStyle/>
          <a:p>
            <a:pPr algn="l">
              <a:lnSpc>
                <a:spcPct val="108000"/>
              </a:lnSpc>
              <a:spcBef>
                <a:spcPts val="0"/>
              </a:spcBef>
              <a:spcAft>
                <a:spcPts val="0"/>
              </a:spcAft>
            </a:pPr>
            <a:r>
              <a:rPr sz="1400" b="0">
                <a:solidFill>
                  <a:srgbClr val="147D72"/>
                </a:solidFill>
                <a:latin typeface="DejaVu Sans Mono"/>
              </a:rPr>
              <a:t>03</a:t>
            </a:r>
          </a:p>
        </p:txBody>
      </p:sp>
      <p:sp>
        <p:nvSpPr>
          <p:cNvPr id="18" name="Text: Verify"/>
          <p:cNvSpPr txBox="1"/>
          <p:nvPr/>
        </p:nvSpPr>
        <p:spPr>
          <a:xfrm>
            <a:off x="8458200" y="3410712"/>
            <a:ext cx="2788920" cy="457200"/>
          </a:xfrm>
          <a:prstGeom prst="rect">
            <a:avLst/>
          </a:prstGeom>
          <a:noFill/>
        </p:spPr>
        <p:txBody>
          <a:bodyPr wrap="square" lIns="0" tIns="0" rIns="0" bIns="0">
            <a:spAutoFit/>
          </a:bodyPr>
          <a:lstStyle/>
          <a:p>
            <a:pPr algn="l">
              <a:lnSpc>
                <a:spcPct val="108000"/>
              </a:lnSpc>
              <a:spcBef>
                <a:spcPts val="0"/>
              </a:spcBef>
              <a:spcAft>
                <a:spcPts val="0"/>
              </a:spcAft>
            </a:pPr>
            <a:r>
              <a:rPr sz="2900" b="1">
                <a:solidFill>
                  <a:srgbClr val="17243B"/>
                </a:solidFill>
                <a:latin typeface="Arial"/>
              </a:rPr>
              <a:t>Verifică</a:t>
            </a:r>
          </a:p>
        </p:txBody>
      </p:sp>
      <p:sp>
        <p:nvSpPr>
          <p:cNvPr id="19" name="Text: Acceptance + evidence"/>
          <p:cNvSpPr txBox="1"/>
          <p:nvPr/>
        </p:nvSpPr>
        <p:spPr>
          <a:xfrm>
            <a:off x="8458200" y="3977639"/>
            <a:ext cx="2807208" cy="329184"/>
          </a:xfrm>
          <a:prstGeom prst="rect">
            <a:avLst/>
          </a:prstGeom>
          <a:noFill/>
        </p:spPr>
        <p:txBody>
          <a:bodyPr wrap="square" lIns="0" tIns="0" rIns="0" bIns="0">
            <a:spAutoFit/>
          </a:bodyPr>
          <a:lstStyle/>
          <a:p>
            <a:pPr algn="l">
              <a:lnSpc>
                <a:spcPct val="108000"/>
              </a:lnSpc>
              <a:spcBef>
                <a:spcPts val="0"/>
              </a:spcBef>
              <a:spcAft>
                <a:spcPts val="0"/>
              </a:spcAft>
            </a:pPr>
            <a:r>
              <a:rPr sz="1800" b="0">
                <a:solidFill>
                  <a:srgbClr val="5B6980"/>
                </a:solidFill>
                <a:latin typeface="Arial"/>
              </a:rPr>
              <a:t>Acceptare + dovezi</a:t>
            </a:r>
          </a:p>
        </p:txBody>
      </p:sp>
      <p:cxnSp>
        <p:nvCxnSpPr>
          <p:cNvPr id="20" name="Connector 19"/>
          <p:cNvCxnSpPr/>
          <p:nvPr/>
        </p:nvCxnSpPr>
        <p:spPr>
          <a:xfrm>
            <a:off x="4023360" y="3611880"/>
            <a:ext cx="329184" cy="0"/>
          </a:xfrm>
          <a:prstGeom prst="line">
            <a:avLst/>
          </a:prstGeom>
          <a:ln w="20320">
            <a:solidFill>
              <a:srgbClr val="305DE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7790688" y="3611880"/>
            <a:ext cx="329184" cy="0"/>
          </a:xfrm>
          <a:prstGeom prst="line">
            <a:avLst/>
          </a:prstGeom>
          <a:ln w="20320">
            <a:solidFill>
              <a:srgbClr val="305DE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9866376" y="4562856"/>
            <a:ext cx="0" cy="402336"/>
          </a:xfrm>
          <a:prstGeom prst="line">
            <a:avLst/>
          </a:prstGeom>
          <a:ln w="13970">
            <a:solidFill>
              <a:srgbClr val="5B6980"/>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H="1">
            <a:off x="2322576" y="4965192"/>
            <a:ext cx="7543800" cy="0"/>
          </a:xfrm>
          <a:prstGeom prst="line">
            <a:avLst/>
          </a:prstGeom>
          <a:ln w="13970">
            <a:solidFill>
              <a:srgbClr val="5B6980"/>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V="1">
            <a:off x="2322576" y="4562856"/>
            <a:ext cx="0" cy="402336"/>
          </a:xfrm>
          <a:prstGeom prst="line">
            <a:avLst/>
          </a:prstGeom>
          <a:ln w="13970">
            <a:solidFill>
              <a:srgbClr val="5B6980"/>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5" name="Rectangle 24"/>
          <p:cNvSpPr/>
          <p:nvPr/>
        </p:nvSpPr>
        <p:spPr>
          <a:xfrm>
            <a:off x="4151376" y="4782312"/>
            <a:ext cx="3776472"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 Update the spec when intent changes"/>
          <p:cNvSpPr txBox="1"/>
          <p:nvPr/>
        </p:nvSpPr>
        <p:spPr>
          <a:xfrm>
            <a:off x="4151376" y="4800600"/>
            <a:ext cx="3776472" cy="292608"/>
          </a:xfrm>
          <a:prstGeom prst="rect">
            <a:avLst/>
          </a:prstGeom>
          <a:noFill/>
        </p:spPr>
        <p:txBody>
          <a:bodyPr wrap="square" lIns="0" tIns="0" rIns="0" bIns="0">
            <a:spAutoFit/>
          </a:bodyPr>
          <a:lstStyle/>
          <a:p>
            <a:pPr algn="ctr">
              <a:lnSpc>
                <a:spcPct val="108000"/>
              </a:lnSpc>
              <a:spcBef>
                <a:spcPts val="0"/>
              </a:spcBef>
              <a:spcAft>
                <a:spcPts val="0"/>
              </a:spcAft>
            </a:pPr>
            <a:r>
              <a:rPr sz="1600" b="0">
                <a:solidFill>
                  <a:srgbClr val="5B6980"/>
                </a:solidFill>
                <a:latin typeface="Arial"/>
              </a:rPr>
              <a:t>Actualizează spec-ul odată cu intenția</a:t>
            </a:r>
          </a:p>
        </p:txBody>
      </p:sp>
      <p:cxnSp>
        <p:nvCxnSpPr>
          <p:cNvPr id="27" name="Connector 26"/>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8" name="Text: Review the spec before code. Accept the code against the spec."/>
          <p:cNvSpPr txBox="1"/>
          <p:nvPr/>
        </p:nvSpPr>
        <p:spPr>
          <a:xfrm>
            <a:off x="685800" y="5870448"/>
            <a:ext cx="10789920" cy="402336"/>
          </a:xfrm>
          <a:prstGeom prst="rect">
            <a:avLst/>
          </a:prstGeom>
          <a:noFill/>
        </p:spPr>
        <p:txBody>
          <a:bodyPr wrap="square" lIns="0" tIns="0" rIns="0" bIns="0">
            <a:spAutoFit/>
          </a:bodyPr>
          <a:lstStyle/>
          <a:p>
            <a:pPr algn="l">
              <a:lnSpc>
                <a:spcPct val="108000"/>
              </a:lnSpc>
              <a:spcBef>
                <a:spcPts val="0"/>
              </a:spcBef>
              <a:spcAft>
                <a:spcPts val="0"/>
              </a:spcAft>
            </a:pPr>
            <a:r>
              <a:rPr sz="2100" b="0">
                <a:solidFill>
                  <a:srgbClr val="5B6980"/>
                </a:solidFill>
                <a:latin typeface="Arial"/>
              </a:rPr>
              <a:t>Revizuiește spec-ul înainte de cod. Acceptă codul pe baza spec-ului.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SDD"/>
          <p:cNvSpPr txBox="1"/>
          <p:nvPr/>
        </p:nvSpPr>
        <p:spPr>
          <a:xfrm>
            <a:off x="685800" y="365760"/>
            <a:ext cx="640080" cy="228600"/>
          </a:xfrm>
          <a:prstGeom prst="rect">
            <a:avLst/>
          </a:prstGeom>
          <a:noFill/>
        </p:spPr>
        <p:txBody>
          <a:bodyPr wrap="square" lIns="0" tIns="0" r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THE WORKFLOW"/>
          <p:cNvSpPr txBox="1"/>
          <p:nvPr/>
        </p:nvSpPr>
        <p:spPr>
          <a:xfrm>
            <a:off x="1600200" y="365760"/>
            <a:ext cx="8229600" cy="228600"/>
          </a:xfrm>
          <a:prstGeom prst="rect">
            <a:avLst/>
          </a:prstGeom>
          <a:noFill/>
        </p:spPr>
        <p:txBody>
          <a:bodyPr wrap="square" lIns="0" tIns="0" rIns="0" bIns="0">
            <a:spAutoFit/>
          </a:bodyPr>
          <a:lstStyle/>
          <a:p>
            <a:pPr algn="l">
              <a:lnSpc>
                <a:spcPct val="108000"/>
              </a:lnSpc>
              <a:spcBef>
                <a:spcPts val="0"/>
              </a:spcBef>
              <a:spcAft>
                <a:spcPts val="0"/>
              </a:spcAft>
            </a:pPr>
            <a:r>
              <a:rPr sz="1100" b="0">
                <a:solidFill>
                  <a:srgbClr val="5B6980"/>
                </a:solidFill>
                <a:latin typeface="Arial"/>
              </a:rPr>
              <a:t>FLUXUL DE LUCRU</a:t>
            </a:r>
          </a:p>
        </p:txBody>
      </p:sp>
      <p:sp>
        <p:nvSpPr>
          <p:cNvPr id="5" name="Text: 04 / 12"/>
          <p:cNvSpPr txBox="1"/>
          <p:nvPr/>
        </p:nvSpPr>
        <p:spPr>
          <a:xfrm>
            <a:off x="10588752" y="6473952"/>
            <a:ext cx="914400" cy="210312"/>
          </a:xfrm>
          <a:prstGeom prst="rect">
            <a:avLst/>
          </a:prstGeom>
          <a:noFill/>
        </p:spPr>
        <p:txBody>
          <a:bodyPr wrap="square" lIns="0" tIns="0" rIns="0" bIns="0">
            <a:spAutoFit/>
          </a:bodyPr>
          <a:lstStyle/>
          <a:p>
            <a:pPr algn="r">
              <a:lnSpc>
                <a:spcPct val="108000"/>
              </a:lnSpc>
              <a:spcBef>
                <a:spcPts val="0"/>
              </a:spcBef>
              <a:spcAft>
                <a:spcPts val="0"/>
              </a:spcAft>
            </a:pPr>
            <a:r>
              <a:rPr sz="1100" b="0">
                <a:solidFill>
                  <a:srgbClr val="5B6980"/>
                </a:solidFill>
                <a:latin typeface="Arial"/>
              </a:rPr>
              <a:t>04 / 12</a:t>
            </a:r>
          </a:p>
        </p:txBody>
      </p:sp>
      <p:sp>
        <p:nvSpPr>
          <p:cNvPr id="6" name="Text: CONVOCARE  /  ENGINEERING"/>
          <p:cNvSpPr txBox="1"/>
          <p:nvPr/>
        </p:nvSpPr>
        <p:spPr>
          <a:xfrm>
            <a:off x="685800" y="6473952"/>
            <a:ext cx="4023360" cy="201168"/>
          </a:xfrm>
          <a:prstGeom prst="rect">
            <a:avLst/>
          </a:prstGeom>
          <a:noFill/>
        </p:spPr>
        <p:txBody>
          <a:bodyPr wrap="square" lIns="0" tIns="0" r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Resolve intent before generating code."/>
          <p:cNvSpPr txBox="1"/>
          <p:nvPr/>
        </p:nvSpPr>
        <p:spPr>
          <a:xfrm>
            <a:off x="685800" y="1033271"/>
            <a:ext cx="10835640" cy="1234440"/>
          </a:xfrm>
          <a:prstGeom prst="rect">
            <a:avLst/>
          </a:prstGeom>
          <a:noFill/>
        </p:spPr>
        <p:txBody>
          <a:bodyPr wrap="square" lIns="0" tIns="0" rIns="0" bIns="0">
            <a:spAutoFit/>
          </a:bodyPr>
          <a:lstStyle/>
          <a:p>
            <a:pPr algn="l">
              <a:lnSpc>
                <a:spcPct val="104000"/>
              </a:lnSpc>
              <a:spcBef>
                <a:spcPts val="0"/>
              </a:spcBef>
              <a:spcAft>
                <a:spcPts val="0"/>
              </a:spcAft>
            </a:pPr>
            <a:r>
              <a:rPr sz="4100" b="1">
                <a:solidFill>
                  <a:srgbClr val="17243B"/>
                </a:solidFill>
                <a:latin typeface="Arial"/>
              </a:rPr>
              <a:t>Clarifică intenția înainte de a genera cod.</a:t>
            </a:r>
          </a:p>
        </p:txBody>
      </p:sp>
      <p:sp>
        <p:nvSpPr>
          <p:cNvPr id="8" name="Text: FRAME"/>
          <p:cNvSpPr txBox="1"/>
          <p:nvPr/>
        </p:nvSpPr>
        <p:spPr>
          <a:xfrm>
            <a:off x="685800" y="2523744"/>
            <a:ext cx="3291840" cy="329184"/>
          </a:xfrm>
          <a:prstGeom prst="rect">
            <a:avLst/>
          </a:prstGeom>
          <a:noFill/>
        </p:spPr>
        <p:txBody>
          <a:bodyPr wrap="square" lIns="0" tIns="0" rIns="0" bIns="0">
            <a:spAutoFit/>
          </a:bodyPr>
          <a:lstStyle/>
          <a:p>
            <a:pPr algn="l">
              <a:lnSpc>
                <a:spcPct val="108000"/>
              </a:lnSpc>
              <a:spcBef>
                <a:spcPts val="0"/>
              </a:spcBef>
              <a:spcAft>
                <a:spcPts val="0"/>
              </a:spcAft>
            </a:pPr>
            <a:r>
              <a:rPr sz="1400" b="1">
                <a:solidFill>
                  <a:srgbClr val="305DE6"/>
                </a:solidFill>
                <a:latin typeface="Arial"/>
              </a:rPr>
              <a:t>CADRU</a:t>
            </a:r>
          </a:p>
        </p:txBody>
      </p:sp>
      <p:cxnSp>
        <p:nvCxnSpPr>
          <p:cNvPr id="9" name="Connector 8"/>
          <p:cNvCxnSpPr/>
          <p:nvPr/>
        </p:nvCxnSpPr>
        <p:spPr>
          <a:xfrm>
            <a:off x="685800" y="2999232"/>
            <a:ext cx="32735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0" name="Text: 01"/>
          <p:cNvSpPr txBox="1"/>
          <p:nvPr/>
        </p:nvSpPr>
        <p:spPr>
          <a:xfrm>
            <a:off x="685800" y="3383280"/>
            <a:ext cx="493776" cy="365760"/>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305DE6"/>
                </a:solidFill>
                <a:latin typeface="DejaVu Sans Mono"/>
              </a:rPr>
              <a:t>01</a:t>
            </a:r>
          </a:p>
        </p:txBody>
      </p:sp>
      <p:sp>
        <p:nvSpPr>
          <p:cNvPr id="11" name="Text: Guardrails"/>
          <p:cNvSpPr txBox="1"/>
          <p:nvPr/>
        </p:nvSpPr>
        <p:spPr>
          <a:xfrm>
            <a:off x="1399032" y="3346704"/>
            <a:ext cx="2578608" cy="548640"/>
          </a:xfrm>
          <a:prstGeom prst="rect">
            <a:avLst/>
          </a:prstGeom>
          <a:noFill/>
        </p:spPr>
        <p:txBody>
          <a:bodyPr wrap="square" lIns="0" tIns="0" rIns="0" bIns="0">
            <a:spAutoFit/>
          </a:bodyPr>
          <a:lstStyle/>
          <a:p>
            <a:pPr algn="l">
              <a:lnSpc>
                <a:spcPct val="108000"/>
              </a:lnSpc>
              <a:spcBef>
                <a:spcPts val="0"/>
              </a:spcBef>
              <a:spcAft>
                <a:spcPts val="0"/>
              </a:spcAft>
            </a:pPr>
            <a:r>
              <a:rPr sz="2700" b="1">
                <a:solidFill>
                  <a:srgbClr val="17243B"/>
                </a:solidFill>
                <a:latin typeface="Arial"/>
              </a:rPr>
              <a:t>Guardrails</a:t>
            </a:r>
          </a:p>
        </p:txBody>
      </p:sp>
      <p:sp>
        <p:nvSpPr>
          <p:cNvPr id="12" name="Text: 02"/>
          <p:cNvSpPr txBox="1"/>
          <p:nvPr/>
        </p:nvSpPr>
        <p:spPr>
          <a:xfrm>
            <a:off x="685800" y="4151376"/>
            <a:ext cx="493776" cy="365760"/>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305DE6"/>
                </a:solidFill>
                <a:latin typeface="DejaVu Sans Mono"/>
              </a:rPr>
              <a:t>02</a:t>
            </a:r>
          </a:p>
        </p:txBody>
      </p:sp>
      <p:sp>
        <p:nvSpPr>
          <p:cNvPr id="13" name="Text: Specify"/>
          <p:cNvSpPr txBox="1"/>
          <p:nvPr/>
        </p:nvSpPr>
        <p:spPr>
          <a:xfrm>
            <a:off x="1399032" y="4114800"/>
            <a:ext cx="2578608" cy="548640"/>
          </a:xfrm>
          <a:prstGeom prst="rect">
            <a:avLst/>
          </a:prstGeom>
          <a:noFill/>
        </p:spPr>
        <p:txBody>
          <a:bodyPr wrap="square" lIns="0" tIns="0" rIns="0" bIns="0">
            <a:spAutoFit/>
          </a:bodyPr>
          <a:lstStyle/>
          <a:p>
            <a:pPr algn="l">
              <a:lnSpc>
                <a:spcPct val="108000"/>
              </a:lnSpc>
              <a:spcBef>
                <a:spcPts val="0"/>
              </a:spcBef>
              <a:spcAft>
                <a:spcPts val="0"/>
              </a:spcAft>
            </a:pPr>
            <a:r>
              <a:rPr sz="2700" b="1">
                <a:solidFill>
                  <a:srgbClr val="17243B"/>
                </a:solidFill>
                <a:latin typeface="Arial"/>
              </a:rPr>
              <a:t>Specificare</a:t>
            </a:r>
          </a:p>
        </p:txBody>
      </p:sp>
      <p:sp>
        <p:nvSpPr>
          <p:cNvPr id="14" name="Text: Shared rules + outcome"/>
          <p:cNvSpPr txBox="1"/>
          <p:nvPr/>
        </p:nvSpPr>
        <p:spPr>
          <a:xfrm>
            <a:off x="685800" y="4956048"/>
            <a:ext cx="3300984" cy="640080"/>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5B6980"/>
                </a:solidFill>
                <a:latin typeface="Arial"/>
              </a:rPr>
              <a:t>Reguli comune + rezultat</a:t>
            </a:r>
          </a:p>
        </p:txBody>
      </p:sp>
      <p:sp>
        <p:nvSpPr>
          <p:cNvPr id="15" name="Text: RESOLVE"/>
          <p:cNvSpPr txBox="1"/>
          <p:nvPr/>
        </p:nvSpPr>
        <p:spPr>
          <a:xfrm>
            <a:off x="4453128" y="2523744"/>
            <a:ext cx="3291840" cy="329184"/>
          </a:xfrm>
          <a:prstGeom prst="rect">
            <a:avLst/>
          </a:prstGeom>
          <a:noFill/>
        </p:spPr>
        <p:txBody>
          <a:bodyPr wrap="square" lIns="0" tIns="0" rIns="0" bIns="0">
            <a:spAutoFit/>
          </a:bodyPr>
          <a:lstStyle/>
          <a:p>
            <a:pPr algn="l">
              <a:lnSpc>
                <a:spcPct val="108000"/>
              </a:lnSpc>
              <a:spcBef>
                <a:spcPts val="0"/>
              </a:spcBef>
              <a:spcAft>
                <a:spcPts val="0"/>
              </a:spcAft>
            </a:pPr>
            <a:r>
              <a:rPr sz="1400" b="1">
                <a:solidFill>
                  <a:srgbClr val="305DE6"/>
                </a:solidFill>
                <a:latin typeface="Arial"/>
              </a:rPr>
              <a:t>REZOLVARE</a:t>
            </a:r>
          </a:p>
        </p:txBody>
      </p:sp>
      <p:cxnSp>
        <p:nvCxnSpPr>
          <p:cNvPr id="16" name="Connector 15"/>
          <p:cNvCxnSpPr/>
          <p:nvPr/>
        </p:nvCxnSpPr>
        <p:spPr>
          <a:xfrm>
            <a:off x="4453128" y="2999232"/>
            <a:ext cx="3273551"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7" name="Text: 03"/>
          <p:cNvSpPr txBox="1"/>
          <p:nvPr/>
        </p:nvSpPr>
        <p:spPr>
          <a:xfrm>
            <a:off x="4453128" y="3383280"/>
            <a:ext cx="493776" cy="365760"/>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305DE6"/>
                </a:solidFill>
                <a:latin typeface="DejaVu Sans Mono"/>
              </a:rPr>
              <a:t>03</a:t>
            </a:r>
          </a:p>
        </p:txBody>
      </p:sp>
      <p:sp>
        <p:nvSpPr>
          <p:cNvPr id="18" name="Text: Clarify"/>
          <p:cNvSpPr txBox="1"/>
          <p:nvPr/>
        </p:nvSpPr>
        <p:spPr>
          <a:xfrm>
            <a:off x="5166360" y="3346704"/>
            <a:ext cx="2578608" cy="548640"/>
          </a:xfrm>
          <a:prstGeom prst="rect">
            <a:avLst/>
          </a:prstGeom>
          <a:noFill/>
        </p:spPr>
        <p:txBody>
          <a:bodyPr wrap="square" lIns="0" tIns="0" rIns="0" bIns="0">
            <a:spAutoFit/>
          </a:bodyPr>
          <a:lstStyle/>
          <a:p>
            <a:pPr algn="l">
              <a:lnSpc>
                <a:spcPct val="108000"/>
              </a:lnSpc>
              <a:spcBef>
                <a:spcPts val="0"/>
              </a:spcBef>
              <a:spcAft>
                <a:spcPts val="0"/>
              </a:spcAft>
            </a:pPr>
            <a:r>
              <a:rPr sz="2700" b="1">
                <a:solidFill>
                  <a:srgbClr val="17243B"/>
                </a:solidFill>
                <a:latin typeface="Arial"/>
              </a:rPr>
              <a:t>Clarificare</a:t>
            </a:r>
          </a:p>
        </p:txBody>
      </p:sp>
      <p:sp>
        <p:nvSpPr>
          <p:cNvPr id="19" name="Text: 04"/>
          <p:cNvSpPr txBox="1"/>
          <p:nvPr/>
        </p:nvSpPr>
        <p:spPr>
          <a:xfrm>
            <a:off x="4453128" y="4151376"/>
            <a:ext cx="493776" cy="365760"/>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305DE6"/>
                </a:solidFill>
                <a:latin typeface="DejaVu Sans Mono"/>
              </a:rPr>
              <a:t>04</a:t>
            </a:r>
          </a:p>
        </p:txBody>
      </p:sp>
      <p:sp>
        <p:nvSpPr>
          <p:cNvPr id="20" name="Text: Plan"/>
          <p:cNvSpPr txBox="1"/>
          <p:nvPr/>
        </p:nvSpPr>
        <p:spPr>
          <a:xfrm>
            <a:off x="5166360" y="4114800"/>
            <a:ext cx="2578608" cy="548640"/>
          </a:xfrm>
          <a:prstGeom prst="rect">
            <a:avLst/>
          </a:prstGeom>
          <a:noFill/>
        </p:spPr>
        <p:txBody>
          <a:bodyPr wrap="square" lIns="0" tIns="0" rIns="0" bIns="0">
            <a:spAutoFit/>
          </a:bodyPr>
          <a:lstStyle/>
          <a:p>
            <a:pPr algn="l">
              <a:lnSpc>
                <a:spcPct val="108000"/>
              </a:lnSpc>
              <a:spcBef>
                <a:spcPts val="0"/>
              </a:spcBef>
              <a:spcAft>
                <a:spcPts val="0"/>
              </a:spcAft>
            </a:pPr>
            <a:r>
              <a:rPr sz="2700" b="1">
                <a:solidFill>
                  <a:srgbClr val="17243B"/>
                </a:solidFill>
                <a:latin typeface="Arial"/>
              </a:rPr>
              <a:t>Plan</a:t>
            </a:r>
          </a:p>
        </p:txBody>
      </p:sp>
      <p:sp>
        <p:nvSpPr>
          <p:cNvPr id="21" name="Text: Decisions + approach"/>
          <p:cNvSpPr txBox="1"/>
          <p:nvPr/>
        </p:nvSpPr>
        <p:spPr>
          <a:xfrm>
            <a:off x="4453128" y="4956048"/>
            <a:ext cx="3300984" cy="640080"/>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5B6980"/>
                </a:solidFill>
                <a:latin typeface="Arial"/>
              </a:rPr>
              <a:t>Decizii + abordare</a:t>
            </a:r>
          </a:p>
        </p:txBody>
      </p:sp>
      <p:sp>
        <p:nvSpPr>
          <p:cNvPr id="22" name="Text: DELIVER"/>
          <p:cNvSpPr txBox="1"/>
          <p:nvPr/>
        </p:nvSpPr>
        <p:spPr>
          <a:xfrm>
            <a:off x="8220456" y="2523744"/>
            <a:ext cx="3291840" cy="329184"/>
          </a:xfrm>
          <a:prstGeom prst="rect">
            <a:avLst/>
          </a:prstGeom>
          <a:noFill/>
        </p:spPr>
        <p:txBody>
          <a:bodyPr wrap="square" lIns="0" tIns="0" rIns="0" bIns="0">
            <a:spAutoFit/>
          </a:bodyPr>
          <a:lstStyle/>
          <a:p>
            <a:pPr algn="l">
              <a:lnSpc>
                <a:spcPct val="108000"/>
              </a:lnSpc>
              <a:spcBef>
                <a:spcPts val="0"/>
              </a:spcBef>
              <a:spcAft>
                <a:spcPts val="0"/>
              </a:spcAft>
            </a:pPr>
            <a:r>
              <a:rPr sz="1400" b="1">
                <a:solidFill>
                  <a:srgbClr val="305DE6"/>
                </a:solidFill>
                <a:latin typeface="Arial"/>
              </a:rPr>
              <a:t>LIVRARE</a:t>
            </a:r>
          </a:p>
        </p:txBody>
      </p:sp>
      <p:cxnSp>
        <p:nvCxnSpPr>
          <p:cNvPr id="23" name="Connector 22"/>
          <p:cNvCxnSpPr/>
          <p:nvPr/>
        </p:nvCxnSpPr>
        <p:spPr>
          <a:xfrm>
            <a:off x="8220456" y="2999232"/>
            <a:ext cx="32735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4" name="Text: 05"/>
          <p:cNvSpPr txBox="1"/>
          <p:nvPr/>
        </p:nvSpPr>
        <p:spPr>
          <a:xfrm>
            <a:off x="8220456" y="3383280"/>
            <a:ext cx="493776" cy="365760"/>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305DE6"/>
                </a:solidFill>
                <a:latin typeface="DejaVu Sans Mono"/>
              </a:rPr>
              <a:t>05</a:t>
            </a:r>
          </a:p>
        </p:txBody>
      </p:sp>
      <p:sp>
        <p:nvSpPr>
          <p:cNvPr id="25" name="Text: Tasks"/>
          <p:cNvSpPr txBox="1"/>
          <p:nvPr/>
        </p:nvSpPr>
        <p:spPr>
          <a:xfrm>
            <a:off x="8933688" y="3346704"/>
            <a:ext cx="2578608" cy="548640"/>
          </a:xfrm>
          <a:prstGeom prst="rect">
            <a:avLst/>
          </a:prstGeom>
          <a:noFill/>
        </p:spPr>
        <p:txBody>
          <a:bodyPr wrap="square" lIns="0" tIns="0" rIns="0" bIns="0">
            <a:spAutoFit/>
          </a:bodyPr>
          <a:lstStyle/>
          <a:p>
            <a:pPr algn="l">
              <a:lnSpc>
                <a:spcPct val="108000"/>
              </a:lnSpc>
              <a:spcBef>
                <a:spcPts val="0"/>
              </a:spcBef>
              <a:spcAft>
                <a:spcPts val="0"/>
              </a:spcAft>
            </a:pPr>
            <a:r>
              <a:rPr sz="2700" b="1">
                <a:solidFill>
                  <a:srgbClr val="17243B"/>
                </a:solidFill>
                <a:latin typeface="Arial"/>
              </a:rPr>
              <a:t>Task-uri</a:t>
            </a:r>
          </a:p>
        </p:txBody>
      </p:sp>
      <p:sp>
        <p:nvSpPr>
          <p:cNvPr id="26" name="Text: 06"/>
          <p:cNvSpPr txBox="1"/>
          <p:nvPr/>
        </p:nvSpPr>
        <p:spPr>
          <a:xfrm>
            <a:off x="8220456" y="4151376"/>
            <a:ext cx="493776" cy="365760"/>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305DE6"/>
                </a:solidFill>
                <a:latin typeface="DejaVu Sans Mono"/>
              </a:rPr>
              <a:t>06</a:t>
            </a:r>
          </a:p>
        </p:txBody>
      </p:sp>
      <p:sp>
        <p:nvSpPr>
          <p:cNvPr id="27" name="Text: Build + verify"/>
          <p:cNvSpPr txBox="1"/>
          <p:nvPr/>
        </p:nvSpPr>
        <p:spPr>
          <a:xfrm>
            <a:off x="8933688" y="4114800"/>
            <a:ext cx="2800000" cy="548640"/>
          </a:xfrm>
          <a:prstGeom prst="rect">
            <a:avLst/>
          </a:prstGeom>
          <a:noFill/>
        </p:spPr>
        <p:txBody>
          <a:bodyPr wrap="square" lIns="0" tIns="0" rIns="0" bIns="0">
            <a:spAutoFit/>
          </a:bodyPr>
          <a:lstStyle/>
          <a:p>
            <a:pPr algn="l">
              <a:lnSpc>
                <a:spcPct val="108000"/>
              </a:lnSpc>
              <a:spcBef>
                <a:spcPts val="0"/>
              </a:spcBef>
              <a:spcAft>
                <a:spcPts val="0"/>
              </a:spcAft>
            </a:pPr>
            <a:r>
              <a:rPr sz="2700" b="1">
                <a:solidFill>
                  <a:srgbClr val="17243B"/>
                </a:solidFill>
                <a:latin typeface="Arial"/>
              </a:rPr>
              <a:t>Build + validare</a:t>
            </a:r>
          </a:p>
        </p:txBody>
      </p:sp>
      <p:sp>
        <p:nvSpPr>
          <p:cNvPr id="28" name="Text: Bounded work + evidence"/>
          <p:cNvSpPr txBox="1"/>
          <p:nvPr/>
        </p:nvSpPr>
        <p:spPr>
          <a:xfrm>
            <a:off x="8220456" y="4956048"/>
            <a:ext cx="3300984" cy="640080"/>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5B6980"/>
                </a:solidFill>
                <a:latin typeface="Arial"/>
              </a:rPr>
              <a:t>Lucru delimitat + dovezi</a:t>
            </a:r>
          </a:p>
        </p:txBody>
      </p:sp>
      <p:cxnSp>
        <p:nvCxnSpPr>
          <p:cNvPr id="29" name="Connector 28"/>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30" name="Text: Review each artifact before using it as the next input."/>
          <p:cNvSpPr txBox="1"/>
          <p:nvPr/>
        </p:nvSpPr>
        <p:spPr>
          <a:xfrm>
            <a:off x="685800" y="5870448"/>
            <a:ext cx="10789920" cy="402336"/>
          </a:xfrm>
          <a:prstGeom prst="rect">
            <a:avLst/>
          </a:prstGeom>
          <a:noFill/>
        </p:spPr>
        <p:txBody>
          <a:bodyPr wrap="square" lIns="0" tIns="0" rIns="0" bIns="0">
            <a:spAutoFit/>
          </a:bodyPr>
          <a:lstStyle/>
          <a:p>
            <a:pPr algn="l">
              <a:lnSpc>
                <a:spcPct val="108000"/>
              </a:lnSpc>
              <a:spcBef>
                <a:spcPts val="0"/>
              </a:spcBef>
              <a:spcAft>
                <a:spcPts val="0"/>
              </a:spcAft>
            </a:pPr>
            <a:r>
              <a:rPr sz="2100" b="0">
                <a:solidFill>
                  <a:srgbClr val="5B6980"/>
                </a:solidFill>
                <a:latin typeface="Arial"/>
              </a:rPr>
              <a:t>Revizuiește fiecare artefact înainte de a-l folosi ca input pentru pasul următor.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SDD"/>
          <p:cNvSpPr txBox="1"/>
          <p:nvPr/>
        </p:nvSpPr>
        <p:spPr>
          <a:xfrm>
            <a:off x="685800" y="365760"/>
            <a:ext cx="640080" cy="228600"/>
          </a:xfrm>
          <a:prstGeom prst="rect">
            <a:avLst/>
          </a:prstGeom>
          <a:noFill/>
        </p:spPr>
        <p:txBody>
          <a:bodyPr wrap="square" lIns="0" tIns="0" r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ORGANIZING THE MARKDOWN"/>
          <p:cNvSpPr txBox="1"/>
          <p:nvPr/>
        </p:nvSpPr>
        <p:spPr>
          <a:xfrm>
            <a:off x="1600200" y="365760"/>
            <a:ext cx="8229600" cy="228600"/>
          </a:xfrm>
          <a:prstGeom prst="rect">
            <a:avLst/>
          </a:prstGeom>
          <a:noFill/>
        </p:spPr>
        <p:txBody>
          <a:bodyPr wrap="square" lIns="0" tIns="0" rIns="0" bIns="0">
            <a:spAutoFit/>
          </a:bodyPr>
          <a:lstStyle/>
          <a:p>
            <a:pPr algn="l">
              <a:lnSpc>
                <a:spcPct val="108000"/>
              </a:lnSpc>
              <a:spcBef>
                <a:spcPts val="0"/>
              </a:spcBef>
              <a:spcAft>
                <a:spcPts val="0"/>
              </a:spcAft>
            </a:pPr>
            <a:r>
              <a:rPr sz="1100" b="0">
                <a:solidFill>
                  <a:srgbClr val="5B6980"/>
                </a:solidFill>
                <a:latin typeface="Arial"/>
              </a:rPr>
              <a:t>ORGANIZAREA FIȘIERELOR MARKDOWN</a:t>
            </a:r>
          </a:p>
        </p:txBody>
      </p:sp>
      <p:sp>
        <p:nvSpPr>
          <p:cNvPr id="5" name="Text: 05 / 12"/>
          <p:cNvSpPr txBox="1"/>
          <p:nvPr/>
        </p:nvSpPr>
        <p:spPr>
          <a:xfrm>
            <a:off x="10588752" y="6473952"/>
            <a:ext cx="914400" cy="210312"/>
          </a:xfrm>
          <a:prstGeom prst="rect">
            <a:avLst/>
          </a:prstGeom>
          <a:noFill/>
        </p:spPr>
        <p:txBody>
          <a:bodyPr wrap="square" lIns="0" tIns="0" rIns="0" bIns="0">
            <a:spAutoFit/>
          </a:bodyPr>
          <a:lstStyle/>
          <a:p>
            <a:pPr algn="r">
              <a:lnSpc>
                <a:spcPct val="108000"/>
              </a:lnSpc>
              <a:spcBef>
                <a:spcPts val="0"/>
              </a:spcBef>
              <a:spcAft>
                <a:spcPts val="0"/>
              </a:spcAft>
            </a:pPr>
            <a:r>
              <a:rPr sz="1100" b="0">
                <a:solidFill>
                  <a:srgbClr val="5B6980"/>
                </a:solidFill>
                <a:latin typeface="Arial"/>
              </a:rPr>
              <a:t>05 / 12</a:t>
            </a:r>
          </a:p>
        </p:txBody>
      </p:sp>
      <p:sp>
        <p:nvSpPr>
          <p:cNvPr id="6" name="Text: CONVOCARE  /  ENGINEERING"/>
          <p:cNvSpPr txBox="1"/>
          <p:nvPr/>
        </p:nvSpPr>
        <p:spPr>
          <a:xfrm>
            <a:off x="685800" y="6473952"/>
            <a:ext cx="4023360" cy="201168"/>
          </a:xfrm>
          <a:prstGeom prst="rect">
            <a:avLst/>
          </a:prstGeom>
          <a:noFill/>
        </p:spPr>
        <p:txBody>
          <a:bodyPr wrap="square" lIns="0" tIns="0" r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Give each file one job."/>
          <p:cNvSpPr txBox="1"/>
          <p:nvPr/>
        </p:nvSpPr>
        <p:spPr>
          <a:xfrm>
            <a:off x="685800" y="1033271"/>
            <a:ext cx="10835640" cy="1234440"/>
          </a:xfrm>
          <a:prstGeom prst="rect">
            <a:avLst/>
          </a:prstGeom>
          <a:noFill/>
        </p:spPr>
        <p:txBody>
          <a:bodyPr wrap="square" lIns="0" tIns="0" rIns="0" bIns="0">
            <a:spAutoFit/>
          </a:bodyPr>
          <a:lstStyle/>
          <a:p>
            <a:pPr algn="l">
              <a:lnSpc>
                <a:spcPct val="104000"/>
              </a:lnSpc>
              <a:spcBef>
                <a:spcPts val="0"/>
              </a:spcBef>
              <a:spcAft>
                <a:spcPts val="0"/>
              </a:spcAft>
            </a:pPr>
            <a:r>
              <a:rPr sz="4100" b="1">
                <a:solidFill>
                  <a:srgbClr val="17243B"/>
                </a:solidFill>
                <a:latin typeface="Arial"/>
              </a:rPr>
              <a:t>Fiecare fișier are un singur rol.</a:t>
            </a:r>
          </a:p>
        </p:txBody>
      </p:sp>
      <p:sp>
        <p:nvSpPr>
          <p:cNvPr id="8" name="Rectangle 7"/>
          <p:cNvSpPr/>
          <p:nvPr/>
        </p:nvSpPr>
        <p:spPr>
          <a:xfrm>
            <a:off x="685800" y="2221992"/>
            <a:ext cx="10817352" cy="630936"/>
          </a:xfrm>
          <a:prstGeom prst="rect">
            <a:avLst/>
          </a:prstGeom>
          <a:solidFill>
            <a:srgbClr val="EDF2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 constitution.md"/>
          <p:cNvSpPr txBox="1"/>
          <p:nvPr/>
        </p:nvSpPr>
        <p:spPr>
          <a:xfrm>
            <a:off x="914400" y="2423160"/>
            <a:ext cx="3090672" cy="292608"/>
          </a:xfrm>
          <a:prstGeom prst="rect">
            <a:avLst/>
          </a:prstGeom>
          <a:noFill/>
        </p:spPr>
        <p:txBody>
          <a:bodyPr wrap="square" lIns="0" tIns="0" rIns="0" bIns="0">
            <a:spAutoFit/>
          </a:bodyPr>
          <a:lstStyle/>
          <a:p>
            <a:pPr algn="l">
              <a:lnSpc>
                <a:spcPct val="108000"/>
              </a:lnSpc>
              <a:spcBef>
                <a:spcPts val="0"/>
              </a:spcBef>
              <a:spcAft>
                <a:spcPts val="0"/>
              </a:spcAft>
            </a:pPr>
            <a:r>
              <a:rPr sz="1800" b="0">
                <a:solidFill>
                  <a:srgbClr val="305DE6"/>
                </a:solidFill>
                <a:latin typeface="DejaVu Sans Mono"/>
              </a:rPr>
              <a:t>constitution.md</a:t>
            </a:r>
          </a:p>
        </p:txBody>
      </p:sp>
      <p:sp>
        <p:nvSpPr>
          <p:cNvPr id="10" name="Text: Shared guardrails: stack, conventions, checks"/>
          <p:cNvSpPr txBox="1"/>
          <p:nvPr/>
        </p:nvSpPr>
        <p:spPr>
          <a:xfrm>
            <a:off x="4114800" y="2404872"/>
            <a:ext cx="7132320" cy="356616"/>
          </a:xfrm>
          <a:prstGeom prst="rect">
            <a:avLst/>
          </a:prstGeom>
          <a:noFill/>
        </p:spPr>
        <p:txBody>
          <a:bodyPr wrap="square" lIns="0" tIns="0" rIns="0" bIns="0">
            <a:spAutoFit/>
          </a:bodyPr>
          <a:lstStyle/>
          <a:p>
            <a:pPr algn="l">
              <a:lnSpc>
                <a:spcPct val="108000"/>
              </a:lnSpc>
              <a:spcBef>
                <a:spcPts val="0"/>
              </a:spcBef>
              <a:spcAft>
                <a:spcPts val="0"/>
              </a:spcAft>
            </a:pPr>
            <a:r>
              <a:rPr sz="2100" b="0">
                <a:solidFill>
                  <a:srgbClr val="17243B"/>
                </a:solidFill>
                <a:latin typeface="Arial"/>
              </a:rPr>
              <a:t>Guardrails comune: stack, convenții, verificări</a:t>
            </a:r>
          </a:p>
        </p:txBody>
      </p:sp>
      <p:sp>
        <p:nvSpPr>
          <p:cNvPr id="11" name="Text: What + why"/>
          <p:cNvSpPr txBox="1"/>
          <p:nvPr/>
        </p:nvSpPr>
        <p:spPr>
          <a:xfrm>
            <a:off x="685800" y="3337560"/>
            <a:ext cx="3291840" cy="411480"/>
          </a:xfrm>
          <a:prstGeom prst="rect">
            <a:avLst/>
          </a:prstGeom>
          <a:noFill/>
        </p:spPr>
        <p:txBody>
          <a:bodyPr wrap="square" lIns="0" tIns="0" rIns="0" bIns="0">
            <a:spAutoFit/>
          </a:bodyPr>
          <a:lstStyle/>
          <a:p>
            <a:pPr algn="l">
              <a:lnSpc>
                <a:spcPct val="108000"/>
              </a:lnSpc>
              <a:spcBef>
                <a:spcPts val="0"/>
              </a:spcBef>
              <a:spcAft>
                <a:spcPts val="0"/>
              </a:spcAft>
            </a:pPr>
            <a:r>
              <a:rPr sz="2700" b="1">
                <a:solidFill>
                  <a:srgbClr val="17243B"/>
                </a:solidFill>
                <a:latin typeface="Arial"/>
              </a:rPr>
              <a:t>Ce + de ce</a:t>
            </a:r>
          </a:p>
        </p:txBody>
      </p:sp>
      <p:sp>
        <p:nvSpPr>
          <p:cNvPr id="12" name="Text: specification.md"/>
          <p:cNvSpPr txBox="1"/>
          <p:nvPr/>
        </p:nvSpPr>
        <p:spPr>
          <a:xfrm>
            <a:off x="685800" y="3968496"/>
            <a:ext cx="3300984" cy="329184"/>
          </a:xfrm>
          <a:prstGeom prst="rect">
            <a:avLst/>
          </a:prstGeom>
          <a:noFill/>
        </p:spPr>
        <p:txBody>
          <a:bodyPr wrap="square" lIns="0" tIns="0" rIns="0" bIns="0">
            <a:spAutoFit/>
          </a:bodyPr>
          <a:lstStyle/>
          <a:p>
            <a:pPr algn="l">
              <a:lnSpc>
                <a:spcPct val="108000"/>
              </a:lnSpc>
              <a:spcBef>
                <a:spcPts val="0"/>
              </a:spcBef>
              <a:spcAft>
                <a:spcPts val="0"/>
              </a:spcAft>
            </a:pPr>
            <a:r>
              <a:rPr sz="1800" b="0">
                <a:solidFill>
                  <a:srgbClr val="305DE6"/>
                </a:solidFill>
                <a:latin typeface="DejaVu Sans Mono"/>
              </a:rPr>
              <a:t>specification.md</a:t>
            </a:r>
          </a:p>
        </p:txBody>
      </p:sp>
      <p:sp>
        <p:nvSpPr>
          <p:cNvPr id="13" name="Text: Behavior, scope, acceptance"/>
          <p:cNvSpPr txBox="1"/>
          <p:nvPr/>
        </p:nvSpPr>
        <p:spPr>
          <a:xfrm>
            <a:off x="685800" y="4517136"/>
            <a:ext cx="3319272" cy="667512"/>
          </a:xfrm>
          <a:prstGeom prst="rect">
            <a:avLst/>
          </a:prstGeom>
          <a:noFill/>
        </p:spPr>
        <p:txBody>
          <a:bodyPr wrap="square" lIns="0" tIns="0" rIns="0" bIns="0">
            <a:spAutoFit/>
          </a:bodyPr>
          <a:lstStyle/>
          <a:p>
            <a:pPr algn="l">
              <a:lnSpc>
                <a:spcPct val="108000"/>
              </a:lnSpc>
              <a:spcBef>
                <a:spcPts val="0"/>
              </a:spcBef>
              <a:spcAft>
                <a:spcPts val="0"/>
              </a:spcAft>
            </a:pPr>
            <a:r>
              <a:rPr sz="2000" b="0">
                <a:solidFill>
                  <a:srgbClr val="5B6980"/>
                </a:solidFill>
                <a:latin typeface="Arial"/>
              </a:rPr>
              <a:t>Comportament, scope, acceptare</a:t>
            </a:r>
          </a:p>
        </p:txBody>
      </p:sp>
      <p:cxnSp>
        <p:nvCxnSpPr>
          <p:cNvPr id="14" name="Connector 13"/>
          <p:cNvCxnSpPr/>
          <p:nvPr/>
        </p:nvCxnSpPr>
        <p:spPr>
          <a:xfrm>
            <a:off x="4142231" y="3328416"/>
            <a:ext cx="0" cy="1892808"/>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5" name="Text: How"/>
          <p:cNvSpPr txBox="1"/>
          <p:nvPr/>
        </p:nvSpPr>
        <p:spPr>
          <a:xfrm>
            <a:off x="4453128" y="3337560"/>
            <a:ext cx="3291840" cy="411480"/>
          </a:xfrm>
          <a:prstGeom prst="rect">
            <a:avLst/>
          </a:prstGeom>
          <a:noFill/>
        </p:spPr>
        <p:txBody>
          <a:bodyPr wrap="square" lIns="0" tIns="0" rIns="0" bIns="0">
            <a:spAutoFit/>
          </a:bodyPr>
          <a:lstStyle/>
          <a:p>
            <a:pPr algn="l">
              <a:lnSpc>
                <a:spcPct val="108000"/>
              </a:lnSpc>
              <a:spcBef>
                <a:spcPts val="0"/>
              </a:spcBef>
              <a:spcAft>
                <a:spcPts val="0"/>
              </a:spcAft>
            </a:pPr>
            <a:r>
              <a:rPr sz="2700" b="1">
                <a:solidFill>
                  <a:srgbClr val="17243B"/>
                </a:solidFill>
                <a:latin typeface="Arial"/>
              </a:rPr>
              <a:t>Cum</a:t>
            </a:r>
          </a:p>
        </p:txBody>
      </p:sp>
      <p:sp>
        <p:nvSpPr>
          <p:cNvPr id="16" name="Text: plan.md"/>
          <p:cNvSpPr txBox="1"/>
          <p:nvPr/>
        </p:nvSpPr>
        <p:spPr>
          <a:xfrm>
            <a:off x="4453128" y="3968496"/>
            <a:ext cx="3300984" cy="329184"/>
          </a:xfrm>
          <a:prstGeom prst="rect">
            <a:avLst/>
          </a:prstGeom>
          <a:noFill/>
        </p:spPr>
        <p:txBody>
          <a:bodyPr wrap="square" lIns="0" tIns="0" rIns="0" bIns="0">
            <a:spAutoFit/>
          </a:bodyPr>
          <a:lstStyle/>
          <a:p>
            <a:pPr algn="l">
              <a:lnSpc>
                <a:spcPct val="108000"/>
              </a:lnSpc>
              <a:spcBef>
                <a:spcPts val="0"/>
              </a:spcBef>
              <a:spcAft>
                <a:spcPts val="0"/>
              </a:spcAft>
            </a:pPr>
            <a:r>
              <a:rPr sz="1800" b="0">
                <a:solidFill>
                  <a:srgbClr val="305DE6"/>
                </a:solidFill>
                <a:latin typeface="DejaVu Sans Mono"/>
              </a:rPr>
              <a:t>plan.md</a:t>
            </a:r>
          </a:p>
        </p:txBody>
      </p:sp>
      <p:sp>
        <p:nvSpPr>
          <p:cNvPr id="17" name="Text: Architecture, contracts, data"/>
          <p:cNvSpPr txBox="1"/>
          <p:nvPr/>
        </p:nvSpPr>
        <p:spPr>
          <a:xfrm>
            <a:off x="4453128" y="4517136"/>
            <a:ext cx="3319272" cy="667512"/>
          </a:xfrm>
          <a:prstGeom prst="rect">
            <a:avLst/>
          </a:prstGeom>
          <a:noFill/>
        </p:spPr>
        <p:txBody>
          <a:bodyPr wrap="square" lIns="0" tIns="0" rIns="0" bIns="0">
            <a:spAutoFit/>
          </a:bodyPr>
          <a:lstStyle/>
          <a:p>
            <a:pPr algn="l">
              <a:lnSpc>
                <a:spcPct val="108000"/>
              </a:lnSpc>
              <a:spcBef>
                <a:spcPts val="0"/>
              </a:spcBef>
              <a:spcAft>
                <a:spcPts val="0"/>
              </a:spcAft>
            </a:pPr>
            <a:r>
              <a:rPr sz="2000" b="0">
                <a:solidFill>
                  <a:srgbClr val="5B6980"/>
                </a:solidFill>
                <a:latin typeface="Arial"/>
              </a:rPr>
              <a:t>Arhitectură, contracte, date</a:t>
            </a:r>
          </a:p>
        </p:txBody>
      </p:sp>
      <p:cxnSp>
        <p:nvCxnSpPr>
          <p:cNvPr id="18" name="Connector 17"/>
          <p:cNvCxnSpPr/>
          <p:nvPr/>
        </p:nvCxnSpPr>
        <p:spPr>
          <a:xfrm>
            <a:off x="7909560" y="3328416"/>
            <a:ext cx="0" cy="1892808"/>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9" name="Text: What to do next"/>
          <p:cNvSpPr txBox="1"/>
          <p:nvPr/>
        </p:nvSpPr>
        <p:spPr>
          <a:xfrm>
            <a:off x="8220456" y="3337560"/>
            <a:ext cx="3291840" cy="411480"/>
          </a:xfrm>
          <a:prstGeom prst="rect">
            <a:avLst/>
          </a:prstGeom>
          <a:noFill/>
        </p:spPr>
        <p:txBody>
          <a:bodyPr wrap="square" lIns="0" tIns="0" rIns="0" bIns="0">
            <a:spAutoFit/>
          </a:bodyPr>
          <a:lstStyle/>
          <a:p>
            <a:pPr algn="l">
              <a:lnSpc>
                <a:spcPct val="108000"/>
              </a:lnSpc>
              <a:spcBef>
                <a:spcPts val="0"/>
              </a:spcBef>
              <a:spcAft>
                <a:spcPts val="0"/>
              </a:spcAft>
            </a:pPr>
            <a:r>
              <a:rPr sz="2700" b="1">
                <a:solidFill>
                  <a:srgbClr val="17243B"/>
                </a:solidFill>
                <a:latin typeface="Arial"/>
              </a:rPr>
              <a:t>Ce urmează</a:t>
            </a:r>
          </a:p>
        </p:txBody>
      </p:sp>
      <p:sp>
        <p:nvSpPr>
          <p:cNvPr id="20" name="Text: tasks.md"/>
          <p:cNvSpPr txBox="1"/>
          <p:nvPr/>
        </p:nvSpPr>
        <p:spPr>
          <a:xfrm>
            <a:off x="8220456" y="3968496"/>
            <a:ext cx="3300984" cy="329184"/>
          </a:xfrm>
          <a:prstGeom prst="rect">
            <a:avLst/>
          </a:prstGeom>
          <a:noFill/>
        </p:spPr>
        <p:txBody>
          <a:bodyPr wrap="square" lIns="0" tIns="0" rIns="0" bIns="0">
            <a:spAutoFit/>
          </a:bodyPr>
          <a:lstStyle/>
          <a:p>
            <a:pPr algn="l">
              <a:lnSpc>
                <a:spcPct val="108000"/>
              </a:lnSpc>
              <a:spcBef>
                <a:spcPts val="0"/>
              </a:spcBef>
              <a:spcAft>
                <a:spcPts val="0"/>
              </a:spcAft>
            </a:pPr>
            <a:r>
              <a:rPr sz="1800" b="0">
                <a:solidFill>
                  <a:srgbClr val="305DE6"/>
                </a:solidFill>
                <a:latin typeface="DejaVu Sans Mono"/>
              </a:rPr>
              <a:t>tasks.md</a:t>
            </a:r>
          </a:p>
        </p:txBody>
      </p:sp>
      <p:sp>
        <p:nvSpPr>
          <p:cNvPr id="21" name="Text: Order, dependencies, proof"/>
          <p:cNvSpPr txBox="1"/>
          <p:nvPr/>
        </p:nvSpPr>
        <p:spPr>
          <a:xfrm>
            <a:off x="8220456" y="4517136"/>
            <a:ext cx="3319272" cy="667512"/>
          </a:xfrm>
          <a:prstGeom prst="rect">
            <a:avLst/>
          </a:prstGeom>
          <a:noFill/>
        </p:spPr>
        <p:txBody>
          <a:bodyPr wrap="square" lIns="0" tIns="0" rIns="0" bIns="0">
            <a:spAutoFit/>
          </a:bodyPr>
          <a:lstStyle/>
          <a:p>
            <a:pPr algn="l">
              <a:lnSpc>
                <a:spcPct val="108000"/>
              </a:lnSpc>
              <a:spcBef>
                <a:spcPts val="0"/>
              </a:spcBef>
              <a:spcAft>
                <a:spcPts val="0"/>
              </a:spcAft>
            </a:pPr>
            <a:r>
              <a:rPr sz="2000" b="0">
                <a:solidFill>
                  <a:srgbClr val="5B6980"/>
                </a:solidFill>
                <a:latin typeface="Arial"/>
              </a:rPr>
              <a:t>Ordine, dependențe, dovezi</a:t>
            </a:r>
          </a:p>
        </p:txBody>
      </p:sp>
      <p:sp>
        <p:nvSpPr>
          <p:cNvPr id="22" name="Text: + ui.md for interaction states"/>
          <p:cNvSpPr txBox="1"/>
          <p:nvPr/>
        </p:nvSpPr>
        <p:spPr>
          <a:xfrm>
            <a:off x="4453128" y="5184648"/>
            <a:ext cx="6858000" cy="320040"/>
          </a:xfrm>
          <a:prstGeom prst="rect">
            <a:avLst/>
          </a:prstGeom>
          <a:noFill/>
        </p:spPr>
        <p:txBody>
          <a:bodyPr wrap="square" lIns="0" tIns="0" rIns="0" bIns="0">
            <a:spAutoFit/>
          </a:bodyPr>
          <a:lstStyle/>
          <a:p>
            <a:pPr algn="l">
              <a:lnSpc>
                <a:spcPct val="108000"/>
              </a:lnSpc>
              <a:spcBef>
                <a:spcPts val="0"/>
              </a:spcBef>
              <a:spcAft>
                <a:spcPts val="0"/>
              </a:spcAft>
            </a:pPr>
            <a:r>
              <a:rPr sz="1800" b="0">
                <a:solidFill>
                  <a:srgbClr val="147D72"/>
                </a:solidFill>
                <a:latin typeface="Arial"/>
              </a:rPr>
              <a:t>+ ui.md pentru stările de interacțiune</a:t>
            </a:r>
          </a:p>
        </p:txBody>
      </p:sp>
      <p:cxnSp>
        <p:nvCxnSpPr>
          <p:cNvPr id="23" name="Connector 22"/>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4" name="Text: For small features, these can be sections in specs.md."/>
          <p:cNvSpPr txBox="1"/>
          <p:nvPr/>
        </p:nvSpPr>
        <p:spPr>
          <a:xfrm>
            <a:off x="685800" y="5870448"/>
            <a:ext cx="10789920" cy="402336"/>
          </a:xfrm>
          <a:prstGeom prst="rect">
            <a:avLst/>
          </a:prstGeom>
          <a:noFill/>
        </p:spPr>
        <p:txBody>
          <a:bodyPr wrap="square" lIns="0" tIns="0" rIns="0" bIns="0">
            <a:spAutoFit/>
          </a:bodyPr>
          <a:lstStyle/>
          <a:p>
            <a:pPr algn="l">
              <a:lnSpc>
                <a:spcPct val="108000"/>
              </a:lnSpc>
              <a:spcBef>
                <a:spcPts val="0"/>
              </a:spcBef>
              <a:spcAft>
                <a:spcPts val="0"/>
              </a:spcAft>
            </a:pPr>
            <a:r>
              <a:rPr sz="2100" b="0">
                <a:solidFill>
                  <a:srgbClr val="5B6980"/>
                </a:solidFill>
                <a:latin typeface="Arial"/>
              </a:rPr>
              <a:t>Pentru feature-uri mici, acestea pot fi secțiuni în specs.md.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SDD"/>
          <p:cNvSpPr txBox="1"/>
          <p:nvPr/>
        </p:nvSpPr>
        <p:spPr>
          <a:xfrm>
            <a:off x="685800" y="365760"/>
            <a:ext cx="640080" cy="228600"/>
          </a:xfrm>
          <a:prstGeom prst="rect">
            <a:avLst/>
          </a:prstGeom>
          <a:noFill/>
        </p:spPr>
        <p:txBody>
          <a:bodyPr wrap="square" lIns="0" tIns="0" r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WRITING THE SPECIFICATION"/>
          <p:cNvSpPr txBox="1"/>
          <p:nvPr/>
        </p:nvSpPr>
        <p:spPr>
          <a:xfrm>
            <a:off x="1600200" y="365760"/>
            <a:ext cx="8229600" cy="228600"/>
          </a:xfrm>
          <a:prstGeom prst="rect">
            <a:avLst/>
          </a:prstGeom>
          <a:noFill/>
        </p:spPr>
        <p:txBody>
          <a:bodyPr wrap="square" lIns="0" tIns="0" rIns="0" bIns="0">
            <a:spAutoFit/>
          </a:bodyPr>
          <a:lstStyle/>
          <a:p>
            <a:pPr algn="l">
              <a:lnSpc>
                <a:spcPct val="108000"/>
              </a:lnSpc>
              <a:spcBef>
                <a:spcPts val="0"/>
              </a:spcBef>
              <a:spcAft>
                <a:spcPts val="0"/>
              </a:spcAft>
            </a:pPr>
            <a:r>
              <a:rPr sz="1100" b="0">
                <a:solidFill>
                  <a:srgbClr val="5B6980"/>
                </a:solidFill>
                <a:latin typeface="Arial"/>
              </a:rPr>
              <a:t>SCRIEREA SPECIFICAȚIEI</a:t>
            </a:r>
          </a:p>
        </p:txBody>
      </p:sp>
      <p:sp>
        <p:nvSpPr>
          <p:cNvPr id="5" name="Text: 06 / 12"/>
          <p:cNvSpPr txBox="1"/>
          <p:nvPr/>
        </p:nvSpPr>
        <p:spPr>
          <a:xfrm>
            <a:off x="10588752" y="6473952"/>
            <a:ext cx="914400" cy="210312"/>
          </a:xfrm>
          <a:prstGeom prst="rect">
            <a:avLst/>
          </a:prstGeom>
          <a:noFill/>
        </p:spPr>
        <p:txBody>
          <a:bodyPr wrap="square" lIns="0" tIns="0" rIns="0" bIns="0">
            <a:spAutoFit/>
          </a:bodyPr>
          <a:lstStyle/>
          <a:p>
            <a:pPr algn="r">
              <a:lnSpc>
                <a:spcPct val="108000"/>
              </a:lnSpc>
              <a:spcBef>
                <a:spcPts val="0"/>
              </a:spcBef>
              <a:spcAft>
                <a:spcPts val="0"/>
              </a:spcAft>
            </a:pPr>
            <a:r>
              <a:rPr sz="1100" b="0">
                <a:solidFill>
                  <a:srgbClr val="5B6980"/>
                </a:solidFill>
                <a:latin typeface="Arial"/>
              </a:rPr>
              <a:t>06 / 12</a:t>
            </a:r>
          </a:p>
        </p:txBody>
      </p:sp>
      <p:sp>
        <p:nvSpPr>
          <p:cNvPr id="6" name="Text: CONVOCARE  /  ENGINEERING"/>
          <p:cNvSpPr txBox="1"/>
          <p:nvPr/>
        </p:nvSpPr>
        <p:spPr>
          <a:xfrm>
            <a:off x="685800" y="6473952"/>
            <a:ext cx="4023360" cy="201168"/>
          </a:xfrm>
          <a:prstGeom prst="rect">
            <a:avLst/>
          </a:prstGeom>
          <a:noFill/>
        </p:spPr>
        <p:txBody>
          <a:bodyPr wrap="square" lIns="0" tIns="0" r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Write observable behavior."/>
          <p:cNvSpPr txBox="1"/>
          <p:nvPr/>
        </p:nvSpPr>
        <p:spPr>
          <a:xfrm>
            <a:off x="685800" y="1033271"/>
            <a:ext cx="10835640" cy="1234440"/>
          </a:xfrm>
          <a:prstGeom prst="rect">
            <a:avLst/>
          </a:prstGeom>
          <a:noFill/>
        </p:spPr>
        <p:txBody>
          <a:bodyPr wrap="square" lIns="0" tIns="0" rIns="0" bIns="0">
            <a:spAutoFit/>
          </a:bodyPr>
          <a:lstStyle/>
          <a:p>
            <a:pPr algn="l">
              <a:lnSpc>
                <a:spcPct val="104000"/>
              </a:lnSpc>
              <a:spcBef>
                <a:spcPts val="0"/>
              </a:spcBef>
              <a:spcAft>
                <a:spcPts val="0"/>
              </a:spcAft>
            </a:pPr>
            <a:r>
              <a:rPr sz="4100" b="1">
                <a:solidFill>
                  <a:srgbClr val="17243B"/>
                </a:solidFill>
                <a:latin typeface="Arial"/>
              </a:rPr>
              <a:t>Descrie comportament observabil.</a:t>
            </a:r>
          </a:p>
        </p:txBody>
      </p:sp>
      <p:sp>
        <p:nvSpPr>
          <p:cNvPr id="8" name="Text: SPEC"/>
          <p:cNvSpPr txBox="1"/>
          <p:nvPr/>
        </p:nvSpPr>
        <p:spPr>
          <a:xfrm>
            <a:off x="685800" y="2560320"/>
            <a:ext cx="2331720" cy="1005840"/>
          </a:xfrm>
          <a:prstGeom prst="rect">
            <a:avLst/>
          </a:prstGeom>
          <a:noFill/>
        </p:spPr>
        <p:txBody>
          <a:bodyPr wrap="square" lIns="0" tIns="0" rIns="0" bIns="0">
            <a:spAutoFit/>
          </a:bodyPr>
          <a:lstStyle/>
          <a:p>
            <a:pPr algn="l">
              <a:lnSpc>
                <a:spcPct val="108000"/>
              </a:lnSpc>
              <a:spcBef>
                <a:spcPts val="0"/>
              </a:spcBef>
              <a:spcAft>
                <a:spcPts val="0"/>
              </a:spcAft>
            </a:pPr>
            <a:r>
              <a:rPr sz="5200" b="1">
                <a:solidFill>
                  <a:srgbClr val="305DE6"/>
                </a:solidFill>
                <a:latin typeface="Arial"/>
              </a:rPr>
              <a:t>SPEC</a:t>
            </a:r>
          </a:p>
        </p:txBody>
      </p:sp>
      <p:sp>
        <p:nvSpPr>
          <p:cNvPr id="9" name="Text: Acceptance / criteria"/>
          <p:cNvSpPr txBox="1"/>
          <p:nvPr/>
        </p:nvSpPr>
        <p:spPr>
          <a:xfrm>
            <a:off x="731520" y="3785615"/>
            <a:ext cx="2331720" cy="1005840"/>
          </a:xfrm>
          <a:prstGeom prst="rect">
            <a:avLst/>
          </a:prstGeom>
          <a:noFill/>
        </p:spPr>
        <p:txBody>
          <a:bodyPr wrap="square" lIns="0" tIns="0" rIns="0" bIns="0">
            <a:spAutoFit/>
          </a:bodyPr>
          <a:lstStyle/>
          <a:p>
            <a:pPr algn="l">
              <a:lnSpc>
                <a:spcPct val="108000"/>
              </a:lnSpc>
              <a:spcBef>
                <a:spcPts val="0"/>
              </a:spcBef>
              <a:spcAft>
                <a:spcPts val="0"/>
              </a:spcAft>
            </a:pPr>
            <a:r>
              <a:rPr sz="2600" b="1">
                <a:solidFill>
                  <a:srgbClr val="17243B"/>
                </a:solidFill>
                <a:latin typeface="Arial"/>
              </a:rPr>
              <a:t>Criterii de</a:t>
            </a:r>
          </a:p>
          <a:p>
            <a:pPr algn="l">
              <a:lnSpc>
                <a:spcPct val="108000"/>
              </a:lnSpc>
              <a:spcBef>
                <a:spcPts val="0"/>
              </a:spcBef>
              <a:spcAft>
                <a:spcPts val="0"/>
              </a:spcAft>
            </a:pPr>
            <a:r>
              <a:rPr sz="2600" b="1">
                <a:solidFill>
                  <a:srgbClr val="17243B"/>
                </a:solidFill>
                <a:latin typeface="Arial"/>
              </a:rPr>
              <a:t>acceptare</a:t>
            </a:r>
          </a:p>
        </p:txBody>
      </p:sp>
      <p:cxnSp>
        <p:nvCxnSpPr>
          <p:cNvPr id="10" name="Connector 9"/>
          <p:cNvCxnSpPr/>
          <p:nvPr/>
        </p:nvCxnSpPr>
        <p:spPr>
          <a:xfrm>
            <a:off x="3072384" y="2487168"/>
            <a:ext cx="0" cy="2633472"/>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1" name="Text: GIVEN"/>
          <p:cNvSpPr txBox="1"/>
          <p:nvPr/>
        </p:nvSpPr>
        <p:spPr>
          <a:xfrm>
            <a:off x="3520440" y="2633472"/>
            <a:ext cx="1234440" cy="329184"/>
          </a:xfrm>
          <a:prstGeom prst="rect">
            <a:avLst/>
          </a:prstGeom>
          <a:noFill/>
        </p:spPr>
        <p:txBody>
          <a:bodyPr wrap="square" lIns="0" tIns="0" rIns="0" bIns="0">
            <a:spAutoFit/>
          </a:bodyPr>
          <a:lstStyle/>
          <a:p>
            <a:pPr algn="l">
              <a:lnSpc>
                <a:spcPct val="108000"/>
              </a:lnSpc>
              <a:spcBef>
                <a:spcPts val="0"/>
              </a:spcBef>
              <a:spcAft>
                <a:spcPts val="0"/>
              </a:spcAft>
            </a:pPr>
            <a:r>
              <a:rPr sz="1400" b="1">
                <a:solidFill>
                  <a:srgbClr val="305DE6"/>
                </a:solidFill>
                <a:latin typeface="DejaVu Sans Mono"/>
              </a:rPr>
              <a:t>GIVEN</a:t>
            </a:r>
          </a:p>
        </p:txBody>
      </p:sp>
      <p:sp>
        <p:nvSpPr>
          <p:cNvPr id="12" name="Text: Preconditions and relevant state."/>
          <p:cNvSpPr txBox="1"/>
          <p:nvPr/>
        </p:nvSpPr>
        <p:spPr>
          <a:xfrm>
            <a:off x="4937760" y="2578608"/>
            <a:ext cx="6565392" cy="804672"/>
          </a:xfrm>
          <a:prstGeom prst="rect">
            <a:avLst/>
          </a:prstGeom>
          <a:noFill/>
        </p:spPr>
        <p:txBody>
          <a:bodyPr wrap="square" lIns="0" tIns="0" rIns="0" bIns="0">
            <a:spAutoFit/>
          </a:bodyPr>
          <a:lstStyle/>
          <a:p>
            <a:pPr algn="l">
              <a:lnSpc>
                <a:spcPct val="108000"/>
              </a:lnSpc>
              <a:spcBef>
                <a:spcPts val="0"/>
              </a:spcBef>
              <a:spcAft>
                <a:spcPts val="0"/>
              </a:spcAft>
            </a:pPr>
            <a:r>
              <a:rPr sz="2300" b="0">
                <a:solidFill>
                  <a:srgbClr val="17243B"/>
                </a:solidFill>
                <a:latin typeface="Arial"/>
              </a:rPr>
              <a:t>Precondițiile și starea relevantă.</a:t>
            </a:r>
          </a:p>
        </p:txBody>
      </p:sp>
      <p:sp>
        <p:nvSpPr>
          <p:cNvPr id="13" name="Text: WHEN"/>
          <p:cNvSpPr txBox="1"/>
          <p:nvPr/>
        </p:nvSpPr>
        <p:spPr>
          <a:xfrm>
            <a:off x="3520440" y="3712463"/>
            <a:ext cx="1234440" cy="329184"/>
          </a:xfrm>
          <a:prstGeom prst="rect">
            <a:avLst/>
          </a:prstGeom>
          <a:noFill/>
        </p:spPr>
        <p:txBody>
          <a:bodyPr wrap="square" lIns="0" tIns="0" rIns="0" bIns="0">
            <a:spAutoFit/>
          </a:bodyPr>
          <a:lstStyle/>
          <a:p>
            <a:pPr algn="l">
              <a:lnSpc>
                <a:spcPct val="108000"/>
              </a:lnSpc>
              <a:spcBef>
                <a:spcPts val="0"/>
              </a:spcBef>
              <a:spcAft>
                <a:spcPts val="0"/>
              </a:spcAft>
            </a:pPr>
            <a:r>
              <a:rPr sz="1400" b="1">
                <a:solidFill>
                  <a:srgbClr val="305DE6"/>
                </a:solidFill>
                <a:latin typeface="DejaVu Sans Mono"/>
              </a:rPr>
              <a:t>WHEN</a:t>
            </a:r>
          </a:p>
        </p:txBody>
      </p:sp>
      <p:sp>
        <p:nvSpPr>
          <p:cNvPr id="14" name="Text: The action or event that triggers behavior."/>
          <p:cNvSpPr txBox="1"/>
          <p:nvPr/>
        </p:nvSpPr>
        <p:spPr>
          <a:xfrm>
            <a:off x="4937760" y="3657600"/>
            <a:ext cx="6565392" cy="804672"/>
          </a:xfrm>
          <a:prstGeom prst="rect">
            <a:avLst/>
          </a:prstGeom>
          <a:noFill/>
        </p:spPr>
        <p:txBody>
          <a:bodyPr wrap="square" lIns="0" tIns="0" rIns="0" bIns="0">
            <a:spAutoFit/>
          </a:bodyPr>
          <a:lstStyle/>
          <a:p>
            <a:pPr algn="l">
              <a:lnSpc>
                <a:spcPct val="108000"/>
              </a:lnSpc>
              <a:spcBef>
                <a:spcPts val="0"/>
              </a:spcBef>
              <a:spcAft>
                <a:spcPts val="0"/>
              </a:spcAft>
            </a:pPr>
            <a:r>
              <a:rPr sz="2300" b="0">
                <a:solidFill>
                  <a:srgbClr val="17243B"/>
                </a:solidFill>
                <a:latin typeface="Arial"/>
              </a:rPr>
              <a:t>Acțiunea sau evenimentul declanșator.</a:t>
            </a:r>
          </a:p>
        </p:txBody>
      </p:sp>
      <p:sp>
        <p:nvSpPr>
          <p:cNvPr id="15" name="Text: THEN"/>
          <p:cNvSpPr txBox="1"/>
          <p:nvPr/>
        </p:nvSpPr>
        <p:spPr>
          <a:xfrm>
            <a:off x="3520440" y="4590288"/>
            <a:ext cx="1234440" cy="329184"/>
          </a:xfrm>
          <a:prstGeom prst="rect">
            <a:avLst/>
          </a:prstGeom>
          <a:noFill/>
        </p:spPr>
        <p:txBody>
          <a:bodyPr wrap="square" lIns="0" tIns="0" rIns="0" bIns="0">
            <a:spAutoFit/>
          </a:bodyPr>
          <a:lstStyle/>
          <a:p>
            <a:pPr algn="l">
              <a:lnSpc>
                <a:spcPct val="108000"/>
              </a:lnSpc>
              <a:spcBef>
                <a:spcPts val="0"/>
              </a:spcBef>
              <a:spcAft>
                <a:spcPts val="0"/>
              </a:spcAft>
            </a:pPr>
            <a:r>
              <a:rPr sz="1400" b="1">
                <a:solidFill>
                  <a:srgbClr val="305DE6"/>
                </a:solidFill>
                <a:latin typeface="DejaVu Sans Mono"/>
              </a:rPr>
              <a:t>THEN</a:t>
            </a:r>
          </a:p>
        </p:txBody>
      </p:sp>
      <p:sp>
        <p:nvSpPr>
          <p:cNvPr id="16" name="Text: The observable result and measurable checks."/>
          <p:cNvSpPr txBox="1"/>
          <p:nvPr/>
        </p:nvSpPr>
        <p:spPr>
          <a:xfrm>
            <a:off x="4937760" y="4535424"/>
            <a:ext cx="6565392" cy="804672"/>
          </a:xfrm>
          <a:prstGeom prst="rect">
            <a:avLst/>
          </a:prstGeom>
          <a:noFill/>
        </p:spPr>
        <p:txBody>
          <a:bodyPr wrap="square" lIns="0" tIns="0" rIns="0" bIns="0">
            <a:spAutoFit/>
          </a:bodyPr>
          <a:lstStyle/>
          <a:p>
            <a:pPr algn="l">
              <a:lnSpc>
                <a:spcPct val="108000"/>
              </a:lnSpc>
              <a:spcBef>
                <a:spcPts val="0"/>
              </a:spcBef>
              <a:spcAft>
                <a:spcPts val="0"/>
              </a:spcAft>
            </a:pPr>
            <a:r>
              <a:rPr sz="2300" b="1">
                <a:solidFill>
                  <a:srgbClr val="17243B"/>
                </a:solidFill>
                <a:latin typeface="Arial"/>
              </a:rPr>
              <a:t>Rezultatul observabil și verificări măsurabile.</a:t>
            </a:r>
          </a:p>
        </p:txBody>
      </p:sp>
      <p:cxnSp>
        <p:nvCxnSpPr>
          <p:cNvPr id="17" name="Connector 16"/>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8" name="Text: Include scope, non-goals, and measurable acceptance criteria."/>
          <p:cNvSpPr txBox="1"/>
          <p:nvPr/>
        </p:nvSpPr>
        <p:spPr>
          <a:xfrm>
            <a:off x="685800" y="5870448"/>
            <a:ext cx="10789920" cy="402336"/>
          </a:xfrm>
          <a:prstGeom prst="rect">
            <a:avLst/>
          </a:prstGeom>
          <a:noFill/>
        </p:spPr>
        <p:txBody>
          <a:bodyPr wrap="square" lIns="0" tIns="0" rIns="0" bIns="0">
            <a:spAutoFit/>
          </a:bodyPr>
          <a:lstStyle/>
          <a:p>
            <a:pPr algn="l">
              <a:lnSpc>
                <a:spcPct val="108000"/>
              </a:lnSpc>
              <a:spcBef>
                <a:spcPts val="0"/>
              </a:spcBef>
              <a:spcAft>
                <a:spcPts val="0"/>
              </a:spcAft>
            </a:pPr>
            <a:r>
              <a:rPr sz="2100" b="0">
                <a:solidFill>
                  <a:srgbClr val="5B6980"/>
                </a:solidFill>
                <a:latin typeface="Arial"/>
              </a:rPr>
              <a:t>Include scope-ul, non-goals și criterii de acceptare măsurabile.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SDD"/>
          <p:cNvSpPr txBox="1"/>
          <p:nvPr/>
        </p:nvSpPr>
        <p:spPr>
          <a:xfrm>
            <a:off x="685800" y="365760"/>
            <a:ext cx="640080" cy="228600"/>
          </a:xfrm>
          <a:prstGeom prst="rect">
            <a:avLst/>
          </a:prstGeom>
          <a:noFill/>
        </p:spPr>
        <p:txBody>
          <a:bodyPr wrap="square" lIns="0" tIns="0" r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CLARIFYING THE REQUIREMENTS"/>
          <p:cNvSpPr txBox="1"/>
          <p:nvPr/>
        </p:nvSpPr>
        <p:spPr>
          <a:xfrm>
            <a:off x="1600200" y="365760"/>
            <a:ext cx="8229600" cy="228600"/>
          </a:xfrm>
          <a:prstGeom prst="rect">
            <a:avLst/>
          </a:prstGeom>
          <a:noFill/>
        </p:spPr>
        <p:txBody>
          <a:bodyPr wrap="square" lIns="0" tIns="0" rIns="0" bIns="0">
            <a:spAutoFit/>
          </a:bodyPr>
          <a:lstStyle/>
          <a:p>
            <a:pPr algn="l">
              <a:lnSpc>
                <a:spcPct val="108000"/>
              </a:lnSpc>
              <a:spcBef>
                <a:spcPts val="0"/>
              </a:spcBef>
              <a:spcAft>
                <a:spcPts val="0"/>
              </a:spcAft>
            </a:pPr>
            <a:r>
              <a:rPr sz="1100" b="0">
                <a:solidFill>
                  <a:srgbClr val="5B6980"/>
                </a:solidFill>
                <a:latin typeface="Arial"/>
              </a:rPr>
              <a:t>CLARIFICAREA CERINȚELOR</a:t>
            </a:r>
          </a:p>
        </p:txBody>
      </p:sp>
      <p:sp>
        <p:nvSpPr>
          <p:cNvPr id="5" name="Text: 07 / 12"/>
          <p:cNvSpPr txBox="1"/>
          <p:nvPr/>
        </p:nvSpPr>
        <p:spPr>
          <a:xfrm>
            <a:off x="10588752" y="6473952"/>
            <a:ext cx="914400" cy="210312"/>
          </a:xfrm>
          <a:prstGeom prst="rect">
            <a:avLst/>
          </a:prstGeom>
          <a:noFill/>
        </p:spPr>
        <p:txBody>
          <a:bodyPr wrap="square" lIns="0" tIns="0" rIns="0" bIns="0">
            <a:spAutoFit/>
          </a:bodyPr>
          <a:lstStyle/>
          <a:p>
            <a:pPr algn="r">
              <a:lnSpc>
                <a:spcPct val="108000"/>
              </a:lnSpc>
              <a:spcBef>
                <a:spcPts val="0"/>
              </a:spcBef>
              <a:spcAft>
                <a:spcPts val="0"/>
              </a:spcAft>
            </a:pPr>
            <a:r>
              <a:rPr sz="1100" b="0">
                <a:solidFill>
                  <a:srgbClr val="5B6980"/>
                </a:solidFill>
                <a:latin typeface="Arial"/>
              </a:rPr>
              <a:t>07 / 12</a:t>
            </a:r>
          </a:p>
        </p:txBody>
      </p:sp>
      <p:sp>
        <p:nvSpPr>
          <p:cNvPr id="6" name="Text: CONVOCARE  /  ENGINEERING"/>
          <p:cNvSpPr txBox="1"/>
          <p:nvPr/>
        </p:nvSpPr>
        <p:spPr>
          <a:xfrm>
            <a:off x="685800" y="6473952"/>
            <a:ext cx="4023360" cy="201168"/>
          </a:xfrm>
          <a:prstGeom prst="rect">
            <a:avLst/>
          </a:prstGeom>
          <a:noFill/>
        </p:spPr>
        <p:txBody>
          <a:bodyPr wrap="square" lIns="0" tIns="0" r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Resolve ambiguity before implementation."/>
          <p:cNvSpPr txBox="1"/>
          <p:nvPr/>
        </p:nvSpPr>
        <p:spPr>
          <a:xfrm>
            <a:off x="685800" y="1033271"/>
            <a:ext cx="10835640" cy="1234440"/>
          </a:xfrm>
          <a:prstGeom prst="rect">
            <a:avLst/>
          </a:prstGeom>
          <a:noFill/>
        </p:spPr>
        <p:txBody>
          <a:bodyPr wrap="square" lIns="0" tIns="0" rIns="0" bIns="0">
            <a:spAutoFit/>
          </a:bodyPr>
          <a:lstStyle/>
          <a:p>
            <a:pPr algn="l">
              <a:lnSpc>
                <a:spcPct val="104000"/>
              </a:lnSpc>
              <a:spcBef>
                <a:spcPts val="0"/>
              </a:spcBef>
              <a:spcAft>
                <a:spcPts val="0"/>
              </a:spcAft>
            </a:pPr>
            <a:r>
              <a:rPr sz="4100" b="1">
                <a:solidFill>
                  <a:srgbClr val="17243B"/>
                </a:solidFill>
                <a:latin typeface="Arial"/>
              </a:rPr>
              <a:t>Rezolvă ambiguitatea înainte de cod.</a:t>
            </a:r>
          </a:p>
        </p:txBody>
      </p:sp>
      <p:sp>
        <p:nvSpPr>
          <p:cNvPr id="8" name="Text: BOUNDARIES"/>
          <p:cNvSpPr txBox="1"/>
          <p:nvPr/>
        </p:nvSpPr>
        <p:spPr>
          <a:xfrm>
            <a:off x="685800" y="2505456"/>
            <a:ext cx="3291840" cy="320040"/>
          </a:xfrm>
          <a:prstGeom prst="rect">
            <a:avLst/>
          </a:prstGeom>
          <a:noFill/>
        </p:spPr>
        <p:txBody>
          <a:bodyPr wrap="square" lIns="0" tIns="0" rIns="0" bIns="0">
            <a:spAutoFit/>
          </a:bodyPr>
          <a:lstStyle/>
          <a:p>
            <a:pPr algn="l">
              <a:lnSpc>
                <a:spcPct val="108000"/>
              </a:lnSpc>
              <a:spcBef>
                <a:spcPts val="0"/>
              </a:spcBef>
              <a:spcAft>
                <a:spcPts val="0"/>
              </a:spcAft>
            </a:pPr>
            <a:r>
              <a:rPr sz="1300" b="1">
                <a:solidFill>
                  <a:srgbClr val="305DE6"/>
                </a:solidFill>
                <a:latin typeface="DejaVu Sans Mono"/>
              </a:rPr>
              <a:t>LIMITE</a:t>
            </a:r>
          </a:p>
        </p:txBody>
      </p:sp>
      <p:sp>
        <p:nvSpPr>
          <p:cNvPr id="9" name="Text: Scope"/>
          <p:cNvSpPr txBox="1"/>
          <p:nvPr/>
        </p:nvSpPr>
        <p:spPr>
          <a:xfrm>
            <a:off x="685800" y="3090672"/>
            <a:ext cx="3291840" cy="914400"/>
          </a:xfrm>
          <a:prstGeom prst="rect">
            <a:avLst/>
          </a:prstGeom>
          <a:noFill/>
        </p:spPr>
        <p:txBody>
          <a:bodyPr wrap="square" lIns="0" tIns="0" rIns="0" bIns="0">
            <a:spAutoFit/>
          </a:bodyPr>
          <a:lstStyle/>
          <a:p>
            <a:pPr algn="l">
              <a:lnSpc>
                <a:spcPct val="108000"/>
              </a:lnSpc>
              <a:spcBef>
                <a:spcPts val="0"/>
              </a:spcBef>
              <a:spcAft>
                <a:spcPts val="0"/>
              </a:spcAft>
            </a:pPr>
            <a:r>
              <a:rPr sz="4200" b="1">
                <a:solidFill>
                  <a:srgbClr val="17243B"/>
                </a:solidFill>
                <a:latin typeface="Arial"/>
              </a:rPr>
              <a:t>Scope</a:t>
            </a:r>
          </a:p>
        </p:txBody>
      </p:sp>
      <p:sp>
        <p:nvSpPr>
          <p:cNvPr id="10" name="Text: Define included and / excluded behavior."/>
          <p:cNvSpPr txBox="1"/>
          <p:nvPr/>
        </p:nvSpPr>
        <p:spPr>
          <a:xfrm>
            <a:off x="685800" y="4197096"/>
            <a:ext cx="3355848" cy="822960"/>
          </a:xfrm>
          <a:prstGeom prst="rect">
            <a:avLst/>
          </a:prstGeom>
          <a:noFill/>
        </p:spPr>
        <p:txBody>
          <a:bodyPr wrap="square" lIns="0" tIns="0" rIns="0" bIns="0">
            <a:spAutoFit/>
          </a:bodyPr>
          <a:lstStyle/>
          <a:p>
            <a:pPr algn="l">
              <a:lnSpc>
                <a:spcPct val="108000"/>
              </a:lnSpc>
              <a:spcBef>
                <a:spcPts val="0"/>
              </a:spcBef>
              <a:spcAft>
                <a:spcPts val="0"/>
              </a:spcAft>
            </a:pPr>
            <a:r>
              <a:rPr sz="2300" b="0">
                <a:solidFill>
                  <a:srgbClr val="17243B"/>
                </a:solidFill>
                <a:latin typeface="Arial"/>
              </a:rPr>
              <a:t>Definește ce este inclus</a:t>
            </a:r>
          </a:p>
          <a:p>
            <a:pPr algn="l">
              <a:lnSpc>
                <a:spcPct val="108000"/>
              </a:lnSpc>
              <a:spcBef>
                <a:spcPts val="0"/>
              </a:spcBef>
              <a:spcAft>
                <a:spcPts val="0"/>
              </a:spcAft>
            </a:pPr>
            <a:r>
              <a:rPr sz="2300" b="0">
                <a:solidFill>
                  <a:srgbClr val="17243B"/>
                </a:solidFill>
                <a:latin typeface="Arial"/>
              </a:rPr>
              <a:t>și ce este exclus.</a:t>
            </a:r>
          </a:p>
        </p:txBody>
      </p:sp>
      <p:cxnSp>
        <p:nvCxnSpPr>
          <p:cNvPr id="11" name="Connector 10"/>
          <p:cNvCxnSpPr/>
          <p:nvPr/>
        </p:nvCxnSpPr>
        <p:spPr>
          <a:xfrm>
            <a:off x="4133087" y="2487168"/>
            <a:ext cx="0" cy="2953512"/>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2" name="Text: DECISIONS"/>
          <p:cNvSpPr txBox="1"/>
          <p:nvPr/>
        </p:nvSpPr>
        <p:spPr>
          <a:xfrm>
            <a:off x="4453128" y="2505456"/>
            <a:ext cx="3291840" cy="320040"/>
          </a:xfrm>
          <a:prstGeom prst="rect">
            <a:avLst/>
          </a:prstGeom>
          <a:noFill/>
        </p:spPr>
        <p:txBody>
          <a:bodyPr wrap="square" lIns="0" tIns="0" rIns="0" bIns="0">
            <a:spAutoFit/>
          </a:bodyPr>
          <a:lstStyle/>
          <a:p>
            <a:pPr algn="l">
              <a:lnSpc>
                <a:spcPct val="108000"/>
              </a:lnSpc>
              <a:spcBef>
                <a:spcPts val="0"/>
              </a:spcBef>
              <a:spcAft>
                <a:spcPts val="0"/>
              </a:spcAft>
            </a:pPr>
            <a:r>
              <a:rPr sz="1300" b="1">
                <a:solidFill>
                  <a:srgbClr val="305DE6"/>
                </a:solidFill>
                <a:latin typeface="DejaVu Sans Mono"/>
              </a:rPr>
              <a:t>DECIZII</a:t>
            </a:r>
          </a:p>
        </p:txBody>
      </p:sp>
      <p:sp>
        <p:nvSpPr>
          <p:cNvPr id="13" name="Text: Rules"/>
          <p:cNvSpPr txBox="1"/>
          <p:nvPr/>
        </p:nvSpPr>
        <p:spPr>
          <a:xfrm>
            <a:off x="4453128" y="3090672"/>
            <a:ext cx="3291840" cy="914400"/>
          </a:xfrm>
          <a:prstGeom prst="rect">
            <a:avLst/>
          </a:prstGeom>
          <a:noFill/>
        </p:spPr>
        <p:txBody>
          <a:bodyPr wrap="square" lIns="0" tIns="0" rIns="0" bIns="0">
            <a:spAutoFit/>
          </a:bodyPr>
          <a:lstStyle/>
          <a:p>
            <a:pPr algn="l">
              <a:lnSpc>
                <a:spcPct val="108000"/>
              </a:lnSpc>
              <a:spcBef>
                <a:spcPts val="0"/>
              </a:spcBef>
              <a:spcAft>
                <a:spcPts val="0"/>
              </a:spcAft>
            </a:pPr>
            <a:r>
              <a:rPr sz="4200" b="1">
                <a:solidFill>
                  <a:srgbClr val="17243B"/>
                </a:solidFill>
                <a:latin typeface="Arial"/>
              </a:rPr>
              <a:t>Reguli</a:t>
            </a:r>
          </a:p>
        </p:txBody>
      </p:sp>
      <p:sp>
        <p:nvSpPr>
          <p:cNvPr id="14" name="Text: Record permissions, / limits, and constraints."/>
          <p:cNvSpPr txBox="1"/>
          <p:nvPr/>
        </p:nvSpPr>
        <p:spPr>
          <a:xfrm>
            <a:off x="4453128" y="4197096"/>
            <a:ext cx="3355848" cy="822960"/>
          </a:xfrm>
          <a:prstGeom prst="rect">
            <a:avLst/>
          </a:prstGeom>
          <a:noFill/>
        </p:spPr>
        <p:txBody>
          <a:bodyPr wrap="square" lIns="0" tIns="0" rIns="0" bIns="0">
            <a:spAutoFit/>
          </a:bodyPr>
          <a:lstStyle/>
          <a:p>
            <a:pPr algn="l">
              <a:lnSpc>
                <a:spcPct val="108000"/>
              </a:lnSpc>
              <a:spcBef>
                <a:spcPts val="0"/>
              </a:spcBef>
              <a:spcAft>
                <a:spcPts val="0"/>
              </a:spcAft>
            </a:pPr>
            <a:r>
              <a:rPr sz="2300" b="0">
                <a:solidFill>
                  <a:srgbClr val="17243B"/>
                </a:solidFill>
                <a:latin typeface="Arial"/>
              </a:rPr>
              <a:t>Notează permisiunile,</a:t>
            </a:r>
          </a:p>
          <a:p>
            <a:pPr algn="l">
              <a:lnSpc>
                <a:spcPct val="108000"/>
              </a:lnSpc>
              <a:spcBef>
                <a:spcPts val="0"/>
              </a:spcBef>
              <a:spcAft>
                <a:spcPts val="0"/>
              </a:spcAft>
            </a:pPr>
            <a:r>
              <a:rPr sz="2300" b="0">
                <a:solidFill>
                  <a:srgbClr val="17243B"/>
                </a:solidFill>
                <a:latin typeface="Arial"/>
              </a:rPr>
              <a:t>limitele și constrângerile.</a:t>
            </a:r>
          </a:p>
        </p:txBody>
      </p:sp>
      <p:cxnSp>
        <p:nvCxnSpPr>
          <p:cNvPr id="15" name="Connector 14"/>
          <p:cNvCxnSpPr/>
          <p:nvPr/>
        </p:nvCxnSpPr>
        <p:spPr>
          <a:xfrm>
            <a:off x="7900416" y="2487168"/>
            <a:ext cx="0" cy="2953512"/>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6" name="Text: ERROR HANDLING"/>
          <p:cNvSpPr txBox="1"/>
          <p:nvPr/>
        </p:nvSpPr>
        <p:spPr>
          <a:xfrm>
            <a:off x="8220456" y="2505456"/>
            <a:ext cx="3291840" cy="320040"/>
          </a:xfrm>
          <a:prstGeom prst="rect">
            <a:avLst/>
          </a:prstGeom>
          <a:noFill/>
        </p:spPr>
        <p:txBody>
          <a:bodyPr wrap="square" lIns="0" tIns="0" rIns="0" bIns="0">
            <a:spAutoFit/>
          </a:bodyPr>
          <a:lstStyle/>
          <a:p>
            <a:pPr algn="l">
              <a:lnSpc>
                <a:spcPct val="108000"/>
              </a:lnSpc>
              <a:spcBef>
                <a:spcPts val="0"/>
              </a:spcBef>
              <a:spcAft>
                <a:spcPts val="0"/>
              </a:spcAft>
            </a:pPr>
            <a:r>
              <a:rPr sz="1300" b="1">
                <a:solidFill>
                  <a:srgbClr val="305DE6"/>
                </a:solidFill>
                <a:latin typeface="DejaVu Sans Mono"/>
              </a:rPr>
              <a:t>ERROR HANDLING</a:t>
            </a:r>
          </a:p>
        </p:txBody>
      </p:sp>
      <p:sp>
        <p:nvSpPr>
          <p:cNvPr id="17" name="Text: Failures"/>
          <p:cNvSpPr txBox="1"/>
          <p:nvPr/>
        </p:nvSpPr>
        <p:spPr>
          <a:xfrm>
            <a:off x="8220456" y="3090672"/>
            <a:ext cx="3291840" cy="914400"/>
          </a:xfrm>
          <a:prstGeom prst="rect">
            <a:avLst/>
          </a:prstGeom>
          <a:noFill/>
        </p:spPr>
        <p:txBody>
          <a:bodyPr wrap="square" lIns="0" tIns="0" rIns="0" bIns="0">
            <a:spAutoFit/>
          </a:bodyPr>
          <a:lstStyle/>
          <a:p>
            <a:pPr algn="l">
              <a:lnSpc>
                <a:spcPct val="108000"/>
              </a:lnSpc>
              <a:spcBef>
                <a:spcPts val="0"/>
              </a:spcBef>
              <a:spcAft>
                <a:spcPts val="0"/>
              </a:spcAft>
            </a:pPr>
            <a:r>
              <a:rPr sz="4200" b="1">
                <a:solidFill>
                  <a:srgbClr val="17243B"/>
                </a:solidFill>
                <a:latin typeface="Arial"/>
              </a:rPr>
              <a:t>Eșecuri</a:t>
            </a:r>
          </a:p>
        </p:txBody>
      </p:sp>
      <p:sp>
        <p:nvSpPr>
          <p:cNvPr id="18" name="Text: Define invalid states / and recovery behavior."/>
          <p:cNvSpPr txBox="1"/>
          <p:nvPr/>
        </p:nvSpPr>
        <p:spPr>
          <a:xfrm>
            <a:off x="8220456" y="4197096"/>
            <a:ext cx="3355848" cy="822960"/>
          </a:xfrm>
          <a:prstGeom prst="rect">
            <a:avLst/>
          </a:prstGeom>
          <a:noFill/>
        </p:spPr>
        <p:txBody>
          <a:bodyPr wrap="square" lIns="0" tIns="0" rIns="0" bIns="0">
            <a:spAutoFit/>
          </a:bodyPr>
          <a:lstStyle/>
          <a:p>
            <a:pPr algn="l">
              <a:lnSpc>
                <a:spcPct val="108000"/>
              </a:lnSpc>
              <a:spcBef>
                <a:spcPts val="0"/>
              </a:spcBef>
              <a:spcAft>
                <a:spcPts val="0"/>
              </a:spcAft>
            </a:pPr>
            <a:r>
              <a:rPr sz="2300" b="0">
                <a:solidFill>
                  <a:srgbClr val="17243B"/>
                </a:solidFill>
                <a:latin typeface="Arial"/>
              </a:rPr>
              <a:t>Definește stările invalide</a:t>
            </a:r>
          </a:p>
          <a:p>
            <a:pPr algn="l">
              <a:lnSpc>
                <a:spcPct val="108000"/>
              </a:lnSpc>
              <a:spcBef>
                <a:spcPts val="0"/>
              </a:spcBef>
              <a:spcAft>
                <a:spcPts val="0"/>
              </a:spcAft>
            </a:pPr>
            <a:r>
              <a:rPr sz="2300" b="0">
                <a:solidFill>
                  <a:srgbClr val="17243B"/>
                </a:solidFill>
                <a:latin typeface="Arial"/>
              </a:rPr>
              <a:t>și modul de recuperare.</a:t>
            </a:r>
          </a:p>
        </p:txBody>
      </p:sp>
      <p:cxnSp>
        <p:nvCxnSpPr>
          <p:cNvPr id="19" name="Connector 18"/>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0" name="Text: Clarify consequential unknowns. Make assumptions visible."/>
          <p:cNvSpPr txBox="1"/>
          <p:nvPr/>
        </p:nvSpPr>
        <p:spPr>
          <a:xfrm>
            <a:off x="685800" y="5870448"/>
            <a:ext cx="10789920" cy="402336"/>
          </a:xfrm>
          <a:prstGeom prst="rect">
            <a:avLst/>
          </a:prstGeom>
          <a:noFill/>
        </p:spPr>
        <p:txBody>
          <a:bodyPr wrap="square" lIns="0" tIns="0" rIns="0" bIns="0">
            <a:spAutoFit/>
          </a:bodyPr>
          <a:lstStyle/>
          <a:p>
            <a:pPr algn="l">
              <a:lnSpc>
                <a:spcPct val="108000"/>
              </a:lnSpc>
              <a:spcBef>
                <a:spcPts val="0"/>
              </a:spcBef>
              <a:spcAft>
                <a:spcPts val="0"/>
              </a:spcAft>
            </a:pPr>
            <a:r>
              <a:rPr sz="2100" b="0">
                <a:solidFill>
                  <a:srgbClr val="5B6980"/>
                </a:solidFill>
                <a:latin typeface="Arial"/>
              </a:rPr>
              <a:t>Clarifică necunoscutele importante. Fă presupunerile vizibile.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SDD"/>
          <p:cNvSpPr txBox="1"/>
          <p:nvPr/>
        </p:nvSpPr>
        <p:spPr>
          <a:xfrm>
            <a:off x="685800" y="365760"/>
            <a:ext cx="640080" cy="228600"/>
          </a:xfrm>
          <a:prstGeom prst="rect">
            <a:avLst/>
          </a:prstGeom>
          <a:noFill/>
        </p:spPr>
        <p:txBody>
          <a:bodyPr wrap="square" lIns="0" tIns="0" r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REUSING A PROVEN FOUNDATION"/>
          <p:cNvSpPr txBox="1"/>
          <p:nvPr/>
        </p:nvSpPr>
        <p:spPr>
          <a:xfrm>
            <a:off x="1600200" y="365760"/>
            <a:ext cx="8229600" cy="228600"/>
          </a:xfrm>
          <a:prstGeom prst="rect">
            <a:avLst/>
          </a:prstGeom>
          <a:noFill/>
        </p:spPr>
        <p:txBody>
          <a:bodyPr wrap="square" lIns="0" tIns="0" rIns="0" bIns="0">
            <a:spAutoFit/>
          </a:bodyPr>
          <a:lstStyle/>
          <a:p>
            <a:pPr algn="l">
              <a:lnSpc>
                <a:spcPct val="108000"/>
              </a:lnSpc>
              <a:spcBef>
                <a:spcPts val="0"/>
              </a:spcBef>
              <a:spcAft>
                <a:spcPts val="0"/>
              </a:spcAft>
            </a:pPr>
            <a:r>
              <a:rPr sz="1100" b="0">
                <a:solidFill>
                  <a:srgbClr val="5B6980"/>
                </a:solidFill>
                <a:latin typeface="Arial"/>
              </a:rPr>
              <a:t>REFOLOSIREA UNEI FUNDAȚII VALIDATE</a:t>
            </a:r>
          </a:p>
        </p:txBody>
      </p:sp>
      <p:sp>
        <p:nvSpPr>
          <p:cNvPr id="5" name="Text: 08 / 12"/>
          <p:cNvSpPr txBox="1"/>
          <p:nvPr/>
        </p:nvSpPr>
        <p:spPr>
          <a:xfrm>
            <a:off x="10588752" y="6473952"/>
            <a:ext cx="914400" cy="210312"/>
          </a:xfrm>
          <a:prstGeom prst="rect">
            <a:avLst/>
          </a:prstGeom>
          <a:noFill/>
        </p:spPr>
        <p:txBody>
          <a:bodyPr wrap="square" lIns="0" tIns="0" rIns="0" bIns="0">
            <a:spAutoFit/>
          </a:bodyPr>
          <a:lstStyle/>
          <a:p>
            <a:pPr algn="r">
              <a:lnSpc>
                <a:spcPct val="108000"/>
              </a:lnSpc>
              <a:spcBef>
                <a:spcPts val="0"/>
              </a:spcBef>
              <a:spcAft>
                <a:spcPts val="0"/>
              </a:spcAft>
            </a:pPr>
            <a:r>
              <a:rPr sz="1100" b="0">
                <a:solidFill>
                  <a:srgbClr val="5B6980"/>
                </a:solidFill>
                <a:latin typeface="Arial"/>
              </a:rPr>
              <a:t>08 / 12</a:t>
            </a:r>
          </a:p>
        </p:txBody>
      </p:sp>
      <p:sp>
        <p:nvSpPr>
          <p:cNvPr id="6" name="Text: CONVOCARE  /  ENGINEERING"/>
          <p:cNvSpPr txBox="1"/>
          <p:nvPr/>
        </p:nvSpPr>
        <p:spPr>
          <a:xfrm>
            <a:off x="685800" y="6473952"/>
            <a:ext cx="4023360" cy="201168"/>
          </a:xfrm>
          <a:prstGeom prst="rect">
            <a:avLst/>
          </a:prstGeom>
          <a:noFill/>
        </p:spPr>
        <p:txBody>
          <a:bodyPr wrap="square" lIns="0" tIns="0" r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Reuse a verified foundation."/>
          <p:cNvSpPr txBox="1"/>
          <p:nvPr/>
        </p:nvSpPr>
        <p:spPr>
          <a:xfrm>
            <a:off x="685800" y="1033271"/>
            <a:ext cx="10835640" cy="1234440"/>
          </a:xfrm>
          <a:prstGeom prst="rect">
            <a:avLst/>
          </a:prstGeom>
          <a:noFill/>
        </p:spPr>
        <p:txBody>
          <a:bodyPr wrap="square" lIns="0" tIns="0" rIns="0" bIns="0">
            <a:spAutoFit/>
          </a:bodyPr>
          <a:lstStyle/>
          <a:p>
            <a:pPr algn="l">
              <a:lnSpc>
                <a:spcPct val="104000"/>
              </a:lnSpc>
              <a:spcBef>
                <a:spcPts val="0"/>
              </a:spcBef>
              <a:spcAft>
                <a:spcPts val="0"/>
              </a:spcAft>
            </a:pPr>
            <a:r>
              <a:rPr sz="4100" b="1">
                <a:solidFill>
                  <a:srgbClr val="17243B"/>
                </a:solidFill>
                <a:latin typeface="Arial"/>
              </a:rPr>
              <a:t>Refolosește o fundație verificată.</a:t>
            </a:r>
          </a:p>
        </p:txBody>
      </p:sp>
      <p:sp>
        <p:nvSpPr>
          <p:cNvPr id="8" name="Text: 01 / REUSE"/>
          <p:cNvSpPr txBox="1"/>
          <p:nvPr/>
        </p:nvSpPr>
        <p:spPr>
          <a:xfrm>
            <a:off x="685800" y="2542032"/>
            <a:ext cx="3291840" cy="320040"/>
          </a:xfrm>
          <a:prstGeom prst="rect">
            <a:avLst/>
          </a:prstGeom>
          <a:noFill/>
        </p:spPr>
        <p:txBody>
          <a:bodyPr wrap="square" lIns="0" tIns="0" rIns="0" bIns="0">
            <a:spAutoFit/>
          </a:bodyPr>
          <a:lstStyle/>
          <a:p>
            <a:pPr algn="l">
              <a:lnSpc>
                <a:spcPct val="108000"/>
              </a:lnSpc>
              <a:spcBef>
                <a:spcPts val="0"/>
              </a:spcBef>
              <a:spcAft>
                <a:spcPts val="0"/>
              </a:spcAft>
            </a:pPr>
            <a:r>
              <a:rPr sz="1300" b="1">
                <a:solidFill>
                  <a:srgbClr val="305DE6"/>
                </a:solidFill>
                <a:latin typeface="DejaVu Sans Mono"/>
              </a:rPr>
              <a:t>01 / REFOLOSIRE</a:t>
            </a:r>
          </a:p>
        </p:txBody>
      </p:sp>
      <p:sp>
        <p:nvSpPr>
          <p:cNvPr id="9" name="Text: Proven template"/>
          <p:cNvSpPr txBox="1"/>
          <p:nvPr/>
        </p:nvSpPr>
        <p:spPr>
          <a:xfrm>
            <a:off x="685800" y="3163824"/>
            <a:ext cx="3291840" cy="594360"/>
          </a:xfrm>
          <a:prstGeom prst="rect">
            <a:avLst/>
          </a:prstGeom>
          <a:noFill/>
        </p:spPr>
        <p:txBody>
          <a:bodyPr wrap="square" lIns="0" tIns="0" rIns="0" bIns="0">
            <a:spAutoFit/>
          </a:bodyPr>
          <a:lstStyle/>
          <a:p>
            <a:pPr algn="l">
              <a:lnSpc>
                <a:spcPct val="108000"/>
              </a:lnSpc>
              <a:spcBef>
                <a:spcPts val="0"/>
              </a:spcBef>
              <a:spcAft>
                <a:spcPts val="0"/>
              </a:spcAft>
            </a:pPr>
            <a:r>
              <a:rPr sz="2600" b="1">
                <a:solidFill>
                  <a:srgbClr val="17243B"/>
                </a:solidFill>
                <a:latin typeface="Arial"/>
              </a:rPr>
              <a:t>Template validat</a:t>
            </a:r>
          </a:p>
        </p:txBody>
      </p:sp>
      <p:sp>
        <p:nvSpPr>
          <p:cNvPr id="10" name="Text: Reviewed architecture / and tested components."/>
          <p:cNvSpPr txBox="1"/>
          <p:nvPr/>
        </p:nvSpPr>
        <p:spPr>
          <a:xfrm>
            <a:off x="685800" y="4023360"/>
            <a:ext cx="3319272" cy="832104"/>
          </a:xfrm>
          <a:prstGeom prst="rect">
            <a:avLst/>
          </a:prstGeom>
          <a:noFill/>
        </p:spPr>
        <p:txBody>
          <a:bodyPr wrap="square" lIns="0" tIns="0" rIns="0" bIns="0">
            <a:spAutoFit/>
          </a:bodyPr>
          <a:lstStyle/>
          <a:p>
            <a:pPr algn="l">
              <a:lnSpc>
                <a:spcPct val="108000"/>
              </a:lnSpc>
              <a:spcBef>
                <a:spcPts val="0"/>
              </a:spcBef>
              <a:spcAft>
                <a:spcPts val="0"/>
              </a:spcAft>
            </a:pPr>
            <a:r>
              <a:rPr sz="2200" b="0">
                <a:solidFill>
                  <a:srgbClr val="17243B"/>
                </a:solidFill>
                <a:latin typeface="Arial"/>
              </a:rPr>
              <a:t>Arhitectură revizuită</a:t>
            </a:r>
          </a:p>
          <a:p>
            <a:pPr algn="l">
              <a:lnSpc>
                <a:spcPct val="108000"/>
              </a:lnSpc>
              <a:spcBef>
                <a:spcPts val="0"/>
              </a:spcBef>
              <a:spcAft>
                <a:spcPts val="0"/>
              </a:spcAft>
            </a:pPr>
            <a:r>
              <a:rPr sz="2200" b="0">
                <a:solidFill>
                  <a:srgbClr val="17243B"/>
                </a:solidFill>
                <a:latin typeface="Arial"/>
              </a:rPr>
              <a:t>și componente testate.</a:t>
            </a:r>
          </a:p>
        </p:txBody>
      </p:sp>
      <p:sp>
        <p:nvSpPr>
          <p:cNvPr id="11" name="Text: Less reinvention"/>
          <p:cNvSpPr txBox="1"/>
          <p:nvPr/>
        </p:nvSpPr>
        <p:spPr>
          <a:xfrm>
            <a:off x="685800" y="5102352"/>
            <a:ext cx="3319272" cy="347472"/>
          </a:xfrm>
          <a:prstGeom prst="rect">
            <a:avLst/>
          </a:prstGeom>
          <a:noFill/>
        </p:spPr>
        <p:txBody>
          <a:bodyPr wrap="square" lIns="0" tIns="0" rIns="0" bIns="0">
            <a:spAutoFit/>
          </a:bodyPr>
          <a:lstStyle/>
          <a:p>
            <a:pPr algn="l">
              <a:lnSpc>
                <a:spcPct val="108000"/>
              </a:lnSpc>
              <a:spcBef>
                <a:spcPts val="0"/>
              </a:spcBef>
              <a:spcAft>
                <a:spcPts val="0"/>
              </a:spcAft>
            </a:pPr>
            <a:r>
              <a:rPr sz="1800" b="0">
                <a:solidFill>
                  <a:srgbClr val="147D72"/>
                </a:solidFill>
                <a:latin typeface="Arial"/>
              </a:rPr>
              <a:t>Mai puțină reinventare</a:t>
            </a:r>
          </a:p>
        </p:txBody>
      </p:sp>
      <p:cxnSp>
        <p:nvCxnSpPr>
          <p:cNvPr id="12" name="Connector 11"/>
          <p:cNvCxnSpPr/>
          <p:nvPr/>
        </p:nvCxnSpPr>
        <p:spPr>
          <a:xfrm>
            <a:off x="4142231" y="2542032"/>
            <a:ext cx="0" cy="2889504"/>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3" name="Text: 02 / REPRODUCE"/>
          <p:cNvSpPr txBox="1"/>
          <p:nvPr/>
        </p:nvSpPr>
        <p:spPr>
          <a:xfrm>
            <a:off x="4453128" y="2542032"/>
            <a:ext cx="3291840" cy="320040"/>
          </a:xfrm>
          <a:prstGeom prst="rect">
            <a:avLst/>
          </a:prstGeom>
          <a:noFill/>
        </p:spPr>
        <p:txBody>
          <a:bodyPr wrap="square" lIns="0" tIns="0" rIns="0" bIns="0">
            <a:spAutoFit/>
          </a:bodyPr>
          <a:lstStyle/>
          <a:p>
            <a:pPr algn="l">
              <a:lnSpc>
                <a:spcPct val="108000"/>
              </a:lnSpc>
              <a:spcBef>
                <a:spcPts val="0"/>
              </a:spcBef>
              <a:spcAft>
                <a:spcPts val="0"/>
              </a:spcAft>
            </a:pPr>
            <a:r>
              <a:rPr sz="1300" b="1">
                <a:solidFill>
                  <a:srgbClr val="305DE6"/>
                </a:solidFill>
                <a:latin typeface="DejaVu Sans Mono"/>
              </a:rPr>
              <a:t>02 / REPRODUCERE</a:t>
            </a:r>
          </a:p>
        </p:txBody>
      </p:sp>
      <p:sp>
        <p:nvSpPr>
          <p:cNvPr id="14" name="Text: AI repeats patterns"/>
          <p:cNvSpPr txBox="1"/>
          <p:nvPr/>
        </p:nvSpPr>
        <p:spPr>
          <a:xfrm>
            <a:off x="4453128" y="3163824"/>
            <a:ext cx="3291840" cy="594360"/>
          </a:xfrm>
          <a:prstGeom prst="rect">
            <a:avLst/>
          </a:prstGeom>
          <a:noFill/>
        </p:spPr>
        <p:txBody>
          <a:bodyPr wrap="square" lIns="0" tIns="0" rIns="0" bIns="0">
            <a:spAutoFit/>
          </a:bodyPr>
          <a:lstStyle/>
          <a:p>
            <a:pPr algn="l">
              <a:lnSpc>
                <a:spcPct val="108000"/>
              </a:lnSpc>
              <a:spcBef>
                <a:spcPts val="0"/>
              </a:spcBef>
              <a:spcAft>
                <a:spcPts val="0"/>
              </a:spcAft>
            </a:pPr>
            <a:r>
              <a:rPr sz="2600" b="1">
                <a:solidFill>
                  <a:srgbClr val="17243B"/>
                </a:solidFill>
                <a:latin typeface="Arial"/>
              </a:rPr>
              <a:t>AI repetă pattern-uri</a:t>
            </a:r>
          </a:p>
        </p:txBody>
      </p:sp>
      <p:sp>
        <p:nvSpPr>
          <p:cNvPr id="15" name="Text: Reuse structure / and conventions."/>
          <p:cNvSpPr txBox="1"/>
          <p:nvPr/>
        </p:nvSpPr>
        <p:spPr>
          <a:xfrm>
            <a:off x="4453128" y="4023360"/>
            <a:ext cx="3319272" cy="832104"/>
          </a:xfrm>
          <a:prstGeom prst="rect">
            <a:avLst/>
          </a:prstGeom>
          <a:noFill/>
        </p:spPr>
        <p:txBody>
          <a:bodyPr wrap="square" lIns="0" tIns="0" rIns="0" bIns="0">
            <a:spAutoFit/>
          </a:bodyPr>
          <a:lstStyle/>
          <a:p>
            <a:pPr algn="l">
              <a:lnSpc>
                <a:spcPct val="108000"/>
              </a:lnSpc>
              <a:spcBef>
                <a:spcPts val="0"/>
              </a:spcBef>
              <a:spcAft>
                <a:spcPts val="0"/>
              </a:spcAft>
            </a:pPr>
            <a:r>
              <a:rPr sz="2200" b="0">
                <a:solidFill>
                  <a:srgbClr val="17243B"/>
                </a:solidFill>
                <a:latin typeface="Arial"/>
              </a:rPr>
              <a:t>Refolosește structura</a:t>
            </a:r>
          </a:p>
          <a:p>
            <a:pPr algn="l">
              <a:lnSpc>
                <a:spcPct val="108000"/>
              </a:lnSpc>
              <a:spcBef>
                <a:spcPts val="0"/>
              </a:spcBef>
              <a:spcAft>
                <a:spcPts val="0"/>
              </a:spcAft>
            </a:pPr>
            <a:r>
              <a:rPr sz="2200" b="0">
                <a:solidFill>
                  <a:srgbClr val="17243B"/>
                </a:solidFill>
                <a:latin typeface="Arial"/>
              </a:rPr>
              <a:t>și convențiile.</a:t>
            </a:r>
          </a:p>
        </p:txBody>
      </p:sp>
      <p:sp>
        <p:nvSpPr>
          <p:cNvPr id="16" name="Text: More consistent code"/>
          <p:cNvSpPr txBox="1"/>
          <p:nvPr/>
        </p:nvSpPr>
        <p:spPr>
          <a:xfrm>
            <a:off x="4453128" y="5102352"/>
            <a:ext cx="3319272" cy="347472"/>
          </a:xfrm>
          <a:prstGeom prst="rect">
            <a:avLst/>
          </a:prstGeom>
          <a:noFill/>
        </p:spPr>
        <p:txBody>
          <a:bodyPr wrap="square" lIns="0" tIns="0" rIns="0" bIns="0">
            <a:spAutoFit/>
          </a:bodyPr>
          <a:lstStyle/>
          <a:p>
            <a:pPr algn="l">
              <a:lnSpc>
                <a:spcPct val="108000"/>
              </a:lnSpc>
              <a:spcBef>
                <a:spcPts val="0"/>
              </a:spcBef>
              <a:spcAft>
                <a:spcPts val="0"/>
              </a:spcAft>
            </a:pPr>
            <a:r>
              <a:rPr sz="1800" b="0">
                <a:solidFill>
                  <a:srgbClr val="147D72"/>
                </a:solidFill>
                <a:latin typeface="Arial"/>
              </a:rPr>
              <a:t>Cod mai consecvent</a:t>
            </a:r>
          </a:p>
        </p:txBody>
      </p:sp>
      <p:cxnSp>
        <p:nvCxnSpPr>
          <p:cNvPr id="17" name="Connector 16"/>
          <p:cNvCxnSpPr/>
          <p:nvPr/>
        </p:nvCxnSpPr>
        <p:spPr>
          <a:xfrm>
            <a:off x="7909560" y="2542032"/>
            <a:ext cx="0" cy="2889504"/>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8" name="Text: 03 / VERIFY"/>
          <p:cNvSpPr txBox="1"/>
          <p:nvPr/>
        </p:nvSpPr>
        <p:spPr>
          <a:xfrm>
            <a:off x="8220456" y="2542032"/>
            <a:ext cx="3291840" cy="320040"/>
          </a:xfrm>
          <a:prstGeom prst="rect">
            <a:avLst/>
          </a:prstGeom>
          <a:noFill/>
        </p:spPr>
        <p:txBody>
          <a:bodyPr wrap="square" lIns="0" tIns="0" rIns="0" bIns="0">
            <a:spAutoFit/>
          </a:bodyPr>
          <a:lstStyle/>
          <a:p>
            <a:pPr algn="l">
              <a:lnSpc>
                <a:spcPct val="108000"/>
              </a:lnSpc>
              <a:spcBef>
                <a:spcPts val="0"/>
              </a:spcBef>
              <a:spcAft>
                <a:spcPts val="0"/>
              </a:spcAft>
            </a:pPr>
            <a:r>
              <a:rPr sz="1300" b="1">
                <a:solidFill>
                  <a:srgbClr val="305DE6"/>
                </a:solidFill>
                <a:latin typeface="DejaVu Sans Mono"/>
              </a:rPr>
              <a:t>03 / VERIFICARE</a:t>
            </a:r>
          </a:p>
        </p:txBody>
      </p:sp>
      <p:sp>
        <p:nvSpPr>
          <p:cNvPr id="19" name="Text: Repeatable checks"/>
          <p:cNvSpPr txBox="1"/>
          <p:nvPr/>
        </p:nvSpPr>
        <p:spPr>
          <a:xfrm>
            <a:off x="8220456" y="3163824"/>
            <a:ext cx="3291840" cy="594360"/>
          </a:xfrm>
          <a:prstGeom prst="rect">
            <a:avLst/>
          </a:prstGeom>
          <a:noFill/>
        </p:spPr>
        <p:txBody>
          <a:bodyPr wrap="square" lIns="0" tIns="0" rIns="0" bIns="0">
            <a:spAutoFit/>
          </a:bodyPr>
          <a:lstStyle/>
          <a:p>
            <a:pPr algn="l">
              <a:lnSpc>
                <a:spcPct val="108000"/>
              </a:lnSpc>
              <a:spcBef>
                <a:spcPts val="0"/>
              </a:spcBef>
              <a:spcAft>
                <a:spcPts val="0"/>
              </a:spcAft>
            </a:pPr>
            <a:r>
              <a:rPr sz="2600" b="1">
                <a:solidFill>
                  <a:srgbClr val="17243B"/>
                </a:solidFill>
                <a:latin typeface="Arial"/>
              </a:rPr>
              <a:t>Verificări repetabile</a:t>
            </a:r>
          </a:p>
        </p:txBody>
      </p:sp>
      <p:sp>
        <p:nvSpPr>
          <p:cNvPr id="20" name="Text: Reuse build, tests, / and review standards."/>
          <p:cNvSpPr txBox="1"/>
          <p:nvPr/>
        </p:nvSpPr>
        <p:spPr>
          <a:xfrm>
            <a:off x="8220456" y="4023360"/>
            <a:ext cx="3319272" cy="832104"/>
          </a:xfrm>
          <a:prstGeom prst="rect">
            <a:avLst/>
          </a:prstGeom>
          <a:noFill/>
        </p:spPr>
        <p:txBody>
          <a:bodyPr wrap="square" lIns="0" tIns="0" rIns="0" bIns="0">
            <a:spAutoFit/>
          </a:bodyPr>
          <a:lstStyle/>
          <a:p>
            <a:pPr algn="l">
              <a:lnSpc>
                <a:spcPct val="108000"/>
              </a:lnSpc>
              <a:spcBef>
                <a:spcPts val="0"/>
              </a:spcBef>
              <a:spcAft>
                <a:spcPts val="0"/>
              </a:spcAft>
            </a:pPr>
            <a:r>
              <a:rPr sz="2200" b="0">
                <a:solidFill>
                  <a:srgbClr val="17243B"/>
                </a:solidFill>
                <a:latin typeface="Arial"/>
              </a:rPr>
              <a:t>Refolosește build, teste</a:t>
            </a:r>
          </a:p>
          <a:p>
            <a:pPr algn="l">
              <a:lnSpc>
                <a:spcPct val="108000"/>
              </a:lnSpc>
              <a:spcBef>
                <a:spcPts val="0"/>
              </a:spcBef>
              <a:spcAft>
                <a:spcPts val="0"/>
              </a:spcAft>
            </a:pPr>
            <a:r>
              <a:rPr sz="2200" b="0">
                <a:solidFill>
                  <a:srgbClr val="17243B"/>
                </a:solidFill>
                <a:latin typeface="Arial"/>
              </a:rPr>
              <a:t>și standarde de review.</a:t>
            </a:r>
          </a:p>
        </p:txBody>
      </p:sp>
      <p:sp>
        <p:nvSpPr>
          <p:cNvPr id="21" name="Text: Trust backed by evidence"/>
          <p:cNvSpPr txBox="1"/>
          <p:nvPr/>
        </p:nvSpPr>
        <p:spPr>
          <a:xfrm>
            <a:off x="8220456" y="5102352"/>
            <a:ext cx="3319272" cy="347472"/>
          </a:xfrm>
          <a:prstGeom prst="rect">
            <a:avLst/>
          </a:prstGeom>
          <a:noFill/>
        </p:spPr>
        <p:txBody>
          <a:bodyPr wrap="square" lIns="0" tIns="0" rIns="0" bIns="0">
            <a:spAutoFit/>
          </a:bodyPr>
          <a:lstStyle/>
          <a:p>
            <a:pPr algn="l">
              <a:lnSpc>
                <a:spcPct val="108000"/>
              </a:lnSpc>
              <a:spcBef>
                <a:spcPts val="0"/>
              </a:spcBef>
              <a:spcAft>
                <a:spcPts val="0"/>
              </a:spcAft>
            </a:pPr>
            <a:r>
              <a:rPr sz="1800" b="0">
                <a:solidFill>
                  <a:srgbClr val="147D72"/>
                </a:solidFill>
                <a:latin typeface="Arial"/>
              </a:rPr>
              <a:t>Încredere bazată pe dovezi</a:t>
            </a:r>
          </a:p>
        </p:txBody>
      </p:sp>
      <p:cxnSp>
        <p:nvCxnSpPr>
          <p:cNvPr id="22" name="Connector 21"/>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3" name="Text: A proven baseline reduces guesswork and supports reproducible beh"/>
          <p:cNvSpPr txBox="1"/>
          <p:nvPr/>
        </p:nvSpPr>
        <p:spPr>
          <a:xfrm>
            <a:off x="685800" y="5870448"/>
            <a:ext cx="10789920" cy="402336"/>
          </a:xfrm>
          <a:prstGeom prst="rect">
            <a:avLst/>
          </a:prstGeom>
          <a:noFill/>
        </p:spPr>
        <p:txBody>
          <a:bodyPr wrap="square" lIns="0" tIns="0" rIns="0" bIns="0">
            <a:spAutoFit/>
          </a:bodyPr>
          <a:lstStyle/>
          <a:p>
            <a:pPr algn="l">
              <a:lnSpc>
                <a:spcPct val="108000"/>
              </a:lnSpc>
              <a:spcBef>
                <a:spcPts val="0"/>
              </a:spcBef>
              <a:spcAft>
                <a:spcPts val="0"/>
              </a:spcAft>
            </a:pPr>
            <a:r>
              <a:rPr sz="2100" b="0">
                <a:solidFill>
                  <a:srgbClr val="5B6980"/>
                </a:solidFill>
                <a:latin typeface="Arial"/>
              </a:rPr>
              <a:t>O bază validată reduce presupunerile și susține un comportament reproductibil.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SDD"/>
          <p:cNvSpPr txBox="1"/>
          <p:nvPr/>
        </p:nvSpPr>
        <p:spPr>
          <a:xfrm>
            <a:off x="685800" y="365760"/>
            <a:ext cx="640080" cy="228600"/>
          </a:xfrm>
          <a:prstGeom prst="rect">
            <a:avLst/>
          </a:prstGeom>
          <a:noFill/>
        </p:spPr>
        <p:txBody>
          <a:bodyPr wrap="square" lIns="0" tIns="0" r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COMPARING THE APPROACHES"/>
          <p:cNvSpPr txBox="1"/>
          <p:nvPr/>
        </p:nvSpPr>
        <p:spPr>
          <a:xfrm>
            <a:off x="1600200" y="365760"/>
            <a:ext cx="8229600" cy="228600"/>
          </a:xfrm>
          <a:prstGeom prst="rect">
            <a:avLst/>
          </a:prstGeom>
          <a:noFill/>
        </p:spPr>
        <p:txBody>
          <a:bodyPr wrap="square" lIns="0" tIns="0" rIns="0" bIns="0">
            <a:spAutoFit/>
          </a:bodyPr>
          <a:lstStyle/>
          <a:p>
            <a:pPr algn="l">
              <a:lnSpc>
                <a:spcPct val="108000"/>
              </a:lnSpc>
              <a:spcBef>
                <a:spcPts val="0"/>
              </a:spcBef>
              <a:spcAft>
                <a:spcPts val="0"/>
              </a:spcAft>
            </a:pPr>
            <a:r>
              <a:rPr sz="1100" b="0">
                <a:solidFill>
                  <a:srgbClr val="5B6980"/>
                </a:solidFill>
                <a:latin typeface="Arial"/>
              </a:rPr>
              <a:t>COMPARAREA ABORDĂRILOR</a:t>
            </a:r>
          </a:p>
        </p:txBody>
      </p:sp>
      <p:sp>
        <p:nvSpPr>
          <p:cNvPr id="5" name="Text: 09 / 12"/>
          <p:cNvSpPr txBox="1"/>
          <p:nvPr/>
        </p:nvSpPr>
        <p:spPr>
          <a:xfrm>
            <a:off x="10588752" y="6473952"/>
            <a:ext cx="914400" cy="210312"/>
          </a:xfrm>
          <a:prstGeom prst="rect">
            <a:avLst/>
          </a:prstGeom>
          <a:noFill/>
        </p:spPr>
        <p:txBody>
          <a:bodyPr wrap="square" lIns="0" tIns="0" rIns="0" bIns="0">
            <a:spAutoFit/>
          </a:bodyPr>
          <a:lstStyle/>
          <a:p>
            <a:pPr algn="r">
              <a:lnSpc>
                <a:spcPct val="108000"/>
              </a:lnSpc>
              <a:spcBef>
                <a:spcPts val="0"/>
              </a:spcBef>
              <a:spcAft>
                <a:spcPts val="0"/>
              </a:spcAft>
            </a:pPr>
            <a:r>
              <a:rPr sz="1100" b="0">
                <a:solidFill>
                  <a:srgbClr val="5B6980"/>
                </a:solidFill>
                <a:latin typeface="Arial"/>
              </a:rPr>
              <a:t>09 / 12</a:t>
            </a:r>
          </a:p>
        </p:txBody>
      </p:sp>
      <p:sp>
        <p:nvSpPr>
          <p:cNvPr id="6" name="Text: CONVOCARE  /  ENGINEERING"/>
          <p:cNvSpPr txBox="1"/>
          <p:nvPr/>
        </p:nvSpPr>
        <p:spPr>
          <a:xfrm>
            <a:off x="685800" y="6473952"/>
            <a:ext cx="4023360" cy="201168"/>
          </a:xfrm>
          <a:prstGeom prst="rect">
            <a:avLst/>
          </a:prstGeom>
          <a:noFill/>
        </p:spPr>
        <p:txBody>
          <a:bodyPr wrap="square" lIns="0" tIns="0" r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SDD vs. Vibe Coding"/>
          <p:cNvSpPr txBox="1"/>
          <p:nvPr/>
        </p:nvSpPr>
        <p:spPr>
          <a:xfrm>
            <a:off x="685800" y="1033271"/>
            <a:ext cx="10835640" cy="1234440"/>
          </a:xfrm>
          <a:prstGeom prst="rect">
            <a:avLst/>
          </a:prstGeom>
          <a:noFill/>
        </p:spPr>
        <p:txBody>
          <a:bodyPr wrap="square" lIns="0" tIns="0" rIns="0" bIns="0">
            <a:spAutoFit/>
          </a:bodyPr>
          <a:lstStyle/>
          <a:p>
            <a:pPr algn="l">
              <a:lnSpc>
                <a:spcPct val="104000"/>
              </a:lnSpc>
              <a:spcBef>
                <a:spcPts val="0"/>
              </a:spcBef>
              <a:spcAft>
                <a:spcPts val="0"/>
              </a:spcAft>
            </a:pPr>
            <a:r>
              <a:rPr sz="4100" b="1">
                <a:solidFill>
                  <a:srgbClr val="17243B"/>
                </a:solidFill>
                <a:latin typeface="Arial"/>
              </a:rPr>
              <a:t>SDD vs. Vibe Coding</a:t>
            </a:r>
          </a:p>
        </p:txBody>
      </p:sp>
      <p:sp>
        <p:nvSpPr>
          <p:cNvPr id="8" name="Text: Vibe Coding"/>
          <p:cNvSpPr txBox="1"/>
          <p:nvPr/>
        </p:nvSpPr>
        <p:spPr>
          <a:xfrm>
            <a:off x="2971800" y="2450592"/>
            <a:ext cx="3886200" cy="530352"/>
          </a:xfrm>
          <a:prstGeom prst="rect">
            <a:avLst/>
          </a:prstGeom>
          <a:noFill/>
        </p:spPr>
        <p:txBody>
          <a:bodyPr wrap="square" lIns="0" tIns="0" rIns="0" bIns="0">
            <a:spAutoFit/>
          </a:bodyPr>
          <a:lstStyle/>
          <a:p>
            <a:pPr algn="l">
              <a:lnSpc>
                <a:spcPct val="108000"/>
              </a:lnSpc>
              <a:spcBef>
                <a:spcPts val="0"/>
              </a:spcBef>
              <a:spcAft>
                <a:spcPts val="0"/>
              </a:spcAft>
            </a:pPr>
            <a:r>
              <a:rPr sz="2900" b="1">
                <a:solidFill>
                  <a:srgbClr val="5B6980"/>
                </a:solidFill>
                <a:latin typeface="Arial"/>
              </a:rPr>
              <a:t>Vibe Coding</a:t>
            </a:r>
          </a:p>
        </p:txBody>
      </p:sp>
      <p:sp>
        <p:nvSpPr>
          <p:cNvPr id="9" name="Text: SDD"/>
          <p:cNvSpPr txBox="1"/>
          <p:nvPr/>
        </p:nvSpPr>
        <p:spPr>
          <a:xfrm>
            <a:off x="7360920" y="2450592"/>
            <a:ext cx="4142232" cy="530352"/>
          </a:xfrm>
          <a:prstGeom prst="rect">
            <a:avLst/>
          </a:prstGeom>
          <a:noFill/>
        </p:spPr>
        <p:txBody>
          <a:bodyPr wrap="square" lIns="0" tIns="0" rIns="0" bIns="0">
            <a:spAutoFit/>
          </a:bodyPr>
          <a:lstStyle/>
          <a:p>
            <a:pPr algn="l">
              <a:lnSpc>
                <a:spcPct val="108000"/>
              </a:lnSpc>
              <a:spcBef>
                <a:spcPts val="0"/>
              </a:spcBef>
              <a:spcAft>
                <a:spcPts val="0"/>
              </a:spcAft>
            </a:pPr>
            <a:r>
              <a:rPr sz="2900" b="1">
                <a:solidFill>
                  <a:srgbClr val="305DE6"/>
                </a:solidFill>
                <a:latin typeface="Arial"/>
              </a:rPr>
              <a:t>SDD</a:t>
            </a:r>
          </a:p>
        </p:txBody>
      </p:sp>
      <p:cxnSp>
        <p:nvCxnSpPr>
          <p:cNvPr id="10" name="Connector 9"/>
          <p:cNvCxnSpPr/>
          <p:nvPr/>
        </p:nvCxnSpPr>
        <p:spPr>
          <a:xfrm>
            <a:off x="685800" y="3090672"/>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1" name="Text: Intent"/>
          <p:cNvSpPr txBox="1"/>
          <p:nvPr/>
        </p:nvSpPr>
        <p:spPr>
          <a:xfrm>
            <a:off x="685800" y="3300984"/>
            <a:ext cx="1965960" cy="365760"/>
          </a:xfrm>
          <a:prstGeom prst="rect">
            <a:avLst/>
          </a:prstGeom>
          <a:noFill/>
        </p:spPr>
        <p:txBody>
          <a:bodyPr wrap="square" lIns="0" tIns="0" rIns="0" bIns="0">
            <a:spAutoFit/>
          </a:bodyPr>
          <a:lstStyle/>
          <a:p>
            <a:pPr algn="l">
              <a:lnSpc>
                <a:spcPct val="108000"/>
              </a:lnSpc>
              <a:spcBef>
                <a:spcPts val="0"/>
              </a:spcBef>
              <a:spcAft>
                <a:spcPts val="0"/>
              </a:spcAft>
            </a:pPr>
            <a:r>
              <a:rPr sz="1800" b="1">
                <a:solidFill>
                  <a:srgbClr val="17243B"/>
                </a:solidFill>
                <a:latin typeface="Arial"/>
              </a:rPr>
              <a:t>Intenție</a:t>
            </a:r>
          </a:p>
        </p:txBody>
      </p:sp>
      <p:sp>
        <p:nvSpPr>
          <p:cNvPr id="12" name="Text: Prompt-led, evolving"/>
          <p:cNvSpPr txBox="1"/>
          <p:nvPr/>
        </p:nvSpPr>
        <p:spPr>
          <a:xfrm>
            <a:off x="2971800" y="3246120"/>
            <a:ext cx="3886200" cy="694944"/>
          </a:xfrm>
          <a:prstGeom prst="rect">
            <a:avLst/>
          </a:prstGeom>
          <a:noFill/>
        </p:spPr>
        <p:txBody>
          <a:bodyPr wrap="square" lIns="0" tIns="0" rIns="0" bIns="0">
            <a:spAutoFit/>
          </a:bodyPr>
          <a:lstStyle/>
          <a:p>
            <a:pPr algn="l">
              <a:lnSpc>
                <a:spcPct val="108000"/>
              </a:lnSpc>
              <a:spcBef>
                <a:spcPts val="0"/>
              </a:spcBef>
              <a:spcAft>
                <a:spcPts val="0"/>
              </a:spcAft>
            </a:pPr>
            <a:r>
              <a:rPr sz="2200" b="0">
                <a:solidFill>
                  <a:srgbClr val="5B6980"/>
                </a:solidFill>
                <a:latin typeface="Arial"/>
              </a:rPr>
              <a:t>Prompt-uri, în evoluție</a:t>
            </a:r>
          </a:p>
        </p:txBody>
      </p:sp>
      <p:sp>
        <p:nvSpPr>
          <p:cNvPr id="13" name="Text: Versioned requirements"/>
          <p:cNvSpPr txBox="1"/>
          <p:nvPr/>
        </p:nvSpPr>
        <p:spPr>
          <a:xfrm>
            <a:off x="7360920" y="3246120"/>
            <a:ext cx="4142232" cy="694944"/>
          </a:xfrm>
          <a:prstGeom prst="rect">
            <a:avLst/>
          </a:prstGeom>
          <a:noFill/>
        </p:spPr>
        <p:txBody>
          <a:bodyPr wrap="square" lIns="0" tIns="0" rIns="0" bIns="0">
            <a:spAutoFit/>
          </a:bodyPr>
          <a:lstStyle/>
          <a:p>
            <a:pPr algn="l">
              <a:lnSpc>
                <a:spcPct val="108000"/>
              </a:lnSpc>
              <a:spcBef>
                <a:spcPts val="0"/>
              </a:spcBef>
              <a:spcAft>
                <a:spcPts val="0"/>
              </a:spcAft>
            </a:pPr>
            <a:r>
              <a:rPr sz="2200" b="1">
                <a:solidFill>
                  <a:srgbClr val="17243B"/>
                </a:solidFill>
                <a:latin typeface="Arial"/>
              </a:rPr>
              <a:t>Cerințe versionate</a:t>
            </a:r>
          </a:p>
        </p:txBody>
      </p:sp>
      <p:cxnSp>
        <p:nvCxnSpPr>
          <p:cNvPr id="14" name="Connector 13"/>
          <p:cNvCxnSpPr/>
          <p:nvPr/>
        </p:nvCxnSpPr>
        <p:spPr>
          <a:xfrm>
            <a:off x="685800" y="3877056"/>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5" name="Text: Review"/>
          <p:cNvSpPr txBox="1"/>
          <p:nvPr/>
        </p:nvSpPr>
        <p:spPr>
          <a:xfrm>
            <a:off x="685800" y="4087368"/>
            <a:ext cx="1965960" cy="365760"/>
          </a:xfrm>
          <a:prstGeom prst="rect">
            <a:avLst/>
          </a:prstGeom>
          <a:noFill/>
        </p:spPr>
        <p:txBody>
          <a:bodyPr wrap="square" lIns="0" tIns="0" rIns="0" bIns="0">
            <a:spAutoFit/>
          </a:bodyPr>
          <a:lstStyle/>
          <a:p>
            <a:pPr algn="l">
              <a:lnSpc>
                <a:spcPct val="108000"/>
              </a:lnSpc>
              <a:spcBef>
                <a:spcPts val="0"/>
              </a:spcBef>
              <a:spcAft>
                <a:spcPts val="0"/>
              </a:spcAft>
            </a:pPr>
            <a:r>
              <a:rPr sz="1800" b="1">
                <a:solidFill>
                  <a:srgbClr val="17243B"/>
                </a:solidFill>
                <a:latin typeface="Arial"/>
              </a:rPr>
              <a:t>Review</a:t>
            </a:r>
          </a:p>
        </p:txBody>
      </p:sp>
      <p:sp>
        <p:nvSpPr>
          <p:cNvPr id="16" name="Text: Code accepted unread"/>
          <p:cNvSpPr txBox="1"/>
          <p:nvPr/>
        </p:nvSpPr>
        <p:spPr>
          <a:xfrm>
            <a:off x="2971800" y="4032504"/>
            <a:ext cx="3886200" cy="694944"/>
          </a:xfrm>
          <a:prstGeom prst="rect">
            <a:avLst/>
          </a:prstGeom>
          <a:noFill/>
        </p:spPr>
        <p:txBody>
          <a:bodyPr wrap="square" lIns="0" tIns="0" rIns="0" bIns="0">
            <a:spAutoFit/>
          </a:bodyPr>
          <a:lstStyle/>
          <a:p>
            <a:pPr algn="l">
              <a:lnSpc>
                <a:spcPct val="108000"/>
              </a:lnSpc>
              <a:spcBef>
                <a:spcPts val="0"/>
              </a:spcBef>
              <a:spcAft>
                <a:spcPts val="0"/>
              </a:spcAft>
            </a:pPr>
            <a:r>
              <a:rPr sz="2200" b="0">
                <a:solidFill>
                  <a:srgbClr val="5B6980"/>
                </a:solidFill>
                <a:latin typeface="Arial"/>
              </a:rPr>
              <a:t>Cod acceptat necitit</a:t>
            </a:r>
          </a:p>
        </p:txBody>
      </p:sp>
      <p:sp>
        <p:nvSpPr>
          <p:cNvPr id="17" name="Text: Reviewed and understood"/>
          <p:cNvSpPr txBox="1"/>
          <p:nvPr/>
        </p:nvSpPr>
        <p:spPr>
          <a:xfrm>
            <a:off x="7360920" y="4032504"/>
            <a:ext cx="4142232" cy="694944"/>
          </a:xfrm>
          <a:prstGeom prst="rect">
            <a:avLst/>
          </a:prstGeom>
          <a:noFill/>
        </p:spPr>
        <p:txBody>
          <a:bodyPr wrap="square" lIns="0" tIns="0" rIns="0" bIns="0">
            <a:spAutoFit/>
          </a:bodyPr>
          <a:lstStyle/>
          <a:p>
            <a:pPr algn="l">
              <a:lnSpc>
                <a:spcPct val="108000"/>
              </a:lnSpc>
              <a:spcBef>
                <a:spcPts val="0"/>
              </a:spcBef>
              <a:spcAft>
                <a:spcPts val="0"/>
              </a:spcAft>
            </a:pPr>
            <a:r>
              <a:rPr sz="2200" b="1">
                <a:solidFill>
                  <a:srgbClr val="17243B"/>
                </a:solidFill>
                <a:latin typeface="Arial"/>
              </a:rPr>
              <a:t>Revizuit și înțeles</a:t>
            </a:r>
          </a:p>
        </p:txBody>
      </p:sp>
      <p:cxnSp>
        <p:nvCxnSpPr>
          <p:cNvPr id="18" name="Connector 17"/>
          <p:cNvCxnSpPr/>
          <p:nvPr/>
        </p:nvCxnSpPr>
        <p:spPr>
          <a:xfrm>
            <a:off x="685800" y="466344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9" name="Text: Acceptance"/>
          <p:cNvSpPr txBox="1"/>
          <p:nvPr/>
        </p:nvSpPr>
        <p:spPr>
          <a:xfrm>
            <a:off x="685800" y="4873751"/>
            <a:ext cx="1965960" cy="365760"/>
          </a:xfrm>
          <a:prstGeom prst="rect">
            <a:avLst/>
          </a:prstGeom>
          <a:noFill/>
        </p:spPr>
        <p:txBody>
          <a:bodyPr wrap="square" lIns="0" tIns="0" rIns="0" bIns="0">
            <a:spAutoFit/>
          </a:bodyPr>
          <a:lstStyle/>
          <a:p>
            <a:pPr algn="l">
              <a:lnSpc>
                <a:spcPct val="108000"/>
              </a:lnSpc>
              <a:spcBef>
                <a:spcPts val="0"/>
              </a:spcBef>
              <a:spcAft>
                <a:spcPts val="0"/>
              </a:spcAft>
            </a:pPr>
            <a:r>
              <a:rPr sz="1800" b="1">
                <a:solidFill>
                  <a:srgbClr val="17243B"/>
                </a:solidFill>
                <a:latin typeface="Arial"/>
              </a:rPr>
              <a:t>Acceptare</a:t>
            </a:r>
          </a:p>
        </p:txBody>
      </p:sp>
      <p:sp>
        <p:nvSpPr>
          <p:cNvPr id="20" name="Text: Apparent behavior"/>
          <p:cNvSpPr txBox="1"/>
          <p:nvPr/>
        </p:nvSpPr>
        <p:spPr>
          <a:xfrm>
            <a:off x="2971800" y="4818888"/>
            <a:ext cx="3886200" cy="694944"/>
          </a:xfrm>
          <a:prstGeom prst="rect">
            <a:avLst/>
          </a:prstGeom>
          <a:noFill/>
        </p:spPr>
        <p:txBody>
          <a:bodyPr wrap="square" lIns="0" tIns="0" rIns="0" bIns="0">
            <a:spAutoFit/>
          </a:bodyPr>
          <a:lstStyle/>
          <a:p>
            <a:pPr algn="l">
              <a:lnSpc>
                <a:spcPct val="108000"/>
              </a:lnSpc>
              <a:spcBef>
                <a:spcPts val="0"/>
              </a:spcBef>
              <a:spcAft>
                <a:spcPts val="0"/>
              </a:spcAft>
            </a:pPr>
            <a:r>
              <a:rPr sz="2200" b="0">
                <a:solidFill>
                  <a:srgbClr val="5B6980"/>
                </a:solidFill>
                <a:latin typeface="Arial"/>
              </a:rPr>
              <a:t>Comportament aparent</a:t>
            </a:r>
          </a:p>
        </p:txBody>
      </p:sp>
      <p:sp>
        <p:nvSpPr>
          <p:cNvPr id="21" name="Text: Criteria + recorded checks"/>
          <p:cNvSpPr txBox="1"/>
          <p:nvPr/>
        </p:nvSpPr>
        <p:spPr>
          <a:xfrm>
            <a:off x="7360920" y="4818888"/>
            <a:ext cx="4142232" cy="694944"/>
          </a:xfrm>
          <a:prstGeom prst="rect">
            <a:avLst/>
          </a:prstGeom>
          <a:noFill/>
        </p:spPr>
        <p:txBody>
          <a:bodyPr wrap="square" lIns="0" tIns="0" rIns="0" bIns="0">
            <a:spAutoFit/>
          </a:bodyPr>
          <a:lstStyle/>
          <a:p>
            <a:pPr algn="l">
              <a:lnSpc>
                <a:spcPct val="108000"/>
              </a:lnSpc>
              <a:spcBef>
                <a:spcPts val="0"/>
              </a:spcBef>
              <a:spcAft>
                <a:spcPts val="0"/>
              </a:spcAft>
            </a:pPr>
            <a:r>
              <a:rPr sz="2200" b="1">
                <a:solidFill>
                  <a:srgbClr val="17243B"/>
                </a:solidFill>
                <a:latin typeface="Arial"/>
              </a:rPr>
              <a:t>Criterii + verificări notate</a:t>
            </a:r>
          </a:p>
        </p:txBody>
      </p:sp>
      <p:cxnSp>
        <p:nvCxnSpPr>
          <p:cNvPr id="22" name="Connector 21"/>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3" name="Text: Both can use AI. SDD makes intent, review, and verification expli"/>
          <p:cNvSpPr txBox="1"/>
          <p:nvPr/>
        </p:nvSpPr>
        <p:spPr>
          <a:xfrm>
            <a:off x="685800" y="5870448"/>
            <a:ext cx="10789920" cy="402336"/>
          </a:xfrm>
          <a:prstGeom prst="rect">
            <a:avLst/>
          </a:prstGeom>
          <a:noFill/>
        </p:spPr>
        <p:txBody>
          <a:bodyPr wrap="square" lIns="0" tIns="0" rIns="0" bIns="0">
            <a:spAutoFit/>
          </a:bodyPr>
          <a:lstStyle/>
          <a:p>
            <a:pPr algn="l">
              <a:lnSpc>
                <a:spcPct val="108000"/>
              </a:lnSpc>
              <a:spcBef>
                <a:spcPts val="0"/>
              </a:spcBef>
              <a:spcAft>
                <a:spcPts val="0"/>
              </a:spcAft>
            </a:pPr>
            <a:r>
              <a:rPr sz="2100" b="0">
                <a:solidFill>
                  <a:srgbClr val="5B6980"/>
                </a:solidFill>
                <a:latin typeface="Arial"/>
              </a:rPr>
              <a:t>Ambele pot folosi AI. SDD face explicite intenția, review-ul și verificarea.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SDD"/>
          <p:cNvSpPr txBox="1"/>
          <p:nvPr/>
        </p:nvSpPr>
        <p:spPr>
          <a:xfrm>
            <a:off x="685800" y="365760"/>
            <a:ext cx="640080" cy="228600"/>
          </a:xfrm>
          <a:prstGeom prst="rect">
            <a:avLst/>
          </a:prstGeom>
          <a:noFill/>
        </p:spPr>
        <p:txBody>
          <a:bodyPr wrap="square" lIns="0" tIns="0" r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AVOIDING VIBE CODING"/>
          <p:cNvSpPr txBox="1"/>
          <p:nvPr/>
        </p:nvSpPr>
        <p:spPr>
          <a:xfrm>
            <a:off x="1600200" y="365760"/>
            <a:ext cx="8229600" cy="228600"/>
          </a:xfrm>
          <a:prstGeom prst="rect">
            <a:avLst/>
          </a:prstGeom>
          <a:noFill/>
        </p:spPr>
        <p:txBody>
          <a:bodyPr wrap="square" lIns="0" tIns="0" rIns="0" bIns="0">
            <a:spAutoFit/>
          </a:bodyPr>
          <a:lstStyle/>
          <a:p>
            <a:pPr algn="l">
              <a:lnSpc>
                <a:spcPct val="108000"/>
              </a:lnSpc>
              <a:spcBef>
                <a:spcPts val="0"/>
              </a:spcBef>
              <a:spcAft>
                <a:spcPts val="0"/>
              </a:spcAft>
            </a:pPr>
            <a:r>
              <a:rPr sz="1100" b="0">
                <a:solidFill>
                  <a:srgbClr val="5B6980"/>
                </a:solidFill>
                <a:latin typeface="Arial"/>
              </a:rPr>
              <a:t>EVITAREA VIBE CODING</a:t>
            </a:r>
          </a:p>
        </p:txBody>
      </p:sp>
      <p:sp>
        <p:nvSpPr>
          <p:cNvPr id="5" name="Text: 10 / 12"/>
          <p:cNvSpPr txBox="1"/>
          <p:nvPr/>
        </p:nvSpPr>
        <p:spPr>
          <a:xfrm>
            <a:off x="10588752" y="6473952"/>
            <a:ext cx="914400" cy="210312"/>
          </a:xfrm>
          <a:prstGeom prst="rect">
            <a:avLst/>
          </a:prstGeom>
          <a:noFill/>
        </p:spPr>
        <p:txBody>
          <a:bodyPr wrap="square" lIns="0" tIns="0" rIns="0" bIns="0">
            <a:spAutoFit/>
          </a:bodyPr>
          <a:lstStyle/>
          <a:p>
            <a:pPr algn="r">
              <a:lnSpc>
                <a:spcPct val="108000"/>
              </a:lnSpc>
              <a:spcBef>
                <a:spcPts val="0"/>
              </a:spcBef>
              <a:spcAft>
                <a:spcPts val="0"/>
              </a:spcAft>
            </a:pPr>
            <a:r>
              <a:rPr sz="1100" b="0">
                <a:solidFill>
                  <a:srgbClr val="5B6980"/>
                </a:solidFill>
                <a:latin typeface="Arial"/>
              </a:rPr>
              <a:t>10 / 12</a:t>
            </a:r>
          </a:p>
        </p:txBody>
      </p:sp>
      <p:sp>
        <p:nvSpPr>
          <p:cNvPr id="6" name="Text: CONVOCARE  /  ENGINEERING"/>
          <p:cNvSpPr txBox="1"/>
          <p:nvPr/>
        </p:nvSpPr>
        <p:spPr>
          <a:xfrm>
            <a:off x="685800" y="6473952"/>
            <a:ext cx="4023360" cy="201168"/>
          </a:xfrm>
          <a:prstGeom prst="rect">
            <a:avLst/>
          </a:prstGeom>
          <a:noFill/>
        </p:spPr>
        <p:txBody>
          <a:bodyPr wrap="square" lIns="0" tIns="0" r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How SDD avoids vibe coding."/>
          <p:cNvSpPr txBox="1"/>
          <p:nvPr/>
        </p:nvSpPr>
        <p:spPr>
          <a:xfrm>
            <a:off x="685800" y="1033271"/>
            <a:ext cx="10835640" cy="1234440"/>
          </a:xfrm>
          <a:prstGeom prst="rect">
            <a:avLst/>
          </a:prstGeom>
          <a:noFill/>
        </p:spPr>
        <p:txBody>
          <a:bodyPr wrap="square" lIns="0" tIns="0" rIns="0" bIns="0">
            <a:spAutoFit/>
          </a:bodyPr>
          <a:lstStyle/>
          <a:p>
            <a:pPr algn="l">
              <a:lnSpc>
                <a:spcPct val="104000"/>
              </a:lnSpc>
              <a:spcBef>
                <a:spcPts val="0"/>
              </a:spcBef>
              <a:spcAft>
                <a:spcPts val="0"/>
              </a:spcAft>
            </a:pPr>
            <a:r>
              <a:rPr sz="4100" b="1">
                <a:solidFill>
                  <a:srgbClr val="17243B"/>
                </a:solidFill>
                <a:latin typeface="Arial"/>
              </a:rPr>
              <a:t>Cum evită SDD vibe coding-ul.</a:t>
            </a:r>
          </a:p>
        </p:txBody>
      </p:sp>
      <p:sp>
        <p:nvSpPr>
          <p:cNvPr id="8" name="Text: 01 / CLARIFY"/>
          <p:cNvSpPr txBox="1"/>
          <p:nvPr/>
        </p:nvSpPr>
        <p:spPr>
          <a:xfrm>
            <a:off x="685800" y="2542032"/>
            <a:ext cx="3291840" cy="320040"/>
          </a:xfrm>
          <a:prstGeom prst="rect">
            <a:avLst/>
          </a:prstGeom>
          <a:noFill/>
        </p:spPr>
        <p:txBody>
          <a:bodyPr wrap="square" lIns="0" tIns="0" rIns="0" bIns="0">
            <a:spAutoFit/>
          </a:bodyPr>
          <a:lstStyle/>
          <a:p>
            <a:pPr algn="l">
              <a:lnSpc>
                <a:spcPct val="108000"/>
              </a:lnSpc>
              <a:spcBef>
                <a:spcPts val="0"/>
              </a:spcBef>
              <a:spcAft>
                <a:spcPts val="0"/>
              </a:spcAft>
            </a:pPr>
            <a:r>
              <a:rPr sz="1300" b="1">
                <a:solidFill>
                  <a:srgbClr val="305DE6"/>
                </a:solidFill>
                <a:latin typeface="DejaVu Sans Mono"/>
              </a:rPr>
              <a:t>01 / CLARIFICĂ</a:t>
            </a:r>
          </a:p>
        </p:txBody>
      </p:sp>
      <p:sp>
        <p:nvSpPr>
          <p:cNvPr id="9" name="Text: Decisions"/>
          <p:cNvSpPr txBox="1"/>
          <p:nvPr/>
        </p:nvSpPr>
        <p:spPr>
          <a:xfrm>
            <a:off x="685800" y="3163824"/>
            <a:ext cx="3291840" cy="594360"/>
          </a:xfrm>
          <a:prstGeom prst="rect">
            <a:avLst/>
          </a:prstGeom>
          <a:noFill/>
        </p:spPr>
        <p:txBody>
          <a:bodyPr wrap="square" lIns="0" tIns="0" rIns="0" bIns="0">
            <a:spAutoFit/>
          </a:bodyPr>
          <a:lstStyle/>
          <a:p>
            <a:pPr algn="l">
              <a:lnSpc>
                <a:spcPct val="108000"/>
              </a:lnSpc>
              <a:spcBef>
                <a:spcPts val="0"/>
              </a:spcBef>
              <a:spcAft>
                <a:spcPts val="0"/>
              </a:spcAft>
            </a:pPr>
            <a:r>
              <a:rPr sz="3200" b="1">
                <a:solidFill>
                  <a:srgbClr val="17243B"/>
                </a:solidFill>
                <a:latin typeface="Arial"/>
              </a:rPr>
              <a:t>Decizii</a:t>
            </a:r>
          </a:p>
        </p:txBody>
      </p:sp>
      <p:sp>
        <p:nvSpPr>
          <p:cNvPr id="10" name="Text: Resolve unknowns / before generation."/>
          <p:cNvSpPr txBox="1"/>
          <p:nvPr/>
        </p:nvSpPr>
        <p:spPr>
          <a:xfrm>
            <a:off x="685800" y="4023360"/>
            <a:ext cx="3319272" cy="832104"/>
          </a:xfrm>
          <a:prstGeom prst="rect">
            <a:avLst/>
          </a:prstGeom>
          <a:noFill/>
        </p:spPr>
        <p:txBody>
          <a:bodyPr wrap="square" lIns="0" tIns="0" rIns="0" bIns="0">
            <a:spAutoFit/>
          </a:bodyPr>
          <a:lstStyle/>
          <a:p>
            <a:pPr algn="l">
              <a:lnSpc>
                <a:spcPct val="108000"/>
              </a:lnSpc>
              <a:spcBef>
                <a:spcPts val="0"/>
              </a:spcBef>
              <a:spcAft>
                <a:spcPts val="0"/>
              </a:spcAft>
            </a:pPr>
            <a:r>
              <a:rPr sz="2300" b="0">
                <a:solidFill>
                  <a:srgbClr val="17243B"/>
                </a:solidFill>
                <a:latin typeface="Arial"/>
              </a:rPr>
              <a:t>Rezolvă necunoscutele</a:t>
            </a:r>
          </a:p>
          <a:p>
            <a:pPr algn="l">
              <a:lnSpc>
                <a:spcPct val="108000"/>
              </a:lnSpc>
              <a:spcBef>
                <a:spcPts val="0"/>
              </a:spcBef>
              <a:spcAft>
                <a:spcPts val="0"/>
              </a:spcAft>
            </a:pPr>
            <a:r>
              <a:rPr sz="2300" b="0">
                <a:solidFill>
                  <a:srgbClr val="17243B"/>
                </a:solidFill>
                <a:latin typeface="Arial"/>
              </a:rPr>
              <a:t>înainte de generare.</a:t>
            </a:r>
          </a:p>
        </p:txBody>
      </p:sp>
      <p:sp>
        <p:nvSpPr>
          <p:cNvPr id="11" name="Text: Reviewed specifications"/>
          <p:cNvSpPr txBox="1"/>
          <p:nvPr/>
        </p:nvSpPr>
        <p:spPr>
          <a:xfrm>
            <a:off x="685800" y="5102352"/>
            <a:ext cx="3319272" cy="347472"/>
          </a:xfrm>
          <a:prstGeom prst="rect">
            <a:avLst/>
          </a:prstGeom>
          <a:noFill/>
        </p:spPr>
        <p:txBody>
          <a:bodyPr wrap="square" lIns="0" tIns="0" rIns="0" bIns="0">
            <a:spAutoFit/>
          </a:bodyPr>
          <a:lstStyle/>
          <a:p>
            <a:pPr algn="l">
              <a:lnSpc>
                <a:spcPct val="108000"/>
              </a:lnSpc>
              <a:spcBef>
                <a:spcPts val="0"/>
              </a:spcBef>
              <a:spcAft>
                <a:spcPts val="0"/>
              </a:spcAft>
            </a:pPr>
            <a:r>
              <a:rPr sz="1800" b="0">
                <a:solidFill>
                  <a:srgbClr val="147D72"/>
                </a:solidFill>
                <a:latin typeface="Arial"/>
              </a:rPr>
              <a:t>Specificații revizuite</a:t>
            </a:r>
          </a:p>
        </p:txBody>
      </p:sp>
      <p:cxnSp>
        <p:nvCxnSpPr>
          <p:cNvPr id="12" name="Connector 11"/>
          <p:cNvCxnSpPr/>
          <p:nvPr/>
        </p:nvCxnSpPr>
        <p:spPr>
          <a:xfrm>
            <a:off x="4142231" y="2542032"/>
            <a:ext cx="0" cy="2889504"/>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3" name="Text: 02 / CONSTRAIN"/>
          <p:cNvSpPr txBox="1"/>
          <p:nvPr/>
        </p:nvSpPr>
        <p:spPr>
          <a:xfrm>
            <a:off x="4453128" y="2542032"/>
            <a:ext cx="3291840" cy="320040"/>
          </a:xfrm>
          <a:prstGeom prst="rect">
            <a:avLst/>
          </a:prstGeom>
          <a:noFill/>
        </p:spPr>
        <p:txBody>
          <a:bodyPr wrap="square" lIns="0" tIns="0" rIns="0" bIns="0">
            <a:spAutoFit/>
          </a:bodyPr>
          <a:lstStyle/>
          <a:p>
            <a:pPr algn="l">
              <a:lnSpc>
                <a:spcPct val="108000"/>
              </a:lnSpc>
              <a:spcBef>
                <a:spcPts val="0"/>
              </a:spcBef>
              <a:spcAft>
                <a:spcPts val="0"/>
              </a:spcAft>
            </a:pPr>
            <a:r>
              <a:rPr sz="1300" b="1">
                <a:solidFill>
                  <a:srgbClr val="305DE6"/>
                </a:solidFill>
                <a:latin typeface="DejaVu Sans Mono"/>
              </a:rPr>
              <a:t>02 / DELIMITEAZĂ</a:t>
            </a:r>
          </a:p>
        </p:txBody>
      </p:sp>
      <p:sp>
        <p:nvSpPr>
          <p:cNvPr id="14" name="Text: Boundaries"/>
          <p:cNvSpPr txBox="1"/>
          <p:nvPr/>
        </p:nvSpPr>
        <p:spPr>
          <a:xfrm>
            <a:off x="4453128" y="3163824"/>
            <a:ext cx="3291840" cy="594360"/>
          </a:xfrm>
          <a:prstGeom prst="rect">
            <a:avLst/>
          </a:prstGeom>
          <a:noFill/>
        </p:spPr>
        <p:txBody>
          <a:bodyPr wrap="square" lIns="0" tIns="0" rIns="0" bIns="0">
            <a:spAutoFit/>
          </a:bodyPr>
          <a:lstStyle/>
          <a:p>
            <a:pPr algn="l">
              <a:lnSpc>
                <a:spcPct val="108000"/>
              </a:lnSpc>
              <a:spcBef>
                <a:spcPts val="0"/>
              </a:spcBef>
              <a:spcAft>
                <a:spcPts val="0"/>
              </a:spcAft>
            </a:pPr>
            <a:r>
              <a:rPr sz="3200" b="1">
                <a:solidFill>
                  <a:srgbClr val="17243B"/>
                </a:solidFill>
                <a:latin typeface="Arial"/>
              </a:rPr>
              <a:t>Limite</a:t>
            </a:r>
          </a:p>
        </p:txBody>
      </p:sp>
      <p:sp>
        <p:nvSpPr>
          <p:cNvPr id="15" name="Text: Limit each change / to a reviewed task."/>
          <p:cNvSpPr txBox="1"/>
          <p:nvPr/>
        </p:nvSpPr>
        <p:spPr>
          <a:xfrm>
            <a:off x="4453128" y="4023360"/>
            <a:ext cx="3319272" cy="832104"/>
          </a:xfrm>
          <a:prstGeom prst="rect">
            <a:avLst/>
          </a:prstGeom>
          <a:noFill/>
        </p:spPr>
        <p:txBody>
          <a:bodyPr wrap="square" lIns="0" tIns="0" rIns="0" bIns="0">
            <a:spAutoFit/>
          </a:bodyPr>
          <a:lstStyle/>
          <a:p>
            <a:pPr algn="l">
              <a:lnSpc>
                <a:spcPct val="108000"/>
              </a:lnSpc>
              <a:spcBef>
                <a:spcPts val="0"/>
              </a:spcBef>
              <a:spcAft>
                <a:spcPts val="0"/>
              </a:spcAft>
            </a:pPr>
            <a:r>
              <a:rPr sz="2300" b="0">
                <a:solidFill>
                  <a:srgbClr val="17243B"/>
                </a:solidFill>
                <a:latin typeface="Arial"/>
              </a:rPr>
              <a:t>Limitează schimbarea</a:t>
            </a:r>
          </a:p>
          <a:p>
            <a:pPr algn="l">
              <a:lnSpc>
                <a:spcPct val="108000"/>
              </a:lnSpc>
              <a:spcBef>
                <a:spcPts val="0"/>
              </a:spcBef>
              <a:spcAft>
                <a:spcPts val="0"/>
              </a:spcAft>
            </a:pPr>
            <a:r>
              <a:rPr sz="2300" b="0">
                <a:solidFill>
                  <a:srgbClr val="17243B"/>
                </a:solidFill>
                <a:latin typeface="Arial"/>
              </a:rPr>
              <a:t>la un task revizuit.</a:t>
            </a:r>
          </a:p>
        </p:txBody>
      </p:sp>
      <p:sp>
        <p:nvSpPr>
          <p:cNvPr id="16" name="Text: Scoped plans + tasks"/>
          <p:cNvSpPr txBox="1"/>
          <p:nvPr/>
        </p:nvSpPr>
        <p:spPr>
          <a:xfrm>
            <a:off x="4453128" y="5102352"/>
            <a:ext cx="3319272" cy="347472"/>
          </a:xfrm>
          <a:prstGeom prst="rect">
            <a:avLst/>
          </a:prstGeom>
          <a:noFill/>
        </p:spPr>
        <p:txBody>
          <a:bodyPr wrap="square" lIns="0" tIns="0" rIns="0" bIns="0">
            <a:spAutoFit/>
          </a:bodyPr>
          <a:lstStyle/>
          <a:p>
            <a:pPr algn="l">
              <a:lnSpc>
                <a:spcPct val="108000"/>
              </a:lnSpc>
              <a:spcBef>
                <a:spcPts val="0"/>
              </a:spcBef>
              <a:spcAft>
                <a:spcPts val="0"/>
              </a:spcAft>
            </a:pPr>
            <a:r>
              <a:rPr sz="1800" b="0">
                <a:solidFill>
                  <a:srgbClr val="147D72"/>
                </a:solidFill>
                <a:latin typeface="Arial"/>
              </a:rPr>
              <a:t>Planuri + task-uri delimitate</a:t>
            </a:r>
          </a:p>
        </p:txBody>
      </p:sp>
      <p:cxnSp>
        <p:nvCxnSpPr>
          <p:cNvPr id="17" name="Connector 16"/>
          <p:cNvCxnSpPr/>
          <p:nvPr/>
        </p:nvCxnSpPr>
        <p:spPr>
          <a:xfrm>
            <a:off x="7909560" y="2542032"/>
            <a:ext cx="0" cy="2889504"/>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8" name="Text: 03 / VERIFY"/>
          <p:cNvSpPr txBox="1"/>
          <p:nvPr/>
        </p:nvSpPr>
        <p:spPr>
          <a:xfrm>
            <a:off x="8220456" y="2542032"/>
            <a:ext cx="3291840" cy="320040"/>
          </a:xfrm>
          <a:prstGeom prst="rect">
            <a:avLst/>
          </a:prstGeom>
          <a:noFill/>
        </p:spPr>
        <p:txBody>
          <a:bodyPr wrap="square" lIns="0" tIns="0" rIns="0" bIns="0">
            <a:spAutoFit/>
          </a:bodyPr>
          <a:lstStyle/>
          <a:p>
            <a:pPr algn="l">
              <a:lnSpc>
                <a:spcPct val="108000"/>
              </a:lnSpc>
              <a:spcBef>
                <a:spcPts val="0"/>
              </a:spcBef>
              <a:spcAft>
                <a:spcPts val="0"/>
              </a:spcAft>
            </a:pPr>
            <a:r>
              <a:rPr sz="1300" b="1">
                <a:solidFill>
                  <a:srgbClr val="305DE6"/>
                </a:solidFill>
                <a:latin typeface="DejaVu Sans Mono"/>
              </a:rPr>
              <a:t>03 / VERIFICĂ</a:t>
            </a:r>
          </a:p>
        </p:txBody>
      </p:sp>
      <p:sp>
        <p:nvSpPr>
          <p:cNvPr id="19" name="Text: Evidence"/>
          <p:cNvSpPr txBox="1"/>
          <p:nvPr/>
        </p:nvSpPr>
        <p:spPr>
          <a:xfrm>
            <a:off x="8220456" y="3163824"/>
            <a:ext cx="3291840" cy="594360"/>
          </a:xfrm>
          <a:prstGeom prst="rect">
            <a:avLst/>
          </a:prstGeom>
          <a:noFill/>
        </p:spPr>
        <p:txBody>
          <a:bodyPr wrap="square" lIns="0" tIns="0" rIns="0" bIns="0">
            <a:spAutoFit/>
          </a:bodyPr>
          <a:lstStyle/>
          <a:p>
            <a:pPr algn="l">
              <a:lnSpc>
                <a:spcPct val="108000"/>
              </a:lnSpc>
              <a:spcBef>
                <a:spcPts val="0"/>
              </a:spcBef>
              <a:spcAft>
                <a:spcPts val="0"/>
              </a:spcAft>
            </a:pPr>
            <a:r>
              <a:rPr sz="3200" b="1">
                <a:solidFill>
                  <a:srgbClr val="17243B"/>
                </a:solidFill>
                <a:latin typeface="Arial"/>
              </a:rPr>
              <a:t>Dovezi</a:t>
            </a:r>
          </a:p>
        </p:txBody>
      </p:sp>
      <p:sp>
        <p:nvSpPr>
          <p:cNvPr id="20" name="Text: Read the diff; verify / acceptance criteria."/>
          <p:cNvSpPr txBox="1"/>
          <p:nvPr/>
        </p:nvSpPr>
        <p:spPr>
          <a:xfrm>
            <a:off x="8220456" y="4023360"/>
            <a:ext cx="3319272" cy="832104"/>
          </a:xfrm>
          <a:prstGeom prst="rect">
            <a:avLst/>
          </a:prstGeom>
          <a:noFill/>
        </p:spPr>
        <p:txBody>
          <a:bodyPr wrap="square" lIns="0" tIns="0" rIns="0" bIns="0">
            <a:spAutoFit/>
          </a:bodyPr>
          <a:lstStyle/>
          <a:p>
            <a:pPr algn="l">
              <a:lnSpc>
                <a:spcPct val="108000"/>
              </a:lnSpc>
              <a:spcBef>
                <a:spcPts val="0"/>
              </a:spcBef>
              <a:spcAft>
                <a:spcPts val="0"/>
              </a:spcAft>
            </a:pPr>
            <a:r>
              <a:rPr sz="2300" b="0">
                <a:solidFill>
                  <a:srgbClr val="17243B"/>
                </a:solidFill>
                <a:latin typeface="Arial"/>
              </a:rPr>
              <a:t>Citește diff-ul; verifică</a:t>
            </a:r>
          </a:p>
          <a:p>
            <a:pPr algn="l">
              <a:lnSpc>
                <a:spcPct val="108000"/>
              </a:lnSpc>
              <a:spcBef>
                <a:spcPts val="0"/>
              </a:spcBef>
              <a:spcAft>
                <a:spcPts val="0"/>
              </a:spcAft>
            </a:pPr>
            <a:r>
              <a:rPr sz="2300" b="0">
                <a:solidFill>
                  <a:srgbClr val="17243B"/>
                </a:solidFill>
                <a:latin typeface="Arial"/>
              </a:rPr>
              <a:t>criteriile de acceptare.</a:t>
            </a:r>
          </a:p>
        </p:txBody>
      </p:sp>
      <p:sp>
        <p:nvSpPr>
          <p:cNvPr id="21" name="Text: Recorded checks + review"/>
          <p:cNvSpPr txBox="1"/>
          <p:nvPr/>
        </p:nvSpPr>
        <p:spPr>
          <a:xfrm>
            <a:off x="8220456" y="5102352"/>
            <a:ext cx="3319272" cy="347472"/>
          </a:xfrm>
          <a:prstGeom prst="rect">
            <a:avLst/>
          </a:prstGeom>
          <a:noFill/>
        </p:spPr>
        <p:txBody>
          <a:bodyPr wrap="square" lIns="0" tIns="0" rIns="0" bIns="0">
            <a:spAutoFit/>
          </a:bodyPr>
          <a:lstStyle/>
          <a:p>
            <a:pPr algn="l">
              <a:lnSpc>
                <a:spcPct val="108000"/>
              </a:lnSpc>
              <a:spcBef>
                <a:spcPts val="0"/>
              </a:spcBef>
              <a:spcAft>
                <a:spcPts val="0"/>
              </a:spcAft>
            </a:pPr>
            <a:r>
              <a:rPr sz="1800" b="0">
                <a:solidFill>
                  <a:srgbClr val="147D72"/>
                </a:solidFill>
                <a:latin typeface="Arial"/>
              </a:rPr>
              <a:t>Verificări notate + review</a:t>
            </a:r>
          </a:p>
        </p:txBody>
      </p:sp>
      <p:cxnSp>
        <p:nvCxnSpPr>
          <p:cNvPr id="22" name="Connector 21"/>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3" name="Text: A spec helps only when it guides the work and the review."/>
          <p:cNvSpPr txBox="1"/>
          <p:nvPr/>
        </p:nvSpPr>
        <p:spPr>
          <a:xfrm>
            <a:off x="685800" y="5870448"/>
            <a:ext cx="10789920" cy="402336"/>
          </a:xfrm>
          <a:prstGeom prst="rect">
            <a:avLst/>
          </a:prstGeom>
          <a:noFill/>
        </p:spPr>
        <p:txBody>
          <a:bodyPr wrap="square" lIns="0" tIns="0" rIns="0" bIns="0">
            <a:spAutoFit/>
          </a:bodyPr>
          <a:lstStyle/>
          <a:p>
            <a:pPr algn="l">
              <a:lnSpc>
                <a:spcPct val="108000"/>
              </a:lnSpc>
              <a:spcBef>
                <a:spcPts val="0"/>
              </a:spcBef>
              <a:spcAft>
                <a:spcPts val="0"/>
              </a:spcAft>
            </a:pPr>
            <a:r>
              <a:rPr sz="2100" b="0">
                <a:solidFill>
                  <a:srgbClr val="5B6980"/>
                </a:solidFill>
                <a:latin typeface="Arial"/>
              </a:rPr>
              <a:t>Un spec ajută doar când ghidează și lucrul, și review-ul.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SDD"/>
          <p:cNvSpPr txBox="1"/>
          <p:nvPr/>
        </p:nvSpPr>
        <p:spPr>
          <a:xfrm>
            <a:off x="685800" y="365760"/>
            <a:ext cx="640080" cy="228600"/>
          </a:xfrm>
          <a:prstGeom prst="rect">
            <a:avLst/>
          </a:prstGeom>
          <a:noFill/>
        </p:spPr>
        <p:txBody>
          <a:bodyPr wrap="square" lIns="0" tIns="0" r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REPRODUCIBILITY"/>
          <p:cNvSpPr txBox="1"/>
          <p:nvPr/>
        </p:nvSpPr>
        <p:spPr>
          <a:xfrm>
            <a:off x="1600200" y="365760"/>
            <a:ext cx="8229600" cy="228600"/>
          </a:xfrm>
          <a:prstGeom prst="rect">
            <a:avLst/>
          </a:prstGeom>
          <a:noFill/>
        </p:spPr>
        <p:txBody>
          <a:bodyPr wrap="square" lIns="0" tIns="0" rIns="0" bIns="0">
            <a:spAutoFit/>
          </a:bodyPr>
          <a:lstStyle/>
          <a:p>
            <a:pPr algn="l">
              <a:lnSpc>
                <a:spcPct val="108000"/>
              </a:lnSpc>
              <a:spcBef>
                <a:spcPts val="0"/>
              </a:spcBef>
              <a:spcAft>
                <a:spcPts val="0"/>
              </a:spcAft>
            </a:pPr>
            <a:r>
              <a:rPr sz="1100" b="0">
                <a:solidFill>
                  <a:srgbClr val="5B6980"/>
                </a:solidFill>
                <a:latin typeface="Arial"/>
              </a:rPr>
              <a:t>REPRODUCTIBILITATE</a:t>
            </a:r>
          </a:p>
        </p:txBody>
      </p:sp>
      <p:sp>
        <p:nvSpPr>
          <p:cNvPr id="5" name="Text: 11 / 12"/>
          <p:cNvSpPr txBox="1"/>
          <p:nvPr/>
        </p:nvSpPr>
        <p:spPr>
          <a:xfrm>
            <a:off x="10588752" y="6473952"/>
            <a:ext cx="914400" cy="210312"/>
          </a:xfrm>
          <a:prstGeom prst="rect">
            <a:avLst/>
          </a:prstGeom>
          <a:noFill/>
        </p:spPr>
        <p:txBody>
          <a:bodyPr wrap="square" lIns="0" tIns="0" rIns="0" bIns="0">
            <a:spAutoFit/>
          </a:bodyPr>
          <a:lstStyle/>
          <a:p>
            <a:pPr algn="r">
              <a:lnSpc>
                <a:spcPct val="108000"/>
              </a:lnSpc>
              <a:spcBef>
                <a:spcPts val="0"/>
              </a:spcBef>
              <a:spcAft>
                <a:spcPts val="0"/>
              </a:spcAft>
            </a:pPr>
            <a:r>
              <a:rPr sz="1100" b="0">
                <a:solidFill>
                  <a:srgbClr val="5B6980"/>
                </a:solidFill>
                <a:latin typeface="Arial"/>
              </a:rPr>
              <a:t>11 / 12</a:t>
            </a:r>
          </a:p>
        </p:txBody>
      </p:sp>
      <p:sp>
        <p:nvSpPr>
          <p:cNvPr id="6" name="Text: CONVOCARE  /  ENGINEERING"/>
          <p:cNvSpPr txBox="1"/>
          <p:nvPr/>
        </p:nvSpPr>
        <p:spPr>
          <a:xfrm>
            <a:off x="685800" y="6473952"/>
            <a:ext cx="4023360" cy="201168"/>
          </a:xfrm>
          <a:prstGeom prst="rect">
            <a:avLst/>
          </a:prstGeom>
          <a:noFill/>
        </p:spPr>
        <p:txBody>
          <a:bodyPr wrap="square" lIns="0" tIns="0" r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Reproduce behavior across sessions."/>
          <p:cNvSpPr txBox="1"/>
          <p:nvPr/>
        </p:nvSpPr>
        <p:spPr>
          <a:xfrm>
            <a:off x="685800" y="1033271"/>
            <a:ext cx="10835640" cy="1234440"/>
          </a:xfrm>
          <a:prstGeom prst="rect">
            <a:avLst/>
          </a:prstGeom>
          <a:noFill/>
        </p:spPr>
        <p:txBody>
          <a:bodyPr wrap="square" lIns="0" tIns="0" rIns="0" bIns="0">
            <a:spAutoFit/>
          </a:bodyPr>
          <a:lstStyle/>
          <a:p>
            <a:pPr algn="l">
              <a:lnSpc>
                <a:spcPct val="104000"/>
              </a:lnSpc>
              <a:spcBef>
                <a:spcPts val="0"/>
              </a:spcBef>
              <a:spcAft>
                <a:spcPts val="0"/>
              </a:spcAft>
            </a:pPr>
            <a:r>
              <a:rPr sz="4100" b="1">
                <a:solidFill>
                  <a:srgbClr val="17243B"/>
                </a:solidFill>
                <a:latin typeface="Arial"/>
              </a:rPr>
              <a:t>Reprodu comportamentul între sesiuni.</a:t>
            </a:r>
          </a:p>
        </p:txBody>
      </p:sp>
      <p:sp>
        <p:nvSpPr>
          <p:cNvPr id="8" name="Rectangle 7"/>
          <p:cNvSpPr/>
          <p:nvPr/>
        </p:nvSpPr>
        <p:spPr>
          <a:xfrm>
            <a:off x="685800" y="2560320"/>
            <a:ext cx="3319272" cy="2606040"/>
          </a:xfrm>
          <a:prstGeom prst="rect">
            <a:avLst/>
          </a:prstGeom>
          <a:solidFill>
            <a:srgbClr val="EDF2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 Same inputs"/>
          <p:cNvSpPr txBox="1"/>
          <p:nvPr/>
        </p:nvSpPr>
        <p:spPr>
          <a:xfrm>
            <a:off x="923544" y="2807208"/>
            <a:ext cx="2834640" cy="438912"/>
          </a:xfrm>
          <a:prstGeom prst="rect">
            <a:avLst/>
          </a:prstGeom>
          <a:noFill/>
        </p:spPr>
        <p:txBody>
          <a:bodyPr wrap="square" lIns="0" tIns="0" rIns="0" bIns="0">
            <a:spAutoFit/>
          </a:bodyPr>
          <a:lstStyle/>
          <a:p>
            <a:pPr algn="l">
              <a:lnSpc>
                <a:spcPct val="108000"/>
              </a:lnSpc>
              <a:spcBef>
                <a:spcPts val="0"/>
              </a:spcBef>
              <a:spcAft>
                <a:spcPts val="0"/>
              </a:spcAft>
            </a:pPr>
            <a:r>
              <a:rPr sz="2400" b="1">
                <a:solidFill>
                  <a:srgbClr val="17243B"/>
                </a:solidFill>
                <a:latin typeface="Arial"/>
              </a:rPr>
              <a:t>Aceleași input-uri</a:t>
            </a:r>
          </a:p>
        </p:txBody>
      </p:sp>
      <p:sp>
        <p:nvSpPr>
          <p:cNvPr id="10" name="Text: Repo + spec commit / Task + prompt / Runtime + lockfiles / Contro"/>
          <p:cNvSpPr txBox="1"/>
          <p:nvPr/>
        </p:nvSpPr>
        <p:spPr>
          <a:xfrm>
            <a:off x="923544" y="3474720"/>
            <a:ext cx="2843784" cy="1444752"/>
          </a:xfrm>
          <a:prstGeom prst="rect">
            <a:avLst/>
          </a:prstGeom>
          <a:noFill/>
        </p:spPr>
        <p:txBody>
          <a:bodyPr wrap="square" lIns="0" tIns="0" rIns="0" bIns="0">
            <a:spAutoFit/>
          </a:bodyPr>
          <a:lstStyle/>
          <a:p>
            <a:pPr algn="l">
              <a:lnSpc>
                <a:spcPct val="125000"/>
              </a:lnSpc>
              <a:spcBef>
                <a:spcPts val="0"/>
              </a:spcBef>
              <a:spcAft>
                <a:spcPts val="0"/>
              </a:spcAft>
            </a:pPr>
            <a:r>
              <a:rPr sz="2100" b="0">
                <a:solidFill>
                  <a:srgbClr val="5B6980"/>
                </a:solidFill>
                <a:latin typeface="Arial"/>
              </a:rPr>
              <a:t>Repo + spec commit</a:t>
            </a:r>
          </a:p>
          <a:p>
            <a:pPr algn="l">
              <a:lnSpc>
                <a:spcPct val="125000"/>
              </a:lnSpc>
              <a:spcBef>
                <a:spcPts val="0"/>
              </a:spcBef>
              <a:spcAft>
                <a:spcPts val="0"/>
              </a:spcAft>
            </a:pPr>
            <a:r>
              <a:rPr sz="2100" b="0">
                <a:solidFill>
                  <a:srgbClr val="5B6980"/>
                </a:solidFill>
                <a:latin typeface="Arial"/>
              </a:rPr>
              <a:t>Task + prompt</a:t>
            </a:r>
          </a:p>
          <a:p>
            <a:pPr algn="l">
              <a:lnSpc>
                <a:spcPct val="125000"/>
              </a:lnSpc>
              <a:spcBef>
                <a:spcPts val="0"/>
              </a:spcBef>
              <a:spcAft>
                <a:spcPts val="0"/>
              </a:spcAft>
            </a:pPr>
            <a:r>
              <a:rPr sz="2100" b="0">
                <a:solidFill>
                  <a:srgbClr val="5B6980"/>
                </a:solidFill>
                <a:latin typeface="Arial"/>
              </a:rPr>
              <a:t>Runtime + lockfiles</a:t>
            </a:r>
          </a:p>
          <a:p>
            <a:pPr algn="l">
              <a:lnSpc>
                <a:spcPct val="125000"/>
              </a:lnSpc>
              <a:spcBef>
                <a:spcPts val="0"/>
              </a:spcBef>
              <a:spcAft>
                <a:spcPts val="0"/>
              </a:spcAft>
            </a:pPr>
            <a:r>
              <a:rPr sz="2100" b="0">
                <a:solidFill>
                  <a:srgbClr val="5B6980"/>
                </a:solidFill>
                <a:latin typeface="Arial"/>
              </a:rPr>
              <a:t>Fixtures controlate</a:t>
            </a:r>
          </a:p>
        </p:txBody>
      </p:sp>
      <p:sp>
        <p:nvSpPr>
          <p:cNvPr id="11" name="Rectangle 10"/>
          <p:cNvSpPr/>
          <p:nvPr/>
        </p:nvSpPr>
        <p:spPr>
          <a:xfrm>
            <a:off x="4965192" y="2743200"/>
            <a:ext cx="2770632" cy="822960"/>
          </a:xfrm>
          <a:prstGeom prst="rect">
            <a:avLst/>
          </a:prstGeom>
          <a:solidFill>
            <a:srgbClr val="FFFFFF"/>
          </a:solidFill>
          <a:ln w="16510">
            <a:solidFill>
              <a:srgbClr val="DCE3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 Fresh session A"/>
          <p:cNvSpPr txBox="1"/>
          <p:nvPr/>
        </p:nvSpPr>
        <p:spPr>
          <a:xfrm>
            <a:off x="5138928" y="2990088"/>
            <a:ext cx="2423160" cy="393192"/>
          </a:xfrm>
          <a:prstGeom prst="rect">
            <a:avLst/>
          </a:prstGeom>
          <a:noFill/>
        </p:spPr>
        <p:txBody>
          <a:bodyPr wrap="square" lIns="0" tIns="0" rIns="0" bIns="0">
            <a:spAutoFit/>
          </a:bodyPr>
          <a:lstStyle/>
          <a:p>
            <a:pPr algn="ctr">
              <a:lnSpc>
                <a:spcPct val="108000"/>
              </a:lnSpc>
              <a:spcBef>
                <a:spcPts val="0"/>
              </a:spcBef>
              <a:spcAft>
                <a:spcPts val="0"/>
              </a:spcAft>
            </a:pPr>
            <a:r>
              <a:rPr sz="2200" b="1">
                <a:solidFill>
                  <a:srgbClr val="17243B"/>
                </a:solidFill>
                <a:latin typeface="Arial"/>
              </a:rPr>
              <a:t>Sesiune nouă A</a:t>
            </a:r>
          </a:p>
        </p:txBody>
      </p:sp>
      <p:sp>
        <p:nvSpPr>
          <p:cNvPr id="13" name="Rectangle 12"/>
          <p:cNvSpPr/>
          <p:nvPr/>
        </p:nvSpPr>
        <p:spPr>
          <a:xfrm>
            <a:off x="4965192" y="4242816"/>
            <a:ext cx="2770632" cy="822960"/>
          </a:xfrm>
          <a:prstGeom prst="rect">
            <a:avLst/>
          </a:prstGeom>
          <a:solidFill>
            <a:srgbClr val="FFFFFF"/>
          </a:solidFill>
          <a:ln w="16510">
            <a:solidFill>
              <a:srgbClr val="DCE3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 Fresh session B"/>
          <p:cNvSpPr txBox="1"/>
          <p:nvPr/>
        </p:nvSpPr>
        <p:spPr>
          <a:xfrm>
            <a:off x="5138928" y="4489704"/>
            <a:ext cx="2423160" cy="393192"/>
          </a:xfrm>
          <a:prstGeom prst="rect">
            <a:avLst/>
          </a:prstGeom>
          <a:noFill/>
        </p:spPr>
        <p:txBody>
          <a:bodyPr wrap="square" lIns="0" tIns="0" rIns="0" bIns="0">
            <a:spAutoFit/>
          </a:bodyPr>
          <a:lstStyle/>
          <a:p>
            <a:pPr algn="ctr">
              <a:lnSpc>
                <a:spcPct val="108000"/>
              </a:lnSpc>
              <a:spcBef>
                <a:spcPts val="0"/>
              </a:spcBef>
              <a:spcAft>
                <a:spcPts val="0"/>
              </a:spcAft>
            </a:pPr>
            <a:r>
              <a:rPr sz="2200" b="1">
                <a:solidFill>
                  <a:srgbClr val="17243B"/>
                </a:solidFill>
                <a:latin typeface="Arial"/>
              </a:rPr>
              <a:t>Sesiune nouă B</a:t>
            </a:r>
          </a:p>
        </p:txBody>
      </p:sp>
      <p:cxnSp>
        <p:nvCxnSpPr>
          <p:cNvPr id="15" name="Connector 14"/>
          <p:cNvCxnSpPr/>
          <p:nvPr/>
        </p:nvCxnSpPr>
        <p:spPr>
          <a:xfrm>
            <a:off x="4059936" y="3867912"/>
            <a:ext cx="457200" cy="0"/>
          </a:xfrm>
          <a:prstGeom prst="line">
            <a:avLst/>
          </a:prstGeom>
          <a:ln w="1905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4517136" y="3154680"/>
            <a:ext cx="0" cy="1499616"/>
          </a:xfrm>
          <a:prstGeom prst="line">
            <a:avLst/>
          </a:prstGeom>
          <a:ln w="1905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4517136" y="3154680"/>
            <a:ext cx="356616" cy="0"/>
          </a:xfrm>
          <a:prstGeom prst="line">
            <a:avLst/>
          </a:prstGeom>
          <a:ln w="19050">
            <a:solidFill>
              <a:srgbClr val="305DE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4517136" y="4654296"/>
            <a:ext cx="356616" cy="0"/>
          </a:xfrm>
          <a:prstGeom prst="line">
            <a:avLst/>
          </a:prstGeom>
          <a:ln w="19050">
            <a:solidFill>
              <a:srgbClr val="305DE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7799831" y="3154680"/>
            <a:ext cx="429769" cy="0"/>
          </a:xfrm>
          <a:prstGeom prst="line">
            <a:avLst/>
          </a:prstGeom>
          <a:ln w="1905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7799831" y="4654296"/>
            <a:ext cx="429769" cy="0"/>
          </a:xfrm>
          <a:prstGeom prst="line">
            <a:avLst/>
          </a:prstGeom>
          <a:ln w="1905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8229600" y="3154680"/>
            <a:ext cx="0" cy="1499616"/>
          </a:xfrm>
          <a:prstGeom prst="line">
            <a:avLst/>
          </a:prstGeom>
          <a:ln w="1905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8229600" y="3867912"/>
            <a:ext cx="384048" cy="0"/>
          </a:xfrm>
          <a:prstGeom prst="line">
            <a:avLst/>
          </a:prstGeom>
          <a:ln w="19050">
            <a:solidFill>
              <a:srgbClr val="305DE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9592056" y="3060313"/>
            <a:ext cx="183428" cy="183429"/>
          </a:xfrm>
          <a:prstGeom prst="line">
            <a:avLst/>
          </a:prstGeom>
          <a:ln w="31750">
            <a:solidFill>
              <a:srgbClr val="147D72"/>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V="1">
            <a:off x="9775484" y="2779776"/>
            <a:ext cx="356068" cy="463966"/>
          </a:xfrm>
          <a:prstGeom prst="line">
            <a:avLst/>
          </a:prstGeom>
          <a:ln w="31750">
            <a:solidFill>
              <a:srgbClr val="147D72"/>
            </a:solidFill>
          </a:ln>
          <a:effectLst/>
        </p:spPr>
        <p:style>
          <a:lnRef idx="2">
            <a:schemeClr val="accent1"/>
          </a:lnRef>
          <a:fillRef idx="0">
            <a:schemeClr val="accent1"/>
          </a:fillRef>
          <a:effectRef idx="0">
            <a:schemeClr val="accent1"/>
          </a:effectRef>
          <a:fontRef idx="minor">
            <a:schemeClr val="tx1"/>
          </a:fontRef>
        </p:style>
      </p:cxnSp>
      <p:sp>
        <p:nvSpPr>
          <p:cNvPr id="25" name="Text: Same checks"/>
          <p:cNvSpPr txBox="1"/>
          <p:nvPr/>
        </p:nvSpPr>
        <p:spPr>
          <a:xfrm>
            <a:off x="8787384" y="3657600"/>
            <a:ext cx="2715768" cy="429768"/>
          </a:xfrm>
          <a:prstGeom prst="rect">
            <a:avLst/>
          </a:prstGeom>
          <a:noFill/>
        </p:spPr>
        <p:txBody>
          <a:bodyPr wrap="square" lIns="0" tIns="0" rIns="0" bIns="0">
            <a:spAutoFit/>
          </a:bodyPr>
          <a:lstStyle/>
          <a:p>
            <a:pPr algn="ctr">
              <a:lnSpc>
                <a:spcPct val="108000"/>
              </a:lnSpc>
              <a:spcBef>
                <a:spcPts val="0"/>
              </a:spcBef>
              <a:spcAft>
                <a:spcPts val="0"/>
              </a:spcAft>
            </a:pPr>
            <a:r>
              <a:rPr sz="2500" b="1">
                <a:solidFill>
                  <a:srgbClr val="17243B"/>
                </a:solidFill>
                <a:latin typeface="Arial"/>
              </a:rPr>
              <a:t>Aceleași verificări</a:t>
            </a:r>
          </a:p>
        </p:txBody>
      </p:sp>
      <p:sp>
        <p:nvSpPr>
          <p:cNvPr id="26" name="Text: Compare behavior / and review both diffs"/>
          <p:cNvSpPr txBox="1"/>
          <p:nvPr/>
        </p:nvSpPr>
        <p:spPr>
          <a:xfrm>
            <a:off x="8759952" y="4334256"/>
            <a:ext cx="2743200" cy="758952"/>
          </a:xfrm>
          <a:prstGeom prst="rect">
            <a:avLst/>
          </a:prstGeom>
          <a:noFill/>
        </p:spPr>
        <p:txBody>
          <a:bodyPr wrap="square" lIns="0" tIns="0" rIns="0" bIns="0">
            <a:spAutoFit/>
          </a:bodyPr>
          <a:lstStyle/>
          <a:p>
            <a:pPr algn="ctr">
              <a:lnSpc>
                <a:spcPct val="108000"/>
              </a:lnSpc>
              <a:spcBef>
                <a:spcPts val="0"/>
              </a:spcBef>
              <a:spcAft>
                <a:spcPts val="0"/>
              </a:spcAft>
            </a:pPr>
            <a:r>
              <a:rPr sz="2000" b="0">
                <a:solidFill>
                  <a:srgbClr val="5B6980"/>
                </a:solidFill>
                <a:latin typeface="Arial"/>
              </a:rPr>
              <a:t>Compară rezultatele</a:t>
            </a:r>
          </a:p>
          <a:p>
            <a:pPr algn="ctr">
              <a:lnSpc>
                <a:spcPct val="108000"/>
              </a:lnSpc>
              <a:spcBef>
                <a:spcPts val="0"/>
              </a:spcBef>
              <a:spcAft>
                <a:spcPts val="0"/>
              </a:spcAft>
            </a:pPr>
            <a:r>
              <a:rPr sz="2000" b="0">
                <a:solidFill>
                  <a:srgbClr val="5B6980"/>
                </a:solidFill>
                <a:latin typeface="Arial"/>
              </a:rPr>
              <a:t>și ambele diff-uri</a:t>
            </a:r>
          </a:p>
        </p:txBody>
      </p:sp>
      <p:cxnSp>
        <p:nvCxnSpPr>
          <p:cNvPr id="27" name="Connector 26"/>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8" name="Text: Aim for repeatable behavior and process; generated source can dif"/>
          <p:cNvSpPr txBox="1"/>
          <p:nvPr/>
        </p:nvSpPr>
        <p:spPr>
          <a:xfrm>
            <a:off x="685800" y="5870448"/>
            <a:ext cx="10789920" cy="402336"/>
          </a:xfrm>
          <a:prstGeom prst="rect">
            <a:avLst/>
          </a:prstGeom>
          <a:noFill/>
        </p:spPr>
        <p:txBody>
          <a:bodyPr wrap="square" lIns="0" tIns="0" rIns="0" bIns="0">
            <a:spAutoFit/>
          </a:bodyPr>
          <a:lstStyle/>
          <a:p>
            <a:pPr algn="l">
              <a:lnSpc>
                <a:spcPct val="108000"/>
              </a:lnSpc>
              <a:spcBef>
                <a:spcPts val="0"/>
              </a:spcBef>
              <a:spcAft>
                <a:spcPts val="0"/>
              </a:spcAft>
            </a:pPr>
            <a:r>
              <a:rPr sz="2100" b="0">
                <a:solidFill>
                  <a:srgbClr val="5B6980"/>
                </a:solidFill>
                <a:latin typeface="Arial"/>
              </a:rPr>
              <a:t>Urmărește comportament și proces repetabile; codul sursă generat poate diferi.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1F35"/>
        </a:solidFill>
        <a:effectLst/>
      </p:bgPr>
    </p:bg>
    <p:spTree>
      <p:nvGrpSpPr>
        <p:cNvPr id="1" name=""/>
        <p:cNvGrpSpPr/>
        <p:nvPr/>
      </p:nvGrpSpPr>
      <p:grpSpPr>
        <a:xfrm>
          <a:off x="0" y="0"/>
          <a:ext cx="0" cy="0"/>
          <a:chOff x="0" y="0"/>
          <a:chExt cx="0" cy="0"/>
        </a:xfrm>
      </p:grpSpPr>
      <p:sp>
        <p:nvSpPr>
          <p:cNvPr id="2" name="Text: SDD"/>
          <p:cNvSpPr txBox="1"/>
          <p:nvPr/>
        </p:nvSpPr>
        <p:spPr>
          <a:xfrm>
            <a:off x="685800" y="365760"/>
            <a:ext cx="640080" cy="228600"/>
          </a:xfrm>
          <a:prstGeom prst="rect">
            <a:avLst/>
          </a:prstGeom>
          <a:noFill/>
        </p:spPr>
        <p:txBody>
          <a:bodyPr wrap="square" lIns="0" tIns="0" rIns="0" bIns="0">
            <a:spAutoFit/>
          </a:bodyPr>
          <a:lstStyle/>
          <a:p>
            <a:pPr algn="l">
              <a:lnSpc>
                <a:spcPct val="108000"/>
              </a:lnSpc>
              <a:spcBef>
                <a:spcPts val="0"/>
              </a:spcBef>
              <a:spcAft>
                <a:spcPts val="0"/>
              </a:spcAft>
            </a:pPr>
            <a:r>
              <a:rPr sz="1200" b="1">
                <a:solidFill>
                  <a:srgbClr val="FFFFFF"/>
                </a:solidFill>
                <a:latin typeface="Arial"/>
              </a:rPr>
              <a:t>SDD</a:t>
            </a:r>
          </a:p>
        </p:txBody>
      </p:sp>
      <p:cxnSp>
        <p:nvCxnSpPr>
          <p:cNvPr id="3" name="Connector 2"/>
          <p:cNvCxnSpPr/>
          <p:nvPr/>
        </p:nvCxnSpPr>
        <p:spPr>
          <a:xfrm>
            <a:off x="1417320" y="393192"/>
            <a:ext cx="0" cy="173736"/>
          </a:xfrm>
          <a:prstGeom prst="line">
            <a:avLst/>
          </a:prstGeom>
          <a:ln w="15240">
            <a:solidFill>
              <a:srgbClr val="9FB9FF"/>
            </a:solidFill>
          </a:ln>
          <a:effectLst/>
        </p:spPr>
        <p:style>
          <a:lnRef idx="2">
            <a:schemeClr val="accent1"/>
          </a:lnRef>
          <a:fillRef idx="0">
            <a:schemeClr val="accent1"/>
          </a:fillRef>
          <a:effectRef idx="0">
            <a:schemeClr val="accent1"/>
          </a:effectRef>
          <a:fontRef idx="minor">
            <a:schemeClr val="tx1"/>
          </a:fontRef>
        </p:style>
      </p:cxnSp>
      <p:sp>
        <p:nvSpPr>
          <p:cNvPr id="4" name="Text: ADOPTING THE WORKFLOW"/>
          <p:cNvSpPr txBox="1"/>
          <p:nvPr/>
        </p:nvSpPr>
        <p:spPr>
          <a:xfrm>
            <a:off x="1600200" y="365760"/>
            <a:ext cx="8229600" cy="228600"/>
          </a:xfrm>
          <a:prstGeom prst="rect">
            <a:avLst/>
          </a:prstGeom>
          <a:noFill/>
        </p:spPr>
        <p:txBody>
          <a:bodyPr wrap="square" lIns="0" tIns="0" rIns="0" bIns="0">
            <a:spAutoFit/>
          </a:bodyPr>
          <a:lstStyle/>
          <a:p>
            <a:pPr algn="l">
              <a:lnSpc>
                <a:spcPct val="108000"/>
              </a:lnSpc>
              <a:spcBef>
                <a:spcPts val="0"/>
              </a:spcBef>
              <a:spcAft>
                <a:spcPts val="0"/>
              </a:spcAft>
            </a:pPr>
            <a:r>
              <a:rPr sz="1100" b="0">
                <a:solidFill>
                  <a:srgbClr val="B8C6DC"/>
                </a:solidFill>
                <a:latin typeface="Arial"/>
              </a:rPr>
              <a:t>ADOPTAREA FLUXULUI DE LUCRU</a:t>
            </a:r>
          </a:p>
        </p:txBody>
      </p:sp>
      <p:sp>
        <p:nvSpPr>
          <p:cNvPr id="5" name="Text: 12 / 12"/>
          <p:cNvSpPr txBox="1"/>
          <p:nvPr/>
        </p:nvSpPr>
        <p:spPr>
          <a:xfrm>
            <a:off x="10588752" y="6473952"/>
            <a:ext cx="914400" cy="210312"/>
          </a:xfrm>
          <a:prstGeom prst="rect">
            <a:avLst/>
          </a:prstGeom>
          <a:noFill/>
        </p:spPr>
        <p:txBody>
          <a:bodyPr wrap="square" lIns="0" tIns="0" rIns="0" bIns="0">
            <a:spAutoFit/>
          </a:bodyPr>
          <a:lstStyle/>
          <a:p>
            <a:pPr algn="r">
              <a:lnSpc>
                <a:spcPct val="108000"/>
              </a:lnSpc>
              <a:spcBef>
                <a:spcPts val="0"/>
              </a:spcBef>
              <a:spcAft>
                <a:spcPts val="0"/>
              </a:spcAft>
            </a:pPr>
            <a:r>
              <a:rPr sz="1100" b="0">
                <a:solidFill>
                  <a:srgbClr val="B8C6DC"/>
                </a:solidFill>
                <a:latin typeface="Arial"/>
              </a:rPr>
              <a:t>12 / 12</a:t>
            </a:r>
          </a:p>
        </p:txBody>
      </p:sp>
      <p:sp>
        <p:nvSpPr>
          <p:cNvPr id="6" name="Text: CONVOCARE  /  ENGINEERING"/>
          <p:cNvSpPr txBox="1"/>
          <p:nvPr/>
        </p:nvSpPr>
        <p:spPr>
          <a:xfrm>
            <a:off x="685800" y="6473952"/>
            <a:ext cx="4023360" cy="201168"/>
          </a:xfrm>
          <a:prstGeom prst="rect">
            <a:avLst/>
          </a:prstGeom>
          <a:noFill/>
        </p:spPr>
        <p:txBody>
          <a:bodyPr wrap="square" lIns="0" tIns="0" rIns="0" bIns="0">
            <a:spAutoFit/>
          </a:bodyPr>
          <a:lstStyle/>
          <a:p>
            <a:pPr algn="l">
              <a:lnSpc>
                <a:spcPct val="108000"/>
              </a:lnSpc>
              <a:spcBef>
                <a:spcPts val="0"/>
              </a:spcBef>
              <a:spcAft>
                <a:spcPts val="0"/>
              </a:spcAft>
            </a:pPr>
            <a:r>
              <a:rPr sz="900" b="0">
                <a:solidFill>
                  <a:srgbClr val="B8C6DC"/>
                </a:solidFill>
                <a:latin typeface="Arial"/>
              </a:rPr>
              <a:t>CONVOCARE  /  ENGINEERING</a:t>
            </a:r>
          </a:p>
        </p:txBody>
      </p:sp>
      <p:sp>
        <p:nvSpPr>
          <p:cNvPr id="7" name="Text: Start with one real feature."/>
          <p:cNvSpPr txBox="1"/>
          <p:nvPr/>
        </p:nvSpPr>
        <p:spPr>
          <a:xfrm>
            <a:off x="685800" y="1033271"/>
            <a:ext cx="10835640" cy="1234440"/>
          </a:xfrm>
          <a:prstGeom prst="rect">
            <a:avLst/>
          </a:prstGeom>
          <a:noFill/>
        </p:spPr>
        <p:txBody>
          <a:bodyPr wrap="square" lIns="0" tIns="0" rIns="0" bIns="0">
            <a:spAutoFit/>
          </a:bodyPr>
          <a:lstStyle/>
          <a:p>
            <a:pPr algn="l">
              <a:lnSpc>
                <a:spcPct val="104000"/>
              </a:lnSpc>
              <a:spcBef>
                <a:spcPts val="0"/>
              </a:spcBef>
              <a:spcAft>
                <a:spcPts val="0"/>
              </a:spcAft>
            </a:pPr>
            <a:r>
              <a:rPr sz="4100" b="1">
                <a:solidFill>
                  <a:srgbClr val="FFFFFF"/>
                </a:solidFill>
                <a:latin typeface="Arial"/>
              </a:rPr>
              <a:t>Începe cu un singur feature real.</a:t>
            </a:r>
          </a:p>
        </p:txBody>
      </p:sp>
      <p:sp>
        <p:nvSpPr>
          <p:cNvPr id="8" name="Text: 01"/>
          <p:cNvSpPr txBox="1"/>
          <p:nvPr/>
        </p:nvSpPr>
        <p:spPr>
          <a:xfrm>
            <a:off x="685800" y="2496312"/>
            <a:ext cx="603504" cy="365760"/>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9FB9FF"/>
                </a:solidFill>
                <a:latin typeface="DejaVu Sans Mono"/>
              </a:rPr>
              <a:t>01</a:t>
            </a:r>
          </a:p>
        </p:txBody>
      </p:sp>
      <p:sp>
        <p:nvSpPr>
          <p:cNvPr id="9" name="Text: Write a short spec"/>
          <p:cNvSpPr txBox="1"/>
          <p:nvPr/>
        </p:nvSpPr>
        <p:spPr>
          <a:xfrm>
            <a:off x="1600200" y="2450592"/>
            <a:ext cx="5614416" cy="466344"/>
          </a:xfrm>
          <a:prstGeom prst="rect">
            <a:avLst/>
          </a:prstGeom>
          <a:noFill/>
        </p:spPr>
        <p:txBody>
          <a:bodyPr wrap="square" lIns="0" tIns="0" rIns="0" bIns="0">
            <a:spAutoFit/>
          </a:bodyPr>
          <a:lstStyle/>
          <a:p>
            <a:pPr algn="l">
              <a:lnSpc>
                <a:spcPct val="108000"/>
              </a:lnSpc>
              <a:spcBef>
                <a:spcPts val="0"/>
              </a:spcBef>
              <a:spcAft>
                <a:spcPts val="0"/>
              </a:spcAft>
            </a:pPr>
            <a:r>
              <a:rPr sz="2700" b="1">
                <a:solidFill>
                  <a:srgbClr val="FFFFFF"/>
                </a:solidFill>
                <a:latin typeface="Arial"/>
              </a:rPr>
              <a:t>Scrie un spec scurt</a:t>
            </a:r>
          </a:p>
        </p:txBody>
      </p:sp>
      <p:sp>
        <p:nvSpPr>
          <p:cNvPr id="10" name="Text: Resolve the consequential unknowns."/>
          <p:cNvSpPr txBox="1"/>
          <p:nvPr/>
        </p:nvSpPr>
        <p:spPr>
          <a:xfrm>
            <a:off x="1600200" y="2971800"/>
            <a:ext cx="5614416" cy="356616"/>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B8C6DC"/>
                </a:solidFill>
                <a:latin typeface="Arial"/>
              </a:rPr>
              <a:t>Rezolvă necunoscutele importante.</a:t>
            </a:r>
          </a:p>
        </p:txBody>
      </p:sp>
      <p:sp>
        <p:nvSpPr>
          <p:cNvPr id="11" name="Text: 02"/>
          <p:cNvSpPr txBox="1"/>
          <p:nvPr/>
        </p:nvSpPr>
        <p:spPr>
          <a:xfrm>
            <a:off x="685800" y="3410712"/>
            <a:ext cx="603504" cy="365760"/>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9FB9FF"/>
                </a:solidFill>
                <a:latin typeface="DejaVu Sans Mono"/>
              </a:rPr>
              <a:t>02</a:t>
            </a:r>
          </a:p>
        </p:txBody>
      </p:sp>
      <p:sp>
        <p:nvSpPr>
          <p:cNvPr id="12" name="Text: Execute bounded tasks"/>
          <p:cNvSpPr txBox="1"/>
          <p:nvPr/>
        </p:nvSpPr>
        <p:spPr>
          <a:xfrm>
            <a:off x="1600200" y="3364992"/>
            <a:ext cx="5614416" cy="466344"/>
          </a:xfrm>
          <a:prstGeom prst="rect">
            <a:avLst/>
          </a:prstGeom>
          <a:noFill/>
        </p:spPr>
        <p:txBody>
          <a:bodyPr wrap="square" lIns="0" tIns="0" rIns="0" bIns="0">
            <a:spAutoFit/>
          </a:bodyPr>
          <a:lstStyle/>
          <a:p>
            <a:pPr algn="l">
              <a:lnSpc>
                <a:spcPct val="108000"/>
              </a:lnSpc>
              <a:spcBef>
                <a:spcPts val="0"/>
              </a:spcBef>
              <a:spcAft>
                <a:spcPts val="0"/>
              </a:spcAft>
            </a:pPr>
            <a:r>
              <a:rPr sz="2700" b="1">
                <a:solidFill>
                  <a:srgbClr val="FFFFFF"/>
                </a:solidFill>
                <a:latin typeface="Arial"/>
              </a:rPr>
              <a:t>Execută task-uri delimitate</a:t>
            </a:r>
          </a:p>
        </p:txBody>
      </p:sp>
      <p:sp>
        <p:nvSpPr>
          <p:cNvPr id="13" name="Text: Keep requirements and checks linked."/>
          <p:cNvSpPr txBox="1"/>
          <p:nvPr/>
        </p:nvSpPr>
        <p:spPr>
          <a:xfrm>
            <a:off x="1600200" y="3886200"/>
            <a:ext cx="5614416" cy="356616"/>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B8C6DC"/>
                </a:solidFill>
                <a:latin typeface="Arial"/>
              </a:rPr>
              <a:t>Ține cerințele legate de verificări.</a:t>
            </a:r>
          </a:p>
        </p:txBody>
      </p:sp>
      <p:sp>
        <p:nvSpPr>
          <p:cNvPr id="14" name="Text: 03"/>
          <p:cNvSpPr txBox="1"/>
          <p:nvPr/>
        </p:nvSpPr>
        <p:spPr>
          <a:xfrm>
            <a:off x="685800" y="4325112"/>
            <a:ext cx="603504" cy="365760"/>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9FB9FF"/>
                </a:solidFill>
                <a:latin typeface="DejaVu Sans Mono"/>
              </a:rPr>
              <a:t>03</a:t>
            </a:r>
          </a:p>
        </p:txBody>
      </p:sp>
      <p:sp>
        <p:nvSpPr>
          <p:cNvPr id="15" name="Text: Review the evidence"/>
          <p:cNvSpPr txBox="1"/>
          <p:nvPr/>
        </p:nvSpPr>
        <p:spPr>
          <a:xfrm>
            <a:off x="1600200" y="4279392"/>
            <a:ext cx="5614416" cy="466344"/>
          </a:xfrm>
          <a:prstGeom prst="rect">
            <a:avLst/>
          </a:prstGeom>
          <a:noFill/>
        </p:spPr>
        <p:txBody>
          <a:bodyPr wrap="square" lIns="0" tIns="0" rIns="0" bIns="0">
            <a:spAutoFit/>
          </a:bodyPr>
          <a:lstStyle/>
          <a:p>
            <a:pPr algn="l">
              <a:lnSpc>
                <a:spcPct val="108000"/>
              </a:lnSpc>
              <a:spcBef>
                <a:spcPts val="0"/>
              </a:spcBef>
              <a:spcAft>
                <a:spcPts val="0"/>
              </a:spcAft>
            </a:pPr>
            <a:r>
              <a:rPr sz="2700" b="1">
                <a:solidFill>
                  <a:srgbClr val="FFFFFF"/>
                </a:solidFill>
                <a:latin typeface="Arial"/>
              </a:rPr>
              <a:t>Revizuiește dovezile</a:t>
            </a:r>
          </a:p>
        </p:txBody>
      </p:sp>
      <p:sp>
        <p:nvSpPr>
          <p:cNvPr id="16" name="Text: Resume once in a fresh session."/>
          <p:cNvSpPr txBox="1"/>
          <p:nvPr/>
        </p:nvSpPr>
        <p:spPr>
          <a:xfrm>
            <a:off x="1600200" y="4800600"/>
            <a:ext cx="5614416" cy="356616"/>
          </a:xfrm>
          <a:prstGeom prst="rect">
            <a:avLst/>
          </a:prstGeom>
          <a:noFill/>
        </p:spPr>
        <p:txBody>
          <a:bodyPr wrap="square" lIns="0" tIns="0" rIns="0" bIns="0">
            <a:spAutoFit/>
          </a:bodyPr>
          <a:lstStyle/>
          <a:p>
            <a:pPr algn="l">
              <a:lnSpc>
                <a:spcPct val="108000"/>
              </a:lnSpc>
              <a:spcBef>
                <a:spcPts val="0"/>
              </a:spcBef>
              <a:spcAft>
                <a:spcPts val="0"/>
              </a:spcAft>
            </a:pPr>
            <a:r>
              <a:rPr sz="1900" b="0">
                <a:solidFill>
                  <a:srgbClr val="B8C6DC"/>
                </a:solidFill>
                <a:latin typeface="Arial"/>
              </a:rPr>
              <a:t>Reia lucrul o dată într-o sesiune nouă.</a:t>
            </a:r>
          </a:p>
        </p:txBody>
      </p:sp>
      <p:sp>
        <p:nvSpPr>
          <p:cNvPr id="17" name="Rectangle 16"/>
          <p:cNvSpPr/>
          <p:nvPr/>
        </p:nvSpPr>
        <p:spPr>
          <a:xfrm>
            <a:off x="7973568" y="2450592"/>
            <a:ext cx="3529584" cy="2843784"/>
          </a:xfrm>
          <a:prstGeom prst="rect">
            <a:avLst/>
          </a:prstGeom>
          <a:solidFill>
            <a:srgbClr val="305D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 Measure / total effort."/>
          <p:cNvSpPr txBox="1"/>
          <p:nvPr/>
        </p:nvSpPr>
        <p:spPr>
          <a:xfrm>
            <a:off x="8257031" y="2761488"/>
            <a:ext cx="2971800" cy="1069848"/>
          </a:xfrm>
          <a:prstGeom prst="rect">
            <a:avLst/>
          </a:prstGeom>
          <a:noFill/>
        </p:spPr>
        <p:txBody>
          <a:bodyPr wrap="square" lIns="0" tIns="0" rIns="0" bIns="0">
            <a:spAutoFit/>
          </a:bodyPr>
          <a:lstStyle/>
          <a:p>
            <a:pPr algn="l">
              <a:lnSpc>
                <a:spcPct val="108000"/>
              </a:lnSpc>
              <a:spcBef>
                <a:spcPts val="0"/>
              </a:spcBef>
              <a:spcAft>
                <a:spcPts val="0"/>
              </a:spcAft>
            </a:pPr>
            <a:r>
              <a:rPr sz="3400" b="1">
                <a:solidFill>
                  <a:srgbClr val="FFFFFF"/>
                </a:solidFill>
                <a:latin typeface="Arial"/>
              </a:rPr>
              <a:t>Măsoară</a:t>
            </a:r>
          </a:p>
          <a:p>
            <a:pPr algn="l">
              <a:lnSpc>
                <a:spcPct val="108000"/>
              </a:lnSpc>
              <a:spcBef>
                <a:spcPts val="0"/>
              </a:spcBef>
              <a:spcAft>
                <a:spcPts val="0"/>
              </a:spcAft>
            </a:pPr>
            <a:r>
              <a:rPr sz="3400" b="1">
                <a:solidFill>
                  <a:srgbClr val="FFFFFF"/>
                </a:solidFill>
                <a:latin typeface="Arial"/>
              </a:rPr>
              <a:t>efortul total.</a:t>
            </a:r>
          </a:p>
        </p:txBody>
      </p:sp>
      <p:sp>
        <p:nvSpPr>
          <p:cNvPr id="19" name="Text: Spec + review + / implementation + rework"/>
          <p:cNvSpPr txBox="1"/>
          <p:nvPr/>
        </p:nvSpPr>
        <p:spPr>
          <a:xfrm>
            <a:off x="8257031" y="4334256"/>
            <a:ext cx="2971800" cy="722376"/>
          </a:xfrm>
          <a:prstGeom prst="rect">
            <a:avLst/>
          </a:prstGeom>
          <a:noFill/>
        </p:spPr>
        <p:txBody>
          <a:bodyPr wrap="square" lIns="0" tIns="0" rIns="0" bIns="0">
            <a:spAutoFit/>
          </a:bodyPr>
          <a:lstStyle/>
          <a:p>
            <a:pPr algn="l">
              <a:lnSpc>
                <a:spcPct val="108000"/>
              </a:lnSpc>
              <a:spcBef>
                <a:spcPts val="0"/>
              </a:spcBef>
              <a:spcAft>
                <a:spcPts val="0"/>
              </a:spcAft>
            </a:pPr>
            <a:r>
              <a:rPr sz="2100" b="0">
                <a:solidFill>
                  <a:srgbClr val="FFFFFF"/>
                </a:solidFill>
                <a:latin typeface="Arial"/>
              </a:rPr>
              <a:t>Spec + review +</a:t>
            </a:r>
          </a:p>
          <a:p>
            <a:pPr algn="l">
              <a:lnSpc>
                <a:spcPct val="108000"/>
              </a:lnSpc>
              <a:spcBef>
                <a:spcPts val="0"/>
              </a:spcBef>
              <a:spcAft>
                <a:spcPts val="0"/>
              </a:spcAft>
            </a:pPr>
            <a:r>
              <a:rPr sz="2100" b="0">
                <a:solidFill>
                  <a:srgbClr val="FFFFFF"/>
                </a:solidFill>
                <a:latin typeface="Arial"/>
              </a:rPr>
              <a:t>implementare + rework</a:t>
            </a:r>
          </a:p>
        </p:txBody>
      </p:sp>
      <p:sp>
        <p:nvSpPr>
          <p:cNvPr id="20" name="Text: READ MORE"/>
          <p:cNvSpPr txBox="1"/>
          <p:nvPr/>
        </p:nvSpPr>
        <p:spPr>
          <a:xfrm>
            <a:off x="685800" y="5861304"/>
            <a:ext cx="1197864" cy="246888"/>
          </a:xfrm>
          <a:prstGeom prst="rect">
            <a:avLst/>
          </a:prstGeom>
          <a:noFill/>
        </p:spPr>
        <p:txBody>
          <a:bodyPr wrap="square" lIns="0" tIns="0" rIns="0" bIns="0">
            <a:spAutoFit/>
          </a:bodyPr>
          <a:lstStyle/>
          <a:p>
            <a:pPr algn="l">
              <a:lnSpc>
                <a:spcPct val="108000"/>
              </a:lnSpc>
              <a:spcBef>
                <a:spcPts val="0"/>
              </a:spcBef>
              <a:spcAft>
                <a:spcPts val="0"/>
              </a:spcAft>
            </a:pPr>
            <a:r>
              <a:rPr sz="1000" b="1">
                <a:solidFill>
                  <a:srgbClr val="B8C6DC"/>
                </a:solidFill>
                <a:latin typeface="Arial"/>
              </a:rPr>
              <a:t>RESURSE</a:t>
            </a:r>
          </a:p>
        </p:txBody>
      </p:sp>
      <p:sp>
        <p:nvSpPr>
          <p:cNvPr id="21" name="Text: GitHub Spec Kit"/>
          <p:cNvSpPr txBox="1"/>
          <p:nvPr/>
        </p:nvSpPr>
        <p:spPr>
          <a:xfrm>
            <a:off x="2103120" y="5833872"/>
            <a:ext cx="1655064" cy="301752"/>
          </a:xfrm>
          <a:prstGeom prst="rect">
            <a:avLst/>
          </a:prstGeom>
          <a:noFill/>
        </p:spPr>
        <p:txBody>
          <a:bodyPr wrap="square" lIns="0" tIns="0" rIns="0" bIns="0">
            <a:spAutoFit/>
          </a:bodyPr>
          <a:lstStyle/>
          <a:p>
            <a:pPr algn="l">
              <a:lnSpc>
                <a:spcPct val="108000"/>
              </a:lnSpc>
              <a:spcBef>
                <a:spcPts val="0"/>
              </a:spcBef>
              <a:spcAft>
                <a:spcPts val="0"/>
              </a:spcAft>
            </a:pPr>
            <a:r>
              <a:rPr sz="1200" b="0">
                <a:solidFill>
                  <a:srgbClr val="9FB9FF"/>
                </a:solidFill>
                <a:latin typeface="Arial"/>
                <a:hlinkClick r:id="rId3"/>
              </a:rPr>
              <a:t>GitHub Spec Kit</a:t>
            </a:r>
          </a:p>
        </p:txBody>
      </p:sp>
      <p:sp>
        <p:nvSpPr>
          <p:cNvPr id="22" name="Text: specdriven.ai"/>
          <p:cNvSpPr txBox="1"/>
          <p:nvPr/>
        </p:nvSpPr>
        <p:spPr>
          <a:xfrm>
            <a:off x="4050791" y="5833872"/>
            <a:ext cx="1563624" cy="301752"/>
          </a:xfrm>
          <a:prstGeom prst="rect">
            <a:avLst/>
          </a:prstGeom>
          <a:noFill/>
        </p:spPr>
        <p:txBody>
          <a:bodyPr wrap="square" lIns="0" tIns="0" rIns="0" bIns="0">
            <a:spAutoFit/>
          </a:bodyPr>
          <a:lstStyle/>
          <a:p>
            <a:pPr algn="l">
              <a:lnSpc>
                <a:spcPct val="108000"/>
              </a:lnSpc>
              <a:spcBef>
                <a:spcPts val="0"/>
              </a:spcBef>
              <a:spcAft>
                <a:spcPts val="0"/>
              </a:spcAft>
            </a:pPr>
            <a:r>
              <a:rPr sz="1200" b="0">
                <a:solidFill>
                  <a:srgbClr val="9FB9FF"/>
                </a:solidFill>
                <a:latin typeface="Arial"/>
                <a:hlinkClick r:id="rId4"/>
              </a:rPr>
              <a:t>specdriven.ai</a:t>
            </a:r>
          </a:p>
        </p:txBody>
      </p:sp>
      <p:sp>
        <p:nvSpPr>
          <p:cNvPr id="23" name="Text: Kiro specs"/>
          <p:cNvSpPr txBox="1"/>
          <p:nvPr/>
        </p:nvSpPr>
        <p:spPr>
          <a:xfrm>
            <a:off x="5907024" y="5833872"/>
            <a:ext cx="1207008" cy="301752"/>
          </a:xfrm>
          <a:prstGeom prst="rect">
            <a:avLst/>
          </a:prstGeom>
          <a:noFill/>
        </p:spPr>
        <p:txBody>
          <a:bodyPr wrap="square" lIns="0" tIns="0" rIns="0" bIns="0">
            <a:spAutoFit/>
          </a:bodyPr>
          <a:lstStyle/>
          <a:p>
            <a:pPr algn="l">
              <a:lnSpc>
                <a:spcPct val="108000"/>
              </a:lnSpc>
              <a:spcBef>
                <a:spcPts val="0"/>
              </a:spcBef>
              <a:spcAft>
                <a:spcPts val="0"/>
              </a:spcAft>
            </a:pPr>
            <a:r>
              <a:rPr sz="1200" b="0">
                <a:solidFill>
                  <a:srgbClr val="9FB9FF"/>
                </a:solidFill>
                <a:latin typeface="Arial"/>
                <a:hlinkClick r:id="rId5"/>
              </a:rPr>
              <a:t>Kiro specs</a:t>
            </a:r>
          </a:p>
        </p:txBody>
      </p:sp>
      <p:sp>
        <p:nvSpPr>
          <p:cNvPr id="24" name="Text: Böckeler: a firsthand exploration"/>
          <p:cNvSpPr txBox="1"/>
          <p:nvPr/>
        </p:nvSpPr>
        <p:spPr>
          <a:xfrm>
            <a:off x="7543800" y="5833872"/>
            <a:ext cx="3657600" cy="301752"/>
          </a:xfrm>
          <a:prstGeom prst="rect">
            <a:avLst/>
          </a:prstGeom>
          <a:noFill/>
        </p:spPr>
        <p:txBody>
          <a:bodyPr wrap="square" lIns="0" tIns="0" rIns="0" bIns="0">
            <a:spAutoFit/>
          </a:bodyPr>
          <a:lstStyle/>
          <a:p>
            <a:pPr algn="l">
              <a:lnSpc>
                <a:spcPct val="108000"/>
              </a:lnSpc>
              <a:spcBef>
                <a:spcPts val="0"/>
              </a:spcBef>
              <a:spcAft>
                <a:spcPts val="0"/>
              </a:spcAft>
            </a:pPr>
            <a:r>
              <a:rPr sz="1200" b="0">
                <a:solidFill>
                  <a:srgbClr val="9FB9FF"/>
                </a:solidFill>
                <a:latin typeface="Arial"/>
                <a:hlinkClick r:id="rId6"/>
              </a:rPr>
              <a:t>Böckeler: explorare practică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FB9FF"/>
      </a:hlink>
      <a:folHlink>
        <a:srgbClr val="9FB9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Spec-Driven Development</dc:title>
  <dc:subject>De la intenție explicită la implementare verificată</dc:subject>
  <dc:creator>ConvoCare</dc:creator>
  <cp:keywords>SDD, requirements, acceptance, AI, reproducibility</cp:keywords>
  <dc:description>generated using python-pptx</dc:description>
  <cp:lastModifiedBy>Bogdan Doncea</cp:lastModifiedBy>
  <cp:revision>3</cp:revision>
  <dcterms:created xsi:type="dcterms:W3CDTF">2013-01-27T09:14:16Z</dcterms:created>
  <dcterms:modified xsi:type="dcterms:W3CDTF">2026-10-02T11:11:33Z</dcterms:modified>
  <cp:category/>
</cp:coreProperties>
</file>